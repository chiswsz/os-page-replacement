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Mean faults</c:v>
                </c:pt>
              </c:strCache>
            </c:strRef>
          </c:tx>
          <c:spPr>
            <a:solidFill>
              <a:srgbClr val="94A3B8"/>
            </a:solidFill>
          </c:spPr>
          <c:cat>
            <c:strRef>
              <c:f>Sheet1!$A$2:$A$10</c:f>
              <c:strCache>
                <c:ptCount val="9"/>
                <c:pt idx="0">
                  <c:v>OPT</c:v>
                </c:pt>
                <c:pt idx="1">
                  <c:v>V5</c:v>
                </c:pt>
                <c:pt idx="2">
                  <c:v>V4</c:v>
                </c:pt>
                <c:pt idx="3">
                  <c:v>V3</c:v>
                </c:pt>
                <c:pt idx="4">
                  <c:v>Random</c:v>
                </c:pt>
                <c:pt idx="5">
                  <c:v>LRU</c:v>
                </c:pt>
                <c:pt idx="6">
                  <c:v>Clock</c:v>
                </c:pt>
                <c:pt idx="7">
                  <c:v>FIFO</c:v>
                </c:pt>
                <c:pt idx="8">
                  <c:v>LFU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16309.8</c:v>
                </c:pt>
                <c:pt idx="1">
                  <c:v>16688.45</c:v>
                </c:pt>
                <c:pt idx="2">
                  <c:v>17002.35</c:v>
                </c:pt>
                <c:pt idx="3">
                  <c:v>17100.79333333333</c:v>
                </c:pt>
                <c:pt idx="4">
                  <c:v>23331.371666666666</c:v>
                </c:pt>
                <c:pt idx="5">
                  <c:v>24438.0</c:v>
                </c:pt>
                <c:pt idx="6">
                  <c:v>24470.9</c:v>
                </c:pt>
                <c:pt idx="7">
                  <c:v>25378.35</c:v>
                </c:pt>
                <c:pt idx="8">
                  <c:v>27112.05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建议用时：25 秒</a:t>
            </a:r>
          </a:p>
          <a:p>
            <a:r>
              <a:t>V5 在已有 V4 上加入新的预测信号。今天报告的数字全部来自正式程序，四条课程数据参与了开发，额外构造验证与开发结果分开呈现。</a:t>
            </a:r>
          </a:p>
          <a:p>
            <a:r>
              <a:t>数据与实现来源：REPORT.md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建议用时：40 秒</a:t>
            </a:r>
          </a:p>
          <a:p>
            <a:r>
              <a:t>输入格式和评分保持不变。仅靠一页的间隔均值可能无法表达多种访问模式。相同页面可能在不同程序路径下出现，所以同时考虑间隔、前驱页、已观察到的后继页。</a:t>
            </a:r>
          </a:p>
          <a:p>
            <a:r>
              <a:t>数据与实现来源：REPORT.md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建议用时：45 秒</a:t>
            </a:r>
          </a:p>
          <a:p>
            <a:r>
              <a:t>参考 LRB 的延迟标签和复用预测、LHD 的条件存活思想，以及在线缓存组合方法。这里不是 LightGBM 版 LRB，也没有声称复现论文得分或继承竞争比。ARC、S3-FIFO、SIEVE 另做了适配本作业的对照。</a:t>
            </a:r>
          </a:p>
          <a:p>
            <a:r>
              <a:t>数据与实现来源：RESEARCH_V5.md；原论文链接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建议用时：55 秒</a:t>
            </a:r>
          </a:p>
          <a:p>
            <a:r>
              <a:t>举例只是解释条件化，不是本机测量。若过去间隔主要为 10 与 100，而页面已等待 20，那么短间隔那一类已经不适合直接预测当前返回时间。实现把已结束的间隔合并为最多 16 个加权簇，并以 0.98 衰减旧标签。</a:t>
            </a:r>
          </a:p>
          <a:p>
            <a:r>
              <a:t>数据与实现来源：src/reuse_model.hpp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建议用时：60 秒</a:t>
            </a:r>
          </a:p>
          <a:p>
            <a:r>
              <a:t>25 个专家中包括 V4 的七个；其余是间隔转换和条件估计。选择器依据完成请求的衰减损失，真实缺页只从实际驻留页中淘汰一个不被目标影子保留的页面。只装当前请求页。已知后继是上一请求的后继，也就是此刻已到达的当前页，不是偷看下一页。</a:t>
            </a:r>
          </a:p>
          <a:p>
            <a:r>
              <a:t>数据与实现来源：src/learned.cpp；include/learned.hpp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建议用时：45 秒</a:t>
            </a:r>
          </a:p>
          <a:p>
            <a:r>
              <a:t>四条课程轨迹乘五档页框等权平均；Random 和三个 Adaptive 版本都保留 0 到 29 相同种子。OPT 是读取真实未来的离线参照。</a:t>
            </a:r>
          </a:p>
          <a:p>
            <a:r>
              <a:t>数据与实现来源：results/v5/course_means.csv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建议用时：45 秒</a:t>
            </a:r>
          </a:p>
          <a:p>
            <a:r>
              <a:t>这些轨迹参与开发，不能称为盲测。大页框下的 LU 和矩阵轨迹有更多可利用的复用信息；小幅退化也保留。完整五档数字在附录，现场不能先跑一遍再挑最优算法。</a:t>
            </a:r>
          </a:p>
          <a:p>
            <a:r>
              <a:t>数据与实现来源：results/v5/course_summary.csv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建议用时：45 秒</a:t>
            </a:r>
          </a:p>
          <a:p>
            <a:r>
              <a:t>论文算法适用负载不同。这里的 S3-FIFO 为满足一次缺页只换入一个页面而做了 demand paging 适配，不能当作论文原版排行榜。加权投票、线性趋势外推、Markov 自动延伸都没有成为最终胜出方案。</a:t>
            </a:r>
          </a:p>
          <a:p>
            <a:r>
              <a:t>数据与实现来源：results/v5/research/；RESEARCH_V5.md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建议用时：50 秒</a:t>
            </a:r>
          </a:p>
          <a:p>
            <a:r>
              <a:t>冻结源代码后生成十类新构造轨迹，不依据它们继续调参。原来 V4 的八类验证已经看过，因此此次明确称为回归集。它们都不是老师的隐藏文件。各类别退化记录在报告中。</a:t>
            </a:r>
          </a:p>
          <a:p>
            <a:r>
              <a:t>数据与实现来源：results/v5/*_means.csv；frozen_algorithm.json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建议用时：45 秒</a:t>
            </a:r>
          </a:p>
          <a:p>
            <a:r>
              <a:t>25 个影子和条件分布增加了模拟时间。结果是本机 Release 程序解析与五档模拟的端到端耗时，不是操作系统真实缺页延迟。数值模式内存随页框数有界；字符串模式另有标签映射。</a:t>
            </a:r>
          </a:p>
          <a:p>
            <a:r>
              <a:t>数据与实现来源：results/v5/performance.json；tests/test_learned.cpp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建议用时：35 秒</a:t>
            </a:r>
          </a:p>
          <a:p>
            <a:r>
              <a:t>运行前先用课程数据演练。新二进制默认为 V5；如果展示旧版结果，必须显式加 adaptive-version 4。不要把新旧课件数字混在一起。未知输入可能不符合学习到的模式，不能保证第一。</a:t>
            </a:r>
          </a:p>
          <a:p>
            <a:r>
              <a:t>数据与实现来源：QUICKSTART.md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建议用时：0 秒</a:t>
            </a:r>
          </a:p>
          <a:p>
            <a:r>
              <a:t>所有值来自正式程序的逐种子结果汇总。Random 与 Adaptive 都使用相同的 0–29 种子。均值显示两位小数；原始每次运行都是整数。</a:t>
            </a:r>
          </a:p>
          <a:p>
            <a:r>
              <a:t>数据与实现来源：results/v5/course_summary.csv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建议用时：0 秒</a:t>
            </a:r>
          </a:p>
          <a:p>
            <a:r>
              <a:t>所有值来自正式程序的逐种子结果汇总。Random 与 Adaptive 都使用相同的 0–29 种子。均值显示两位小数；原始每次运行都是整数。</a:t>
            </a:r>
          </a:p>
          <a:p>
            <a:r>
              <a:t>数据与实现来源：results/v5/course_summary.csv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建议用时：0 秒</a:t>
            </a:r>
          </a:p>
          <a:p>
            <a:r>
              <a:t>所有值来自正式程序的逐种子结果汇总。Random 与 Adaptive 都使用相同的 0–29 种子。均值显示两位小数；原始每次运行都是整数。</a:t>
            </a:r>
          </a:p>
          <a:p>
            <a:r>
              <a:t>数据与实现来源：results/v5/course_summary.csv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建议用时：0 秒</a:t>
            </a:r>
          </a:p>
          <a:p>
            <a:r>
              <a:t>所有值来自正式程序的逐种子结果汇总。Random 与 Adaptive 都使用相同的 0–29 种子。均值显示两位小数；原始每次运行都是整数。</a:t>
            </a:r>
          </a:p>
          <a:p>
            <a:r>
              <a:t>数据与实现来源：results/v5/course_summary.csv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chart" Target="../charts/char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0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256032"/>
            <a:ext cx="11247120" cy="64008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spcAft>
                <a:spcPts val="1000"/>
              </a:spcAft>
              <a:defRPr sz="3000" b="1">
                <a:solidFill>
                  <a:srgbClr val="6536A0"/>
                </a:solidFill>
                <a:latin typeface="Droid Sans Fallback"/>
              </a:defRPr>
            </a:pPr>
            <a:r>
              <a:t>更进一步：学习复用分布，动态组合策略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47104"/>
            <a:ext cx="9144000" cy="219456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spcAft>
                <a:spcPts val="1000"/>
              </a:spcAft>
              <a:defRPr sz="1000" b="0">
                <a:solidFill>
                  <a:srgbClr val="637083"/>
                </a:solidFill>
                <a:latin typeface="Droid Sans Fallback"/>
              </a:defRPr>
            </a:pPr>
            <a:r>
              <a:t>Adaptive V5  ·  Online demand paging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09960" y="6537960"/>
            <a:ext cx="548640" cy="219456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spcAft>
                <a:spcPts val="1000"/>
              </a:spcAft>
              <a:defRPr sz="1000" b="0">
                <a:solidFill>
                  <a:srgbClr val="637083"/>
                </a:solidFill>
                <a:latin typeface="Droid Sans Fallback"/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645920"/>
            <a:ext cx="10607040" cy="320040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spcAft>
                <a:spcPts val="1000"/>
              </a:spcAft>
              <a:defRPr sz="3000" b="1">
                <a:solidFill>
                  <a:srgbClr val="087F78"/>
                </a:solidFill>
                <a:latin typeface="Droid Sans Fallback"/>
              </a:defRPr>
            </a:pPr>
            <a:r>
              <a:t>课程平均缺页  16,688.45</a:t>
            </a:r>
          </a:p>
          <a:p>
            <a:pPr>
              <a:spcAft>
                <a:spcPts val="1000"/>
              </a:spcAft>
              <a:defRPr sz="3000" b="1">
                <a:solidFill>
                  <a:srgbClr val="087F78"/>
                </a:solidFill>
                <a:latin typeface="Droid Sans Fallback"/>
              </a:defRPr>
            </a:pPr>
            <a:r>
              <a:t>相对 V4 进一步减少  1.85%</a:t>
            </a:r>
          </a:p>
          <a:p>
            <a:pPr>
              <a:spcAft>
                <a:spcPts val="1000"/>
              </a:spcAft>
              <a:defRPr sz="3000" b="1">
                <a:solidFill>
                  <a:srgbClr val="087F78"/>
                </a:solidFill>
                <a:latin typeface="Droid Sans Fallback"/>
              </a:defRPr>
            </a:pPr>
            <a:r>
              <a:t>相对队友 V3 减少  2.41%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5577840"/>
            <a:ext cx="10607040" cy="54864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spcAft>
                <a:spcPts val="1000"/>
              </a:spcAft>
              <a:defRPr sz="2100" b="0">
                <a:solidFill>
                  <a:srgbClr val="637083"/>
                </a:solidFill>
                <a:latin typeface="Droid Sans Fallback"/>
              </a:defRPr>
            </a:pPr>
            <a:r>
              <a:t>每行一个页号 · 五档页框与平均值 · 当前页逐行输入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0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256032"/>
            <a:ext cx="11247120" cy="64008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spcAft>
                <a:spcPts val="1000"/>
              </a:spcAft>
              <a:defRPr sz="3000" b="1">
                <a:solidFill>
                  <a:srgbClr val="6536A0"/>
                </a:solidFill>
                <a:latin typeface="Droid Sans Fallback"/>
              </a:defRPr>
            </a:pPr>
            <a:r>
              <a:t>评分不变；增加可利用的历史信息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47104"/>
            <a:ext cx="9144000" cy="219456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spcAft>
                <a:spcPts val="1000"/>
              </a:spcAft>
              <a:defRPr sz="1000" b="0">
                <a:solidFill>
                  <a:srgbClr val="637083"/>
                </a:solidFill>
                <a:latin typeface="Droid Sans Fallback"/>
              </a:defRPr>
            </a:pPr>
            <a:r>
              <a:t>Adaptive V5  ·  Online demand paging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09960" y="6537960"/>
            <a:ext cx="548640" cy="219456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spcAft>
                <a:spcPts val="1000"/>
              </a:spcAft>
              <a:defRPr sz="1000" b="0">
                <a:solidFill>
                  <a:srgbClr val="637083"/>
                </a:solidFill>
                <a:latin typeface="Droid Sans Fallback"/>
              </a:defRPr>
            </a:pPr>
            <a: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234440"/>
            <a:ext cx="10881360" cy="3840479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spcAft>
                <a:spcPts val="1000"/>
              </a:spcAft>
              <a:defRPr sz="2300" b="0">
                <a:solidFill>
                  <a:srgbClr val="222638"/>
                </a:solidFill>
                <a:latin typeface="Droid Sans Fallback"/>
              </a:defRPr>
            </a:pPr>
            <a:r>
              <a:t>• 每档从空内存开始：5、10、20、50、100 页框。</a:t>
            </a:r>
          </a:p>
          <a:p>
            <a:pPr>
              <a:spcAft>
                <a:spcPts val="1000"/>
              </a:spcAft>
              <a:defRPr sz="2300" b="0">
                <a:solidFill>
                  <a:srgbClr val="222638"/>
                </a:solidFill>
                <a:latin typeface="Droid Sans Fallback"/>
              </a:defRPr>
            </a:pPr>
            <a:r>
              <a:t>• 平均缺页次数 = 五档整数缺页次数相加 ÷ 5。</a:t>
            </a:r>
          </a:p>
          <a:p>
            <a:pPr>
              <a:spcAft>
                <a:spcPts val="1000"/>
              </a:spcAft>
              <a:defRPr sz="2300" b="0">
                <a:solidFill>
                  <a:srgbClr val="222638"/>
                </a:solidFill>
                <a:latin typeface="Droid Sans Fallback"/>
              </a:defRPr>
            </a:pPr>
            <a:r>
              <a:t>• 新信号：间隔分布、连续两次间隔、前后访问上下文。</a:t>
            </a:r>
          </a:p>
          <a:p>
            <a:pPr>
              <a:spcAft>
                <a:spcPts val="1000"/>
              </a:spcAft>
              <a:defRPr sz="2300" b="0">
                <a:solidFill>
                  <a:srgbClr val="222638"/>
                </a:solidFill>
                <a:latin typeface="Droid Sans Fallback"/>
              </a:defRPr>
            </a:pPr>
            <a:r>
              <a:t>• 训练标签：页面实际返回后，才记录本次复用间隔。</a:t>
            </a:r>
          </a:p>
          <a:p>
            <a:pPr>
              <a:spcAft>
                <a:spcPts val="1000"/>
              </a:spcAft>
              <a:defRPr sz="2300" b="0">
                <a:solidFill>
                  <a:srgbClr val="222638"/>
                </a:solidFill>
                <a:latin typeface="Droid Sans Fallback"/>
              </a:defRPr>
            </a:pPr>
            <a:r>
              <a:t>• 在线接口只收到当前页号，没有未来数组和文件句柄。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0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256032"/>
            <a:ext cx="11247120" cy="64008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spcAft>
                <a:spcPts val="1000"/>
              </a:spcAft>
              <a:defRPr sz="3000" b="1">
                <a:solidFill>
                  <a:srgbClr val="6536A0"/>
                </a:solidFill>
                <a:latin typeface="Droid Sans Fallback"/>
              </a:defRPr>
            </a:pPr>
            <a:r>
              <a:t>论文提供方向；本作业重新实现与验证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47104"/>
            <a:ext cx="9144000" cy="219456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spcAft>
                <a:spcPts val="1000"/>
              </a:spcAft>
              <a:defRPr sz="1000" b="0">
                <a:solidFill>
                  <a:srgbClr val="637083"/>
                </a:solidFill>
                <a:latin typeface="Droid Sans Fallback"/>
              </a:defRPr>
            </a:pPr>
            <a:r>
              <a:t>Adaptive V5  ·  Online demand paging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09960" y="6537960"/>
            <a:ext cx="548640" cy="219456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spcAft>
                <a:spcPts val="1000"/>
              </a:spcAft>
              <a:defRPr sz="1000" b="0">
                <a:solidFill>
                  <a:srgbClr val="637083"/>
                </a:solidFill>
                <a:latin typeface="Droid Sans Fallback"/>
              </a:defRPr>
            </a:pPr>
            <a:r>
              <a:t>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371600"/>
          <a:ext cx="11064240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530352">
                <a:tc>
                  <a:txBody>
                    <a:bodyPr/>
                    <a:lstStyle/>
                    <a:p>
                      <a:pPr>
                        <a:defRPr sz="2000" b="1">
                          <a:solidFill>
                            <a:srgbClr val="FFFFFF"/>
                          </a:solidFill>
                          <a:latin typeface="Droid Sans Fallback"/>
                        </a:defRPr>
                      </a:pPr>
                      <a:r>
                        <a:t>来源</a:t>
                      </a:r>
                    </a:p>
                  </a:txBody>
                  <a:tcPr>
                    <a:solidFill>
                      <a:srgbClr val="6536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2000" b="1">
                          <a:solidFill>
                            <a:srgbClr val="FFFFFF"/>
                          </a:solidFill>
                          <a:latin typeface="Droid Sans Fallback"/>
                        </a:defRPr>
                      </a:pPr>
                      <a:r>
                        <a:t>借鉴的思想</a:t>
                      </a:r>
                    </a:p>
                  </a:txBody>
                  <a:tcPr>
                    <a:solidFill>
                      <a:srgbClr val="6536A0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>
                        <a:defRPr sz="2000" b="0">
                          <a:solidFill>
                            <a:srgbClr val="222638"/>
                          </a:solidFill>
                          <a:latin typeface="Droid Sans Fallback"/>
                        </a:defRPr>
                      </a:pPr>
                      <a:r>
                        <a:t>LRB · NSDI 2020</a:t>
                      </a:r>
                    </a:p>
                  </a:txBody>
                  <a:tcPr>
                    <a:solidFill>
                      <a:srgbClr val="F6F3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2000" b="0">
                          <a:solidFill>
                            <a:srgbClr val="222638"/>
                          </a:solidFill>
                          <a:latin typeface="Droid Sans Fallback"/>
                        </a:defRPr>
                      </a:pPr>
                      <a:r>
                        <a:t>只用已经发生的返回事件形成训练标签</a:t>
                      </a:r>
                    </a:p>
                  </a:txBody>
                  <a:tcPr>
                    <a:solidFill>
                      <a:srgbClr val="F6F3FA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>
                        <a:defRPr sz="2000" b="0">
                          <a:solidFill>
                            <a:srgbClr val="222638"/>
                          </a:solidFill>
                          <a:latin typeface="Droid Sans Fallback"/>
                        </a:defRPr>
                      </a:pPr>
                      <a:r>
                        <a:t>LHD · NSDI 2018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2000" b="0">
                          <a:solidFill>
                            <a:srgbClr val="222638"/>
                          </a:solidFill>
                          <a:latin typeface="Droid Sans Fallback"/>
                        </a:defRPr>
                      </a:pPr>
                      <a:r>
                        <a:t>页面已经存活多久，会改变其后续价值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>
                        <a:defRPr sz="2000" b="0">
                          <a:solidFill>
                            <a:srgbClr val="222638"/>
                          </a:solidFill>
                          <a:latin typeface="Droid Sans Fallback"/>
                        </a:defRPr>
                      </a:pPr>
                      <a:r>
                        <a:t>LeCaR · HotStorage 2018</a:t>
                      </a:r>
                    </a:p>
                  </a:txBody>
                  <a:tcPr>
                    <a:solidFill>
                      <a:srgbClr val="F6F3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2000" b="0">
                          <a:solidFill>
                            <a:srgbClr val="222638"/>
                          </a:solidFill>
                          <a:latin typeface="Droid Sans Fallback"/>
                        </a:defRPr>
                      </a:pPr>
                      <a:r>
                        <a:t>根据在线反馈组合策略</a:t>
                      </a:r>
                    </a:p>
                  </a:txBody>
                  <a:tcPr>
                    <a:solidFill>
                      <a:srgbClr val="F6F3FA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>
                        <a:defRPr sz="2000" b="0">
                          <a:solidFill>
                            <a:srgbClr val="222638"/>
                          </a:solidFill>
                          <a:latin typeface="Droid Sans Fallback"/>
                        </a:defRPr>
                      </a:pPr>
                      <a:r>
                        <a:t>ARC / S3-FIFO / SIEVE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2000" b="0">
                          <a:solidFill>
                            <a:srgbClr val="222638"/>
                          </a:solidFill>
                          <a:latin typeface="Droid Sans Fallback"/>
                        </a:defRPr>
                      </a:pPr>
                      <a:r>
                        <a:t>实测对照；不直接假设新论文一定更好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0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256032"/>
            <a:ext cx="11247120" cy="64008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spcAft>
                <a:spcPts val="1000"/>
              </a:spcAft>
              <a:defRPr sz="3000" b="1">
                <a:solidFill>
                  <a:srgbClr val="6536A0"/>
                </a:solidFill>
                <a:latin typeface="Droid Sans Fallback"/>
              </a:defRPr>
            </a:pPr>
            <a:r>
              <a:t>条件复用分布：等待时间本身就是信息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47104"/>
            <a:ext cx="9144000" cy="219456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spcAft>
                <a:spcPts val="1000"/>
              </a:spcAft>
              <a:defRPr sz="1000" b="0">
                <a:solidFill>
                  <a:srgbClr val="637083"/>
                </a:solidFill>
                <a:latin typeface="Droid Sans Fallback"/>
              </a:defRPr>
            </a:pPr>
            <a:r>
              <a:t>Adaptive V5  ·  Online demand paging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09960" y="6537960"/>
            <a:ext cx="548640" cy="219456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spcAft>
                <a:spcPts val="1000"/>
              </a:spcAft>
              <a:defRPr sz="1000" b="0">
                <a:solidFill>
                  <a:srgbClr val="637083"/>
                </a:solidFill>
                <a:latin typeface="Droid Sans Fallback"/>
              </a:defRPr>
            </a:pPr>
            <a: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463040"/>
            <a:ext cx="10698480" cy="64008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spcAft>
                <a:spcPts val="1000"/>
              </a:spcAft>
              <a:defRPr sz="2800" b="1">
                <a:solidFill>
                  <a:srgbClr val="6536A0"/>
                </a:solidFill>
                <a:latin typeface="Droid Sans Fallback"/>
              </a:defRPr>
            </a:pPr>
            <a:r>
              <a:t>历史间隔：10、100；当前已等待：20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2468880"/>
            <a:ext cx="10881360" cy="2606039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spcAft>
                <a:spcPts val="1000"/>
              </a:spcAft>
              <a:defRPr sz="2100" b="0">
                <a:solidFill>
                  <a:srgbClr val="222638"/>
                </a:solidFill>
                <a:latin typeface="Droid Sans Fallback"/>
              </a:defRPr>
            </a:pPr>
            <a:r>
              <a:t>• 仅平均：可能把两种模式混成一个不常出现的值。</a:t>
            </a:r>
          </a:p>
          <a:p>
            <a:pPr>
              <a:spcAft>
                <a:spcPts val="1000"/>
              </a:spcAft>
              <a:defRPr sz="2100" b="0">
                <a:solidFill>
                  <a:srgbClr val="222638"/>
                </a:solidFill>
                <a:latin typeface="Droid Sans Fallback"/>
              </a:defRPr>
            </a:pPr>
            <a:r>
              <a:t>• 条件估计：只保留间隔大于当前等待时间的历史质量。</a:t>
            </a:r>
          </a:p>
          <a:p>
            <a:pPr>
              <a:spcAft>
                <a:spcPts val="1000"/>
              </a:spcAft>
              <a:defRPr sz="2100" b="0">
                <a:solidFill>
                  <a:srgbClr val="222638"/>
                </a:solidFill>
                <a:latin typeface="Droid Sans Fallback"/>
              </a:defRPr>
            </a:pPr>
            <a:r>
              <a:t>• 最多 16 个间隔簇；旧证据乘 0.98，适应访问变化。</a:t>
            </a:r>
          </a:p>
          <a:p>
            <a:pPr>
              <a:spcAft>
                <a:spcPts val="1000"/>
              </a:spcAft>
              <a:defRPr sz="2100" b="0">
                <a:solidFill>
                  <a:srgbClr val="222638"/>
                </a:solidFill>
                <a:latin typeface="Droid Sans Fallback"/>
              </a:defRPr>
            </a:pPr>
            <a:r>
              <a:t>• 被历史表淘汰的页面记为删失观察，加有限惩罚。</a:t>
            </a:r>
          </a:p>
          <a:p>
            <a:pPr>
              <a:spcAft>
                <a:spcPts val="1000"/>
              </a:spcAft>
              <a:defRPr sz="2100" b="0">
                <a:solidFill>
                  <a:srgbClr val="222638"/>
                </a:solidFill>
                <a:latin typeface="Droid Sans Fallback"/>
              </a:defRPr>
            </a:pPr>
            <a:r>
              <a:t>• 分别按间隔、间隔对、前驱、后继等上下文学习。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0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256032"/>
            <a:ext cx="11247120" cy="64008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spcAft>
                <a:spcPts val="1000"/>
              </a:spcAft>
              <a:defRPr sz="3000" b="1">
                <a:solidFill>
                  <a:srgbClr val="6536A0"/>
                </a:solidFill>
                <a:latin typeface="Droid Sans Fallback"/>
              </a:defRPr>
            </a:pPr>
            <a:r>
              <a:t>25 个专家竞争；真实缓存仍只有 F 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47104"/>
            <a:ext cx="9144000" cy="219456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spcAft>
                <a:spcPts val="1000"/>
              </a:spcAft>
              <a:defRPr sz="1000" b="0">
                <a:solidFill>
                  <a:srgbClr val="637083"/>
                </a:solidFill>
                <a:latin typeface="Droid Sans Fallback"/>
              </a:defRPr>
            </a:pPr>
            <a:r>
              <a:t>Adaptive V5  ·  Online demand paging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09960" y="6537960"/>
            <a:ext cx="548640" cy="219456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spcAft>
                <a:spcPts val="1000"/>
              </a:spcAft>
              <a:defRPr sz="1000" b="0">
                <a:solidFill>
                  <a:srgbClr val="637083"/>
                </a:solidFill>
                <a:latin typeface="Droid Sans Fallback"/>
              </a:defRPr>
            </a:pPr>
            <a: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234440"/>
            <a:ext cx="10881360" cy="3840479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222638"/>
                </a:solidFill>
                <a:latin typeface="Droid Sans Fallback"/>
              </a:defRPr>
            </a:pPr>
            <a:r>
              <a:t>• 候选：LRU、频率、片段重放、间隔预测、上下文条件分布等。</a:t>
            </a:r>
          </a:p>
          <a:p>
            <a:pPr>
              <a:spcAft>
                <a:spcPts val="1000"/>
              </a:spcAft>
              <a:defRPr sz="2000" b="0">
                <a:solidFill>
                  <a:srgbClr val="222638"/>
                </a:solidFill>
                <a:latin typeface="Droid Sans Fallback"/>
              </a:defRPr>
            </a:pPr>
            <a:r>
              <a:t>• 损失 L ← (1 − 1/W)L + 本次影子缺页；W = max(32, 8F)。</a:t>
            </a:r>
          </a:p>
          <a:p>
            <a:pPr>
              <a:spcAft>
                <a:spcPts val="1000"/>
              </a:spcAft>
              <a:defRPr sz="2000" b="0">
                <a:solidFill>
                  <a:srgbClr val="222638"/>
                </a:solidFill>
                <a:latin typeface="Droid Sans Fallback"/>
              </a:defRPr>
            </a:pPr>
            <a:r>
              <a:t>• 先完成 32 次请求，再每 W/8 次比较；领先超过 max(1, W/20) 才切换。</a:t>
            </a:r>
          </a:p>
          <a:p>
            <a:pPr>
              <a:spcAft>
                <a:spcPts val="1000"/>
              </a:spcAft>
              <a:defRPr sz="2000" b="0">
                <a:solidFill>
                  <a:srgbClr val="222638"/>
                </a:solidFill>
                <a:latin typeface="Droid Sans Fallback"/>
              </a:defRPr>
            </a:pPr>
            <a:r>
              <a:t>• 选择只用已完成请求；初始策略为最近一次复用间隔。</a:t>
            </a:r>
          </a:p>
          <a:p>
            <a:pPr>
              <a:spcAft>
                <a:spcPts val="1000"/>
              </a:spcAft>
              <a:defRPr sz="2000" b="0">
                <a:solidFill>
                  <a:srgbClr val="222638"/>
                </a:solidFill>
                <a:latin typeface="Droid Sans Fallback"/>
              </a:defRPr>
            </a:pPr>
            <a:r>
              <a:t>• 真实页框逐次合法替换；影子仅保存页号和统计。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0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256032"/>
            <a:ext cx="11247120" cy="64008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spcAft>
                <a:spcPts val="1000"/>
              </a:spcAft>
              <a:defRPr sz="3000" b="1">
                <a:solidFill>
                  <a:srgbClr val="6536A0"/>
                </a:solidFill>
                <a:latin typeface="Droid Sans Fallback"/>
              </a:defRPr>
            </a:pPr>
            <a:r>
              <a:t>课程总体：正式程序的完整对照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47104"/>
            <a:ext cx="9144000" cy="219456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spcAft>
                <a:spcPts val="1000"/>
              </a:spcAft>
              <a:defRPr sz="1000" b="0">
                <a:solidFill>
                  <a:srgbClr val="637083"/>
                </a:solidFill>
                <a:latin typeface="Droid Sans Fallback"/>
              </a:defRPr>
            </a:pPr>
            <a:r>
              <a:t>Adaptive V5  ·  Online demand paging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09960" y="6537960"/>
            <a:ext cx="548640" cy="219456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spcAft>
                <a:spcPts val="1000"/>
              </a:spcAft>
              <a:defRPr sz="1000" b="0">
                <a:solidFill>
                  <a:srgbClr val="637083"/>
                </a:solidFill>
                <a:latin typeface="Droid Sans Fallback"/>
              </a:defRPr>
            </a:pPr>
            <a:r>
              <a:t>6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640080" y="1280160"/>
          <a:ext cx="10972800" cy="4389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77240" y="5715000"/>
            <a:ext cx="10698480" cy="45720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spcAft>
                <a:spcPts val="1000"/>
              </a:spcAft>
              <a:defRPr sz="2200" b="1">
                <a:solidFill>
                  <a:srgbClr val="087F78"/>
                </a:solidFill>
                <a:latin typeface="Droid Sans Fallback"/>
              </a:defRPr>
            </a:pPr>
            <a:r>
              <a:t>V4 → V5：17,002.35 → 16,688.45；降低 1.85%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0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256032"/>
            <a:ext cx="11247120" cy="64008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spcAft>
                <a:spcPts val="1000"/>
              </a:spcAft>
              <a:defRPr sz="3000" b="1">
                <a:solidFill>
                  <a:srgbClr val="6536A0"/>
                </a:solidFill>
                <a:latin typeface="Droid Sans Fallback"/>
              </a:defRPr>
            </a:pPr>
            <a:r>
              <a:t>收益集中在哪里：逐轨迹均值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47104"/>
            <a:ext cx="9144000" cy="219456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spcAft>
                <a:spcPts val="1000"/>
              </a:spcAft>
              <a:defRPr sz="1000" b="0">
                <a:solidFill>
                  <a:srgbClr val="637083"/>
                </a:solidFill>
                <a:latin typeface="Droid Sans Fallback"/>
              </a:defRPr>
            </a:pPr>
            <a:r>
              <a:t>Adaptive V5  ·  Online demand paging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09960" y="6537960"/>
            <a:ext cx="548640" cy="219456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spcAft>
                <a:spcPts val="1000"/>
              </a:spcAft>
              <a:defRPr sz="1000" b="0">
                <a:solidFill>
                  <a:srgbClr val="637083"/>
                </a:solidFill>
                <a:latin typeface="Droid Sans Fallback"/>
              </a:defRPr>
            </a:pPr>
            <a:r>
              <a:t>7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371600"/>
          <a:ext cx="11064240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4040"/>
                <a:gridCol w="1844040"/>
                <a:gridCol w="1844040"/>
                <a:gridCol w="1844040"/>
                <a:gridCol w="1844040"/>
                <a:gridCol w="1844040"/>
              </a:tblGrid>
              <a:tr h="530352">
                <a:tc>
                  <a:txBody>
                    <a:bodyPr/>
                    <a:lstStyle/>
                    <a:p>
                      <a:pPr>
                        <a:defRPr sz="1800" b="1">
                          <a:solidFill>
                            <a:srgbClr val="FFFFFF"/>
                          </a:solidFill>
                          <a:latin typeface="Droid Sans Fallback"/>
                        </a:defRPr>
                      </a:pPr>
                      <a:r>
                        <a:t>Trace</a:t>
                      </a:r>
                    </a:p>
                  </a:txBody>
                  <a:tcPr>
                    <a:solidFill>
                      <a:srgbClr val="6536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 b="1">
                          <a:solidFill>
                            <a:srgbClr val="FFFFFF"/>
                          </a:solidFill>
                          <a:latin typeface="Droid Sans Fallback"/>
                        </a:defRPr>
                      </a:pPr>
                      <a:r>
                        <a:t>OPT</a:t>
                      </a:r>
                    </a:p>
                  </a:txBody>
                  <a:tcPr>
                    <a:solidFill>
                      <a:srgbClr val="6536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 b="1">
                          <a:solidFill>
                            <a:srgbClr val="FFFFFF"/>
                          </a:solidFill>
                          <a:latin typeface="Droid Sans Fallback"/>
                        </a:defRPr>
                      </a:pPr>
                      <a:r>
                        <a:t>V3</a:t>
                      </a:r>
                    </a:p>
                  </a:txBody>
                  <a:tcPr>
                    <a:solidFill>
                      <a:srgbClr val="6536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 b="1">
                          <a:solidFill>
                            <a:srgbClr val="FFFFFF"/>
                          </a:solidFill>
                          <a:latin typeface="Droid Sans Fallback"/>
                        </a:defRPr>
                      </a:pPr>
                      <a:r>
                        <a:t>V4</a:t>
                      </a:r>
                    </a:p>
                  </a:txBody>
                  <a:tcPr>
                    <a:solidFill>
                      <a:srgbClr val="6536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 b="1">
                          <a:solidFill>
                            <a:srgbClr val="FFFFFF"/>
                          </a:solidFill>
                          <a:latin typeface="Droid Sans Fallback"/>
                        </a:defRPr>
                      </a:pPr>
                      <a:r>
                        <a:t>V5</a:t>
                      </a:r>
                    </a:p>
                  </a:txBody>
                  <a:tcPr>
                    <a:solidFill>
                      <a:srgbClr val="6536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 b="1">
                          <a:solidFill>
                            <a:srgbClr val="FFFFFF"/>
                          </a:solidFill>
                          <a:latin typeface="Droid Sans Fallback"/>
                        </a:defRPr>
                      </a:pPr>
                      <a:r>
                        <a:t>较 V4 减少</a:t>
                      </a:r>
                    </a:p>
                  </a:txBody>
                  <a:tcPr>
                    <a:solidFill>
                      <a:srgbClr val="6536A0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>
                        <a:defRPr sz="1800" b="0">
                          <a:solidFill>
                            <a:srgbClr val="222638"/>
                          </a:solidFill>
                          <a:latin typeface="Droid Sans Fallback"/>
                        </a:defRPr>
                      </a:pPr>
                      <a:r>
                        <a:t>qsort</a:t>
                      </a:r>
                    </a:p>
                  </a:txBody>
                  <a:tcPr>
                    <a:solidFill>
                      <a:srgbClr val="F6F3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 b="0">
                          <a:solidFill>
                            <a:srgbClr val="222638"/>
                          </a:solidFill>
                          <a:latin typeface="Droid Sans Fallback"/>
                        </a:defRPr>
                      </a:pPr>
                      <a:r>
                        <a:t>302.00</a:t>
                      </a:r>
                    </a:p>
                  </a:txBody>
                  <a:tcPr>
                    <a:solidFill>
                      <a:srgbClr val="F6F3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 b="0">
                          <a:solidFill>
                            <a:srgbClr val="222638"/>
                          </a:solidFill>
                          <a:latin typeface="Droid Sans Fallback"/>
                        </a:defRPr>
                      </a:pPr>
                      <a:r>
                        <a:t>332.75</a:t>
                      </a:r>
                    </a:p>
                  </a:txBody>
                  <a:tcPr>
                    <a:solidFill>
                      <a:srgbClr val="F6F3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 b="0">
                          <a:solidFill>
                            <a:srgbClr val="222638"/>
                          </a:solidFill>
                          <a:latin typeface="Droid Sans Fallback"/>
                        </a:defRPr>
                      </a:pPr>
                      <a:r>
                        <a:t>329.60</a:t>
                      </a:r>
                    </a:p>
                  </a:txBody>
                  <a:tcPr>
                    <a:solidFill>
                      <a:srgbClr val="F6F3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 b="0">
                          <a:solidFill>
                            <a:srgbClr val="222638"/>
                          </a:solidFill>
                          <a:latin typeface="Droid Sans Fallback"/>
                        </a:defRPr>
                      </a:pPr>
                      <a:r>
                        <a:t>326.20</a:t>
                      </a:r>
                    </a:p>
                  </a:txBody>
                  <a:tcPr>
                    <a:solidFill>
                      <a:srgbClr val="F6F3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 b="0">
                          <a:solidFill>
                            <a:srgbClr val="222638"/>
                          </a:solidFill>
                          <a:latin typeface="Droid Sans Fallback"/>
                        </a:defRPr>
                      </a:pPr>
                      <a:r>
                        <a:t>1.03%</a:t>
                      </a:r>
                    </a:p>
                  </a:txBody>
                  <a:tcPr>
                    <a:solidFill>
                      <a:srgbClr val="F6F3FA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>
                        <a:defRPr sz="1800" b="0">
                          <a:solidFill>
                            <a:srgbClr val="222638"/>
                          </a:solidFill>
                          <a:latin typeface="Droid Sans Fallback"/>
                        </a:defRPr>
                      </a:pPr>
                      <a:r>
                        <a:t>lu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 b="0">
                          <a:solidFill>
                            <a:srgbClr val="222638"/>
                          </a:solidFill>
                          <a:latin typeface="Droid Sans Fallback"/>
                        </a:defRPr>
                      </a:pPr>
                      <a:r>
                        <a:t>25,293.80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 b="0">
                          <a:solidFill>
                            <a:srgbClr val="222638"/>
                          </a:solidFill>
                          <a:latin typeface="Droid Sans Fallback"/>
                        </a:defRPr>
                      </a:pPr>
                      <a:r>
                        <a:t>26,624.94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 b="0">
                          <a:solidFill>
                            <a:srgbClr val="222638"/>
                          </a:solidFill>
                          <a:latin typeface="Droid Sans Fallback"/>
                        </a:defRPr>
                      </a:pPr>
                      <a:r>
                        <a:t>26,579.80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 b="0">
                          <a:solidFill>
                            <a:srgbClr val="222638"/>
                          </a:solidFill>
                          <a:latin typeface="Droid Sans Fallback"/>
                        </a:defRPr>
                      </a:pPr>
                      <a:r>
                        <a:t>26,115.20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 b="0">
                          <a:solidFill>
                            <a:srgbClr val="222638"/>
                          </a:solidFill>
                          <a:latin typeface="Droid Sans Fallback"/>
                        </a:defRPr>
                      </a:pPr>
                      <a:r>
                        <a:t>1.75%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>
                        <a:defRPr sz="1800" b="0">
                          <a:solidFill>
                            <a:srgbClr val="222638"/>
                          </a:solidFill>
                          <a:latin typeface="Droid Sans Fallback"/>
                        </a:defRPr>
                      </a:pPr>
                      <a:r>
                        <a:t>mm16</a:t>
                      </a:r>
                    </a:p>
                  </a:txBody>
                  <a:tcPr>
                    <a:solidFill>
                      <a:srgbClr val="F6F3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 b="0">
                          <a:solidFill>
                            <a:srgbClr val="222638"/>
                          </a:solidFill>
                          <a:latin typeface="Droid Sans Fallback"/>
                        </a:defRPr>
                      </a:pPr>
                      <a:r>
                        <a:t>4,188.20</a:t>
                      </a:r>
                    </a:p>
                  </a:txBody>
                  <a:tcPr>
                    <a:solidFill>
                      <a:srgbClr val="F6F3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 b="0">
                          <a:solidFill>
                            <a:srgbClr val="222638"/>
                          </a:solidFill>
                          <a:latin typeface="Droid Sans Fallback"/>
                        </a:defRPr>
                      </a:pPr>
                      <a:r>
                        <a:t>4,629.02</a:t>
                      </a:r>
                    </a:p>
                  </a:txBody>
                  <a:tcPr>
                    <a:solidFill>
                      <a:srgbClr val="F6F3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 b="0">
                          <a:solidFill>
                            <a:srgbClr val="222638"/>
                          </a:solidFill>
                          <a:latin typeface="Droid Sans Fallback"/>
                        </a:defRPr>
                      </a:pPr>
                      <a:r>
                        <a:t>4,541.80</a:t>
                      </a:r>
                    </a:p>
                  </a:txBody>
                  <a:tcPr>
                    <a:solidFill>
                      <a:srgbClr val="F6F3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 b="0">
                          <a:solidFill>
                            <a:srgbClr val="222638"/>
                          </a:solidFill>
                          <a:latin typeface="Droid Sans Fallback"/>
                        </a:defRPr>
                      </a:pPr>
                      <a:r>
                        <a:t>4,421.20</a:t>
                      </a:r>
                    </a:p>
                  </a:txBody>
                  <a:tcPr>
                    <a:solidFill>
                      <a:srgbClr val="F6F3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 b="0">
                          <a:solidFill>
                            <a:srgbClr val="222638"/>
                          </a:solidFill>
                          <a:latin typeface="Droid Sans Fallback"/>
                        </a:defRPr>
                      </a:pPr>
                      <a:r>
                        <a:t>2.66%</a:t>
                      </a:r>
                    </a:p>
                  </a:txBody>
                  <a:tcPr>
                    <a:solidFill>
                      <a:srgbClr val="F6F3FA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>
                        <a:defRPr sz="1800" b="0">
                          <a:solidFill>
                            <a:srgbClr val="222638"/>
                          </a:solidFill>
                          <a:latin typeface="Droid Sans Fallback"/>
                        </a:defRPr>
                      </a:pPr>
                      <a:r>
                        <a:t>mm32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 b="0">
                          <a:solidFill>
                            <a:srgbClr val="222638"/>
                          </a:solidFill>
                          <a:latin typeface="Droid Sans Fallback"/>
                        </a:defRPr>
                      </a:pPr>
                      <a:r>
                        <a:t>35,455.20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 b="0">
                          <a:solidFill>
                            <a:srgbClr val="222638"/>
                          </a:solidFill>
                          <a:latin typeface="Droid Sans Fallback"/>
                        </a:defRPr>
                      </a:pPr>
                      <a:r>
                        <a:t>36,816.46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 b="0">
                          <a:solidFill>
                            <a:srgbClr val="222638"/>
                          </a:solidFill>
                          <a:latin typeface="Droid Sans Fallback"/>
                        </a:defRPr>
                      </a:pPr>
                      <a:r>
                        <a:t>36,558.20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 b="0">
                          <a:solidFill>
                            <a:srgbClr val="222638"/>
                          </a:solidFill>
                          <a:latin typeface="Droid Sans Fallback"/>
                        </a:defRPr>
                      </a:pPr>
                      <a:r>
                        <a:t>35,891.20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 b="0">
                          <a:solidFill>
                            <a:srgbClr val="222638"/>
                          </a:solidFill>
                          <a:latin typeface="Droid Sans Fallback"/>
                        </a:defRPr>
                      </a:pPr>
                      <a:r>
                        <a:t>1.82%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0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256032"/>
            <a:ext cx="11247120" cy="64008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spcAft>
                <a:spcPts val="1000"/>
              </a:spcAft>
              <a:defRPr sz="3000" b="1">
                <a:solidFill>
                  <a:srgbClr val="6536A0"/>
                </a:solidFill>
                <a:latin typeface="Droid Sans Fallback"/>
              </a:defRPr>
            </a:pPr>
            <a:r>
              <a:t>没有收益的方向也保留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47104"/>
            <a:ext cx="9144000" cy="219456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spcAft>
                <a:spcPts val="1000"/>
              </a:spcAft>
              <a:defRPr sz="1000" b="0">
                <a:solidFill>
                  <a:srgbClr val="637083"/>
                </a:solidFill>
                <a:latin typeface="Droid Sans Fallback"/>
              </a:defRPr>
            </a:pPr>
            <a:r>
              <a:t>Adaptive V5  ·  Online demand paging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09960" y="6537960"/>
            <a:ext cx="548640" cy="219456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spcAft>
                <a:spcPts val="1000"/>
              </a:spcAft>
              <a:defRPr sz="1000" b="0">
                <a:solidFill>
                  <a:srgbClr val="637083"/>
                </a:solidFill>
                <a:latin typeface="Droid Sans Fallback"/>
              </a:defRPr>
            </a:pPr>
            <a:r>
              <a:t>8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280160"/>
          <a:ext cx="11064240" cy="21214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530352">
                <a:tc>
                  <a:txBody>
                    <a:bodyPr/>
                    <a:lstStyle/>
                    <a:p>
                      <a:pPr>
                        <a:defRPr sz="2000" b="1">
                          <a:solidFill>
                            <a:srgbClr val="FFFFFF"/>
                          </a:solidFill>
                          <a:latin typeface="Droid Sans Fallback"/>
                        </a:defRPr>
                      </a:pPr>
                      <a:r>
                        <a:t>研究对照</a:t>
                      </a:r>
                    </a:p>
                  </a:txBody>
                  <a:tcPr>
                    <a:solidFill>
                      <a:srgbClr val="6536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2000" b="1">
                          <a:solidFill>
                            <a:srgbClr val="FFFFFF"/>
                          </a:solidFill>
                          <a:latin typeface="Droid Sans Fallback"/>
                        </a:defRPr>
                      </a:pPr>
                      <a:r>
                        <a:t>课程平均缺页</a:t>
                      </a:r>
                    </a:p>
                  </a:txBody>
                  <a:tcPr>
                    <a:solidFill>
                      <a:srgbClr val="6536A0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>
                        <a:defRPr sz="2000" b="0">
                          <a:solidFill>
                            <a:srgbClr val="222638"/>
                          </a:solidFill>
                          <a:latin typeface="Droid Sans Fallback"/>
                        </a:defRPr>
                      </a:pPr>
                      <a:r>
                        <a:t>arc</a:t>
                      </a:r>
                    </a:p>
                  </a:txBody>
                  <a:tcPr>
                    <a:solidFill>
                      <a:srgbClr val="F6F3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2000" b="0">
                          <a:solidFill>
                            <a:srgbClr val="222638"/>
                          </a:solidFill>
                          <a:latin typeface="Droid Sans Fallback"/>
                        </a:defRPr>
                      </a:pPr>
                      <a:r>
                        <a:t>22,852.50</a:t>
                      </a:r>
                    </a:p>
                  </a:txBody>
                  <a:tcPr>
                    <a:solidFill>
                      <a:srgbClr val="F6F3FA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>
                        <a:defRPr sz="2000" b="0">
                          <a:solidFill>
                            <a:srgbClr val="222638"/>
                          </a:solidFill>
                          <a:latin typeface="Droid Sans Fallback"/>
                        </a:defRPr>
                      </a:pPr>
                      <a:r>
                        <a:t>s3fifo_demand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2000" b="0">
                          <a:solidFill>
                            <a:srgbClr val="222638"/>
                          </a:solidFill>
                          <a:latin typeface="Droid Sans Fallback"/>
                        </a:defRPr>
                      </a:pPr>
                      <a:r>
                        <a:t>21,648.60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>
                        <a:defRPr sz="2000" b="0">
                          <a:solidFill>
                            <a:srgbClr val="222638"/>
                          </a:solidFill>
                          <a:latin typeface="Droid Sans Fallback"/>
                        </a:defRPr>
                      </a:pPr>
                      <a:r>
                        <a:t>sieve</a:t>
                      </a:r>
                    </a:p>
                  </a:txBody>
                  <a:tcPr>
                    <a:solidFill>
                      <a:srgbClr val="F6F3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2000" b="0">
                          <a:solidFill>
                            <a:srgbClr val="222638"/>
                          </a:solidFill>
                          <a:latin typeface="Droid Sans Fallback"/>
                        </a:defRPr>
                      </a:pPr>
                      <a:r>
                        <a:t>27,112.05</a:t>
                      </a:r>
                    </a:p>
                  </a:txBody>
                  <a:tcPr>
                    <a:solidFill>
                      <a:srgbClr val="F6F3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77240" y="4297680"/>
            <a:ext cx="10607040" cy="128016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spcAft>
                <a:spcPts val="1000"/>
              </a:spcAft>
              <a:defRPr sz="2100" b="0">
                <a:solidFill>
                  <a:srgbClr val="637083"/>
                </a:solidFill>
                <a:latin typeface="Droid Sans Fallback"/>
              </a:defRPr>
            </a:pPr>
            <a:r>
              <a:t>组合方式也实测：加权投票未超过最终的动态切换。</a:t>
            </a:r>
          </a:p>
          <a:p>
            <a:pPr>
              <a:spcAft>
                <a:spcPts val="1000"/>
              </a:spcAft>
              <a:defRPr sz="2100" b="0">
                <a:solidFill>
                  <a:srgbClr val="637083"/>
                </a:solidFill>
                <a:latin typeface="Droid Sans Fallback"/>
              </a:defRPr>
            </a:pPr>
            <a:r>
              <a:t>最终参数依据课程与开发数据选择；没有万能最优结论。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0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256032"/>
            <a:ext cx="11247120" cy="64008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spcAft>
                <a:spcPts val="1000"/>
              </a:spcAft>
              <a:defRPr sz="3000" b="1">
                <a:solidFill>
                  <a:srgbClr val="6536A0"/>
                </a:solidFill>
                <a:latin typeface="Droid Sans Fallback"/>
              </a:defRPr>
            </a:pPr>
            <a:r>
              <a:t>冻结后验证：与开发结果分开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47104"/>
            <a:ext cx="9144000" cy="219456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spcAft>
                <a:spcPts val="1000"/>
              </a:spcAft>
              <a:defRPr sz="1000" b="0">
                <a:solidFill>
                  <a:srgbClr val="637083"/>
                </a:solidFill>
                <a:latin typeface="Droid Sans Fallback"/>
              </a:defRPr>
            </a:pPr>
            <a:r>
              <a:t>Adaptive V5  ·  Online demand paging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09960" y="6537960"/>
            <a:ext cx="548640" cy="219456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spcAft>
                <a:spcPts val="1000"/>
              </a:spcAft>
              <a:defRPr sz="1000" b="0">
                <a:solidFill>
                  <a:srgbClr val="637083"/>
                </a:solidFill>
                <a:latin typeface="Droid Sans Fallback"/>
              </a:defRPr>
            </a:pPr>
            <a:r>
              <a:t>9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371600"/>
          <a:ext cx="11064240" cy="21214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6060"/>
                <a:gridCol w="2766060"/>
                <a:gridCol w="2766060"/>
                <a:gridCol w="2766060"/>
              </a:tblGrid>
              <a:tr h="530352">
                <a:tc>
                  <a:txBody>
                    <a:bodyPr/>
                    <a:lstStyle/>
                    <a:p>
                      <a:pPr>
                        <a:defRPr sz="2100" b="1">
                          <a:solidFill>
                            <a:srgbClr val="FFFFFF"/>
                          </a:solidFill>
                          <a:latin typeface="Droid Sans Fallback"/>
                        </a:defRPr>
                      </a:pPr>
                      <a:r>
                        <a:t>集合</a:t>
                      </a:r>
                    </a:p>
                  </a:txBody>
                  <a:tcPr>
                    <a:solidFill>
                      <a:srgbClr val="6536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2100" b="1">
                          <a:solidFill>
                            <a:srgbClr val="FFFFFF"/>
                          </a:solidFill>
                          <a:latin typeface="Droid Sans Fallback"/>
                        </a:defRPr>
                      </a:pPr>
                      <a:r>
                        <a:t>V4</a:t>
                      </a:r>
                    </a:p>
                  </a:txBody>
                  <a:tcPr>
                    <a:solidFill>
                      <a:srgbClr val="6536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2100" b="1">
                          <a:solidFill>
                            <a:srgbClr val="FFFFFF"/>
                          </a:solidFill>
                          <a:latin typeface="Droid Sans Fallback"/>
                        </a:defRPr>
                      </a:pPr>
                      <a:r>
                        <a:t>V5</a:t>
                      </a:r>
                    </a:p>
                  </a:txBody>
                  <a:tcPr>
                    <a:solidFill>
                      <a:srgbClr val="6536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2100" b="1">
                          <a:solidFill>
                            <a:srgbClr val="FFFFFF"/>
                          </a:solidFill>
                          <a:latin typeface="Droid Sans Fallback"/>
                        </a:defRPr>
                      </a:pPr>
                      <a:r>
                        <a:t>较 V4 减少</a:t>
                      </a:r>
                    </a:p>
                  </a:txBody>
                  <a:tcPr>
                    <a:solidFill>
                      <a:srgbClr val="6536A0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>
                        <a:defRPr sz="2100" b="0">
                          <a:solidFill>
                            <a:srgbClr val="222638"/>
                          </a:solidFill>
                          <a:latin typeface="Droid Sans Fallback"/>
                        </a:defRPr>
                      </a:pPr>
                      <a:r>
                        <a:t>10 类已有开发</a:t>
                      </a:r>
                    </a:p>
                  </a:txBody>
                  <a:tcPr>
                    <a:solidFill>
                      <a:srgbClr val="F6F3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2100" b="0">
                          <a:solidFill>
                            <a:srgbClr val="222638"/>
                          </a:solidFill>
                          <a:latin typeface="Droid Sans Fallback"/>
                        </a:defRPr>
                      </a:pPr>
                      <a:r>
                        <a:t>4,844.01</a:t>
                      </a:r>
                    </a:p>
                  </a:txBody>
                  <a:tcPr>
                    <a:solidFill>
                      <a:srgbClr val="F6F3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2100" b="0">
                          <a:solidFill>
                            <a:srgbClr val="222638"/>
                          </a:solidFill>
                          <a:latin typeface="Droid Sans Fallback"/>
                        </a:defRPr>
                      </a:pPr>
                      <a:r>
                        <a:t>4,831.50</a:t>
                      </a:r>
                    </a:p>
                  </a:txBody>
                  <a:tcPr>
                    <a:solidFill>
                      <a:srgbClr val="F6F3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2100" b="0">
                          <a:solidFill>
                            <a:srgbClr val="222638"/>
                          </a:solidFill>
                          <a:latin typeface="Droid Sans Fallback"/>
                        </a:defRPr>
                      </a:pPr>
                      <a:r>
                        <a:t>0.26%</a:t>
                      </a:r>
                    </a:p>
                  </a:txBody>
                  <a:tcPr>
                    <a:solidFill>
                      <a:srgbClr val="F6F3FA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>
                        <a:defRPr sz="2100" b="0">
                          <a:solidFill>
                            <a:srgbClr val="222638"/>
                          </a:solidFill>
                          <a:latin typeface="Droid Sans Fallback"/>
                        </a:defRPr>
                      </a:pPr>
                      <a:r>
                        <a:t>8 类已有回归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2100" b="0">
                          <a:solidFill>
                            <a:srgbClr val="222638"/>
                          </a:solidFill>
                          <a:latin typeface="Droid Sans Fallback"/>
                        </a:defRPr>
                      </a:pPr>
                      <a:r>
                        <a:t>6,996.56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2100" b="0">
                          <a:solidFill>
                            <a:srgbClr val="222638"/>
                          </a:solidFill>
                          <a:latin typeface="Droid Sans Fallback"/>
                        </a:defRPr>
                      </a:pPr>
                      <a:r>
                        <a:t>6,903.05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2100" b="0">
                          <a:solidFill>
                            <a:srgbClr val="222638"/>
                          </a:solidFill>
                          <a:latin typeface="Droid Sans Fallback"/>
                        </a:defRPr>
                      </a:pPr>
                      <a:r>
                        <a:t>1.34%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>
                        <a:defRPr sz="2100" b="0">
                          <a:solidFill>
                            <a:srgbClr val="222638"/>
                          </a:solidFill>
                          <a:latin typeface="Droid Sans Fallback"/>
                        </a:defRPr>
                      </a:pPr>
                      <a:r>
                        <a:t>10 类新构造验证</a:t>
                      </a:r>
                    </a:p>
                  </a:txBody>
                  <a:tcPr>
                    <a:solidFill>
                      <a:srgbClr val="F6F3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2100" b="0">
                          <a:solidFill>
                            <a:srgbClr val="222638"/>
                          </a:solidFill>
                          <a:latin typeface="Droid Sans Fallback"/>
                        </a:defRPr>
                      </a:pPr>
                      <a:r>
                        <a:t>7,175.42</a:t>
                      </a:r>
                    </a:p>
                  </a:txBody>
                  <a:tcPr>
                    <a:solidFill>
                      <a:srgbClr val="F6F3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2100" b="0">
                          <a:solidFill>
                            <a:srgbClr val="222638"/>
                          </a:solidFill>
                          <a:latin typeface="Droid Sans Fallback"/>
                        </a:defRPr>
                      </a:pPr>
                      <a:r>
                        <a:t>6,966.29</a:t>
                      </a:r>
                    </a:p>
                  </a:txBody>
                  <a:tcPr>
                    <a:solidFill>
                      <a:srgbClr val="F6F3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2100" b="0">
                          <a:solidFill>
                            <a:srgbClr val="222638"/>
                          </a:solidFill>
                          <a:latin typeface="Droid Sans Fallback"/>
                        </a:defRPr>
                      </a:pPr>
                      <a:r>
                        <a:t>2.91%</a:t>
                      </a:r>
                    </a:p>
                  </a:txBody>
                  <a:tcPr>
                    <a:solidFill>
                      <a:srgbClr val="F6F3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0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256032"/>
            <a:ext cx="11247120" cy="64008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spcAft>
                <a:spcPts val="1000"/>
              </a:spcAft>
              <a:defRPr sz="3000" b="1">
                <a:solidFill>
                  <a:srgbClr val="6536A0"/>
                </a:solidFill>
                <a:latin typeface="Droid Sans Fallback"/>
              </a:defRPr>
            </a:pPr>
            <a:r>
              <a:t>代价与验证：用计算换更少缺页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47104"/>
            <a:ext cx="9144000" cy="219456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spcAft>
                <a:spcPts val="1000"/>
              </a:spcAft>
              <a:defRPr sz="1000" b="0">
                <a:solidFill>
                  <a:srgbClr val="637083"/>
                </a:solidFill>
                <a:latin typeface="Droid Sans Fallback"/>
              </a:defRPr>
            </a:pPr>
            <a:r>
              <a:t>Adaptive V5  ·  Online demand paging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09960" y="6537960"/>
            <a:ext cx="548640" cy="219456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spcAft>
                <a:spcPts val="1000"/>
              </a:spcAft>
              <a:defRPr sz="1000" b="0">
                <a:solidFill>
                  <a:srgbClr val="637083"/>
                </a:solidFill>
                <a:latin typeface="Droid Sans Fallback"/>
              </a:defRPr>
            </a:pPr>
            <a: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234440"/>
            <a:ext cx="10881360" cy="3840479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spcAft>
                <a:spcPts val="1000"/>
              </a:spcAft>
              <a:defRPr sz="2100" b="0">
                <a:solidFill>
                  <a:srgbClr val="222638"/>
                </a:solidFill>
                <a:latin typeface="Droid Sans Fallback"/>
              </a:defRPr>
            </a:pPr>
            <a:r>
              <a:t>• mm32 五档中位耗时：V4 0.99s；V5 4.49s。</a:t>
            </a:r>
          </a:p>
          <a:p>
            <a:pPr>
              <a:spcAft>
                <a:spcPts val="1000"/>
              </a:spcAft>
              <a:defRPr sz="2100" b="0">
                <a:solidFill>
                  <a:srgbClr val="222638"/>
                </a:solidFill>
                <a:latin typeface="Droid Sans Fallback"/>
              </a:defRPr>
            </a:pPr>
            <a:r>
              <a:t>• 百万行纯扫描：每档恰好 1,000,000 次缺页；峰值 RSS 19.9 MiB。</a:t>
            </a:r>
          </a:p>
          <a:p>
            <a:pPr>
              <a:spcAft>
                <a:spcPts val="1000"/>
              </a:spcAft>
              <a:defRPr sz="2100" b="0">
                <a:solidFill>
                  <a:srgbClr val="222638"/>
                </a:solidFill>
                <a:latin typeface="Droid Sans Fallback"/>
              </a:defRPr>
            </a:pPr>
            <a:r>
              <a:t>• Release、ASan、UBSan：真实驻留、命中、淘汰与均值检查。</a:t>
            </a:r>
          </a:p>
          <a:p>
            <a:pPr>
              <a:spcAft>
                <a:spcPts val="1000"/>
              </a:spcAft>
              <a:defRPr sz="2100" b="0">
                <a:solidFill>
                  <a:srgbClr val="222638"/>
                </a:solidFill>
                <a:latin typeface="Droid Sans Fallback"/>
              </a:defRPr>
            </a:pPr>
            <a:r>
              <a:t>• 穷举短序列对照精确 OPT；前缀、页号重命名、流式与向量一致。</a:t>
            </a:r>
          </a:p>
          <a:p>
            <a:pPr>
              <a:spcAft>
                <a:spcPts val="1000"/>
              </a:spcAft>
              <a:defRPr sz="2100" b="0">
                <a:solidFill>
                  <a:srgbClr val="222638"/>
                </a:solidFill>
                <a:latin typeface="Droid Sans Fallback"/>
              </a:defRPr>
            </a:pPr>
            <a:r>
              <a:t>• 保留 V1–V4；V4 算法源文件及既有计数均可复现。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0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256032"/>
            <a:ext cx="11247120" cy="64008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spcAft>
                <a:spcPts val="1000"/>
              </a:spcAft>
              <a:defRPr sz="3000" b="1">
                <a:solidFill>
                  <a:srgbClr val="6536A0"/>
                </a:solidFill>
                <a:latin typeface="Droid Sans Fallback"/>
              </a:defRPr>
            </a:pPr>
            <a:r>
              <a:t>现场只换文件路径，默认使用 V5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47104"/>
            <a:ext cx="9144000" cy="219456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spcAft>
                <a:spcPts val="1000"/>
              </a:spcAft>
              <a:defRPr sz="1000" b="0">
                <a:solidFill>
                  <a:srgbClr val="637083"/>
                </a:solidFill>
                <a:latin typeface="Droid Sans Fallback"/>
              </a:defRPr>
            </a:pPr>
            <a:r>
              <a:t>Adaptive V5  ·  Online demand paging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09960" y="6537960"/>
            <a:ext cx="548640" cy="219456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spcAft>
                <a:spcPts val="1000"/>
              </a:spcAft>
              <a:defRPr sz="1000" b="0">
                <a:solidFill>
                  <a:srgbClr val="637083"/>
                </a:solidFill>
                <a:latin typeface="Droid Sans Fallback"/>
              </a:defRPr>
            </a:pPr>
            <a: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463040"/>
            <a:ext cx="10698480" cy="64008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spcAft>
                <a:spcPts val="1000"/>
              </a:spcAft>
              <a:defRPr sz="2800" b="1">
                <a:solidFill>
                  <a:srgbClr val="6536A0"/>
                </a:solidFill>
                <a:latin typeface="Droid Sans Fallback"/>
              </a:defRPr>
            </a:pPr>
            <a:r>
              <a:t>bash run.sh "老师给的文件.txt"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651760"/>
            <a:ext cx="10698480" cy="128016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spcAft>
                <a:spcPts val="1000"/>
              </a:spcAft>
              <a:defRPr sz="2400" b="0">
                <a:solidFill>
                  <a:srgbClr val="087F78"/>
                </a:solidFill>
                <a:latin typeface="Droid Sans Fallback"/>
              </a:defRPr>
            </a:pPr>
            <a:r>
              <a:t>mm32：55,006 · 48,712 · 37,986 · 19,730 · 18,022</a:t>
            </a:r>
          </a:p>
          <a:p>
            <a:pPr>
              <a:spcAft>
                <a:spcPts val="1000"/>
              </a:spcAft>
              <a:defRPr sz="2400" b="0">
                <a:solidFill>
                  <a:srgbClr val="087F78"/>
                </a:solidFill>
                <a:latin typeface="Droid Sans Fallback"/>
              </a:defRPr>
            </a:pPr>
            <a:r>
              <a:t>平均：35,891.20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4389120"/>
            <a:ext cx="10698480" cy="137160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637083"/>
                </a:solidFill>
                <a:latin typeface="Droid Sans Fallback"/>
              </a:defRPr>
            </a:pPr>
            <a:r>
              <a:t>旧版对照：bash run.sh test.txt --adaptive-version 4</a:t>
            </a:r>
          </a:p>
          <a:p>
            <a:pPr>
              <a:spcAft>
                <a:spcPts val="1000"/>
              </a:spcAft>
              <a:defRPr sz="2000" b="0">
                <a:solidFill>
                  <a:srgbClr val="637083"/>
                </a:solidFill>
                <a:latin typeface="Droid Sans Fallback"/>
              </a:defRPr>
            </a:pPr>
            <a:r>
              <a:t>默认十六进制；十进制加 --page-format decimal</a:t>
            </a:r>
          </a:p>
          <a:p>
            <a:pPr>
              <a:spcAft>
                <a:spcPts val="1000"/>
              </a:spcAft>
              <a:defRPr sz="2000" b="0">
                <a:solidFill>
                  <a:srgbClr val="637083"/>
                </a:solidFill>
                <a:latin typeface="Droid Sans Fallback"/>
              </a:defRPr>
            </a:pPr>
            <a:r>
              <a:t>文档、逐种子记录、论文出处、源码哈希均随仓库提供。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0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256032"/>
            <a:ext cx="11247120" cy="64008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spcAft>
                <a:spcPts val="1000"/>
              </a:spcAft>
              <a:defRPr sz="3000" b="1">
                <a:solidFill>
                  <a:srgbClr val="6536A0"/>
                </a:solidFill>
                <a:latin typeface="Droid Sans Fallback"/>
              </a:defRPr>
            </a:pPr>
            <a:r>
              <a:t>附录：qsort 完整缺页计数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47104"/>
            <a:ext cx="9144000" cy="219456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spcAft>
                <a:spcPts val="1000"/>
              </a:spcAft>
              <a:defRPr sz="1000" b="0">
                <a:solidFill>
                  <a:srgbClr val="637083"/>
                </a:solidFill>
                <a:latin typeface="Droid Sans Fallback"/>
              </a:defRPr>
            </a:pPr>
            <a:r>
              <a:t>Adaptive V5  ·  Online demand paging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09960" y="6537960"/>
            <a:ext cx="548640" cy="219456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spcAft>
                <a:spcPts val="1000"/>
              </a:spcAft>
              <a:defRPr sz="1000" b="0">
                <a:solidFill>
                  <a:srgbClr val="637083"/>
                </a:solidFill>
                <a:latin typeface="Droid Sans Fallback"/>
              </a:defRPr>
            </a:pPr>
            <a:r>
              <a:t>12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645920"/>
          <a:ext cx="11064240" cy="318211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6424"/>
                <a:gridCol w="1106424"/>
                <a:gridCol w="1106424"/>
                <a:gridCol w="1106424"/>
                <a:gridCol w="1106424"/>
                <a:gridCol w="1106424"/>
                <a:gridCol w="1106424"/>
                <a:gridCol w="1106424"/>
                <a:gridCol w="1106424"/>
                <a:gridCol w="1106424"/>
              </a:tblGrid>
              <a:tr h="530351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Droid Sans Fallback"/>
                        </a:defRPr>
                      </a:pPr>
                      <a:r>
                        <a:t>Frames</a:t>
                      </a:r>
                    </a:p>
                  </a:txBody>
                  <a:tcPr>
                    <a:solidFill>
                      <a:srgbClr val="6536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Droid Sans Fallback"/>
                        </a:defRPr>
                      </a:pPr>
                      <a:r>
                        <a:t>Random</a:t>
                      </a:r>
                    </a:p>
                  </a:txBody>
                  <a:tcPr>
                    <a:solidFill>
                      <a:srgbClr val="6536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Droid Sans Fallback"/>
                        </a:defRPr>
                      </a:pPr>
                      <a:r>
                        <a:t>FIFO</a:t>
                      </a:r>
                    </a:p>
                  </a:txBody>
                  <a:tcPr>
                    <a:solidFill>
                      <a:srgbClr val="6536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Droid Sans Fallback"/>
                        </a:defRPr>
                      </a:pPr>
                      <a:r>
                        <a:t>OPT</a:t>
                      </a:r>
                    </a:p>
                  </a:txBody>
                  <a:tcPr>
                    <a:solidFill>
                      <a:srgbClr val="6536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Droid Sans Fallback"/>
                        </a:defRPr>
                      </a:pPr>
                      <a:r>
                        <a:t>LFU</a:t>
                      </a:r>
                    </a:p>
                  </a:txBody>
                  <a:tcPr>
                    <a:solidFill>
                      <a:srgbClr val="6536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Droid Sans Fallback"/>
                        </a:defRPr>
                      </a:pPr>
                      <a:r>
                        <a:t>LRU</a:t>
                      </a:r>
                    </a:p>
                  </a:txBody>
                  <a:tcPr>
                    <a:solidFill>
                      <a:srgbClr val="6536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Droid Sans Fallback"/>
                        </a:defRPr>
                      </a:pPr>
                      <a:r>
                        <a:t>Clock</a:t>
                      </a:r>
                    </a:p>
                  </a:txBody>
                  <a:tcPr>
                    <a:solidFill>
                      <a:srgbClr val="6536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Droid Sans Fallback"/>
                        </a:defRPr>
                      </a:pPr>
                      <a:r>
                        <a:t>V3</a:t>
                      </a:r>
                    </a:p>
                  </a:txBody>
                  <a:tcPr>
                    <a:solidFill>
                      <a:srgbClr val="6536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Droid Sans Fallback"/>
                        </a:defRPr>
                      </a:pPr>
                      <a:r>
                        <a:t>V4</a:t>
                      </a:r>
                    </a:p>
                  </a:txBody>
                  <a:tcPr>
                    <a:solidFill>
                      <a:srgbClr val="6536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Droid Sans Fallback"/>
                        </a:defRPr>
                      </a:pPr>
                      <a:r>
                        <a:t>V5</a:t>
                      </a:r>
                    </a:p>
                  </a:txBody>
                  <a:tcPr>
                    <a:solidFill>
                      <a:srgbClr val="6536A0"/>
                    </a:solidFill>
                  </a:tcPr>
                </a:tc>
              </a:tr>
              <a:tr h="530351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22638"/>
                          </a:solidFill>
                          <a:latin typeface="Droid Sans Fallback"/>
                        </a:defRPr>
                      </a:pPr>
                      <a:r>
                        <a:t>5</a:t>
                      </a:r>
                    </a:p>
                  </a:txBody>
                  <a:tcPr>
                    <a:solidFill>
                      <a:srgbClr val="F6F3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22638"/>
                          </a:solidFill>
                          <a:latin typeface="Droid Sans Fallback"/>
                        </a:defRPr>
                      </a:pPr>
                      <a:r>
                        <a:t>523.10</a:t>
                      </a:r>
                    </a:p>
                  </a:txBody>
                  <a:tcPr>
                    <a:solidFill>
                      <a:srgbClr val="F6F3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22638"/>
                          </a:solidFill>
                          <a:latin typeface="Droid Sans Fallback"/>
                        </a:defRPr>
                      </a:pPr>
                      <a:r>
                        <a:t>524.00</a:t>
                      </a:r>
                    </a:p>
                  </a:txBody>
                  <a:tcPr>
                    <a:solidFill>
                      <a:srgbClr val="F6F3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22638"/>
                          </a:solidFill>
                          <a:latin typeface="Droid Sans Fallback"/>
                        </a:defRPr>
                      </a:pPr>
                      <a:r>
                        <a:t>463.00</a:t>
                      </a:r>
                    </a:p>
                  </a:txBody>
                  <a:tcPr>
                    <a:solidFill>
                      <a:srgbClr val="F6F3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22638"/>
                          </a:solidFill>
                          <a:latin typeface="Droid Sans Fallback"/>
                        </a:defRPr>
                      </a:pPr>
                      <a:r>
                        <a:t>524.00</a:t>
                      </a:r>
                    </a:p>
                  </a:txBody>
                  <a:tcPr>
                    <a:solidFill>
                      <a:srgbClr val="F6F3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22638"/>
                          </a:solidFill>
                          <a:latin typeface="Droid Sans Fallback"/>
                        </a:defRPr>
                      </a:pPr>
                      <a:r>
                        <a:t>524.00</a:t>
                      </a:r>
                    </a:p>
                  </a:txBody>
                  <a:tcPr>
                    <a:solidFill>
                      <a:srgbClr val="F6F3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22638"/>
                          </a:solidFill>
                          <a:latin typeface="Droid Sans Fallback"/>
                        </a:defRPr>
                      </a:pPr>
                      <a:r>
                        <a:t>524.00</a:t>
                      </a:r>
                    </a:p>
                  </a:txBody>
                  <a:tcPr>
                    <a:solidFill>
                      <a:srgbClr val="F6F3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22638"/>
                          </a:solidFill>
                          <a:latin typeface="Droid Sans Fallback"/>
                        </a:defRPr>
                      </a:pPr>
                      <a:r>
                        <a:t>490.17</a:t>
                      </a:r>
                    </a:p>
                  </a:txBody>
                  <a:tcPr>
                    <a:solidFill>
                      <a:srgbClr val="F6F3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22638"/>
                          </a:solidFill>
                          <a:latin typeface="Droid Sans Fallback"/>
                        </a:defRPr>
                      </a:pPr>
                      <a:r>
                        <a:t>487.00</a:t>
                      </a:r>
                    </a:p>
                  </a:txBody>
                  <a:tcPr>
                    <a:solidFill>
                      <a:srgbClr val="F6F3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22638"/>
                          </a:solidFill>
                          <a:latin typeface="Droid Sans Fallback"/>
                        </a:defRPr>
                      </a:pPr>
                      <a:r>
                        <a:t>479.00</a:t>
                      </a:r>
                    </a:p>
                  </a:txBody>
                  <a:tcPr>
                    <a:solidFill>
                      <a:srgbClr val="F6F3FA"/>
                    </a:solidFill>
                  </a:tcPr>
                </a:tc>
              </a:tr>
              <a:tr h="530351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22638"/>
                          </a:solidFill>
                          <a:latin typeface="Droid Sans Fallback"/>
                        </a:defRPr>
                      </a:pPr>
                      <a: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22638"/>
                          </a:solidFill>
                          <a:latin typeface="Droid Sans Fallback"/>
                        </a:defRPr>
                      </a:pPr>
                      <a:r>
                        <a:t>502.50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22638"/>
                          </a:solidFill>
                          <a:latin typeface="Droid Sans Fallback"/>
                        </a:defRPr>
                      </a:pPr>
                      <a:r>
                        <a:t>524.00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22638"/>
                          </a:solidFill>
                          <a:latin typeface="Droid Sans Fallback"/>
                        </a:defRPr>
                      </a:pPr>
                      <a:r>
                        <a:t>389.00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22638"/>
                          </a:solidFill>
                          <a:latin typeface="Droid Sans Fallback"/>
                        </a:defRPr>
                      </a:pPr>
                      <a:r>
                        <a:t>524.00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22638"/>
                          </a:solidFill>
                          <a:latin typeface="Droid Sans Fallback"/>
                        </a:defRPr>
                      </a:pPr>
                      <a:r>
                        <a:t>524.00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22638"/>
                          </a:solidFill>
                          <a:latin typeface="Droid Sans Fallback"/>
                        </a:defRPr>
                      </a:pPr>
                      <a:r>
                        <a:t>524.00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22638"/>
                          </a:solidFill>
                          <a:latin typeface="Droid Sans Fallback"/>
                        </a:defRPr>
                      </a:pPr>
                      <a:r>
                        <a:t>438.37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22638"/>
                          </a:solidFill>
                          <a:latin typeface="Droid Sans Fallback"/>
                        </a:defRPr>
                      </a:pPr>
                      <a:r>
                        <a:t>433.00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22638"/>
                          </a:solidFill>
                          <a:latin typeface="Droid Sans Fallback"/>
                        </a:defRPr>
                      </a:pPr>
                      <a:r>
                        <a:t>430.00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30351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22638"/>
                          </a:solidFill>
                          <a:latin typeface="Droid Sans Fallback"/>
                        </a:defRPr>
                      </a:pPr>
                      <a:r>
                        <a:t>20</a:t>
                      </a:r>
                    </a:p>
                  </a:txBody>
                  <a:tcPr>
                    <a:solidFill>
                      <a:srgbClr val="F6F3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22638"/>
                          </a:solidFill>
                          <a:latin typeface="Droid Sans Fallback"/>
                        </a:defRPr>
                      </a:pPr>
                      <a:r>
                        <a:t>389.83</a:t>
                      </a:r>
                    </a:p>
                  </a:txBody>
                  <a:tcPr>
                    <a:solidFill>
                      <a:srgbClr val="F6F3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22638"/>
                          </a:solidFill>
                          <a:latin typeface="Droid Sans Fallback"/>
                        </a:defRPr>
                      </a:pPr>
                      <a:r>
                        <a:t>524.00</a:t>
                      </a:r>
                    </a:p>
                  </a:txBody>
                  <a:tcPr>
                    <a:solidFill>
                      <a:srgbClr val="F6F3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22638"/>
                          </a:solidFill>
                          <a:latin typeface="Droid Sans Fallback"/>
                        </a:defRPr>
                      </a:pPr>
                      <a:r>
                        <a:t>274.00</a:t>
                      </a:r>
                    </a:p>
                  </a:txBody>
                  <a:tcPr>
                    <a:solidFill>
                      <a:srgbClr val="F6F3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22638"/>
                          </a:solidFill>
                          <a:latin typeface="Droid Sans Fallback"/>
                        </a:defRPr>
                      </a:pPr>
                      <a:r>
                        <a:t>524.00</a:t>
                      </a:r>
                    </a:p>
                  </a:txBody>
                  <a:tcPr>
                    <a:solidFill>
                      <a:srgbClr val="F6F3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22638"/>
                          </a:solidFill>
                          <a:latin typeface="Droid Sans Fallback"/>
                        </a:defRPr>
                      </a:pPr>
                      <a:r>
                        <a:t>524.00</a:t>
                      </a:r>
                    </a:p>
                  </a:txBody>
                  <a:tcPr>
                    <a:solidFill>
                      <a:srgbClr val="F6F3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22638"/>
                          </a:solidFill>
                          <a:latin typeface="Droid Sans Fallback"/>
                        </a:defRPr>
                      </a:pPr>
                      <a:r>
                        <a:t>524.00</a:t>
                      </a:r>
                    </a:p>
                  </a:txBody>
                  <a:tcPr>
                    <a:solidFill>
                      <a:srgbClr val="F6F3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22638"/>
                          </a:solidFill>
                          <a:latin typeface="Droid Sans Fallback"/>
                        </a:defRPr>
                      </a:pPr>
                      <a:r>
                        <a:t>337.23</a:t>
                      </a:r>
                    </a:p>
                  </a:txBody>
                  <a:tcPr>
                    <a:solidFill>
                      <a:srgbClr val="F6F3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22638"/>
                          </a:solidFill>
                          <a:latin typeface="Droid Sans Fallback"/>
                        </a:defRPr>
                      </a:pPr>
                      <a:r>
                        <a:t>330.00</a:t>
                      </a:r>
                    </a:p>
                  </a:txBody>
                  <a:tcPr>
                    <a:solidFill>
                      <a:srgbClr val="F6F3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22638"/>
                          </a:solidFill>
                          <a:latin typeface="Droid Sans Fallback"/>
                        </a:defRPr>
                      </a:pPr>
                      <a:r>
                        <a:t>324.00</a:t>
                      </a:r>
                    </a:p>
                  </a:txBody>
                  <a:tcPr>
                    <a:solidFill>
                      <a:srgbClr val="F6F3FA"/>
                    </a:solidFill>
                  </a:tcPr>
                </a:tc>
              </a:tr>
              <a:tr h="530351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22638"/>
                          </a:solidFill>
                          <a:latin typeface="Droid Sans Fallback"/>
                        </a:defRPr>
                      </a:pPr>
                      <a:r>
                        <a:t>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22638"/>
                          </a:solidFill>
                          <a:latin typeface="Droid Sans Fallback"/>
                        </a:defRPr>
                      </a:pPr>
                      <a:r>
                        <a:t>217.67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22638"/>
                          </a:solidFill>
                          <a:latin typeface="Droid Sans Fallback"/>
                        </a:defRPr>
                      </a:pPr>
                      <a:r>
                        <a:t>209.00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22638"/>
                          </a:solidFill>
                          <a:latin typeface="Droid Sans Fallback"/>
                        </a:defRPr>
                      </a:pPr>
                      <a:r>
                        <a:t>192.00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22638"/>
                          </a:solidFill>
                          <a:latin typeface="Droid Sans Fallback"/>
                        </a:defRPr>
                      </a:pPr>
                      <a:r>
                        <a:t>199.00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22638"/>
                          </a:solidFill>
                          <a:latin typeface="Droid Sans Fallback"/>
                        </a:defRPr>
                      </a:pPr>
                      <a:r>
                        <a:t>199.00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22638"/>
                          </a:solidFill>
                          <a:latin typeface="Droid Sans Fallback"/>
                        </a:defRPr>
                      </a:pPr>
                      <a:r>
                        <a:t>203.00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22638"/>
                          </a:solidFill>
                          <a:latin typeface="Droid Sans Fallback"/>
                        </a:defRPr>
                      </a:pPr>
                      <a:r>
                        <a:t>199.00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22638"/>
                          </a:solidFill>
                          <a:latin typeface="Droid Sans Fallback"/>
                        </a:defRPr>
                      </a:pPr>
                      <a:r>
                        <a:t>199.00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22638"/>
                          </a:solidFill>
                          <a:latin typeface="Droid Sans Fallback"/>
                        </a:defRPr>
                      </a:pPr>
                      <a:r>
                        <a:t>199.00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30356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22638"/>
                          </a:solidFill>
                          <a:latin typeface="Droid Sans Fallback"/>
                        </a:defRPr>
                      </a:pPr>
                      <a:r>
                        <a:t>100</a:t>
                      </a:r>
                    </a:p>
                  </a:txBody>
                  <a:tcPr>
                    <a:solidFill>
                      <a:srgbClr val="F6F3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22638"/>
                          </a:solidFill>
                          <a:latin typeface="Droid Sans Fallback"/>
                        </a:defRPr>
                      </a:pPr>
                      <a:r>
                        <a:t>196.30</a:t>
                      </a:r>
                    </a:p>
                  </a:txBody>
                  <a:tcPr>
                    <a:solidFill>
                      <a:srgbClr val="F6F3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22638"/>
                          </a:solidFill>
                          <a:latin typeface="Droid Sans Fallback"/>
                        </a:defRPr>
                      </a:pPr>
                      <a:r>
                        <a:t>199.00</a:t>
                      </a:r>
                    </a:p>
                  </a:txBody>
                  <a:tcPr>
                    <a:solidFill>
                      <a:srgbClr val="F6F3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22638"/>
                          </a:solidFill>
                          <a:latin typeface="Droid Sans Fallback"/>
                        </a:defRPr>
                      </a:pPr>
                      <a:r>
                        <a:t>192.00</a:t>
                      </a:r>
                    </a:p>
                  </a:txBody>
                  <a:tcPr>
                    <a:solidFill>
                      <a:srgbClr val="F6F3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22638"/>
                          </a:solidFill>
                          <a:latin typeface="Droid Sans Fallback"/>
                        </a:defRPr>
                      </a:pPr>
                      <a:r>
                        <a:t>199.00</a:t>
                      </a:r>
                    </a:p>
                  </a:txBody>
                  <a:tcPr>
                    <a:solidFill>
                      <a:srgbClr val="F6F3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22638"/>
                          </a:solidFill>
                          <a:latin typeface="Droid Sans Fallback"/>
                        </a:defRPr>
                      </a:pPr>
                      <a:r>
                        <a:t>199.00</a:t>
                      </a:r>
                    </a:p>
                  </a:txBody>
                  <a:tcPr>
                    <a:solidFill>
                      <a:srgbClr val="F6F3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22638"/>
                          </a:solidFill>
                          <a:latin typeface="Droid Sans Fallback"/>
                        </a:defRPr>
                      </a:pPr>
                      <a:r>
                        <a:t>199.00</a:t>
                      </a:r>
                    </a:p>
                  </a:txBody>
                  <a:tcPr>
                    <a:solidFill>
                      <a:srgbClr val="F6F3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22638"/>
                          </a:solidFill>
                          <a:latin typeface="Droid Sans Fallback"/>
                        </a:defRPr>
                      </a:pPr>
                      <a:r>
                        <a:t>199.00</a:t>
                      </a:r>
                    </a:p>
                  </a:txBody>
                  <a:tcPr>
                    <a:solidFill>
                      <a:srgbClr val="F6F3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22638"/>
                          </a:solidFill>
                          <a:latin typeface="Droid Sans Fallback"/>
                        </a:defRPr>
                      </a:pPr>
                      <a:r>
                        <a:t>199.00</a:t>
                      </a:r>
                    </a:p>
                  </a:txBody>
                  <a:tcPr>
                    <a:solidFill>
                      <a:srgbClr val="F6F3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22638"/>
                          </a:solidFill>
                          <a:latin typeface="Droid Sans Fallback"/>
                        </a:defRPr>
                      </a:pPr>
                      <a:r>
                        <a:t>199.00</a:t>
                      </a:r>
                    </a:p>
                  </a:txBody>
                  <a:tcPr>
                    <a:solidFill>
                      <a:srgbClr val="F6F3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31520" y="5715000"/>
            <a:ext cx="10789920" cy="45720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spcAft>
                <a:spcPts val="1000"/>
              </a:spcAft>
              <a:defRPr sz="1800" b="0">
                <a:solidFill>
                  <a:srgbClr val="637083"/>
                </a:solidFill>
                <a:latin typeface="Droid Sans Fallback"/>
              </a:defRPr>
            </a:pPr>
            <a:r>
              <a:t>四条课程轨迹参与了开发与参数选择，不能作为独立验证。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0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256032"/>
            <a:ext cx="11247120" cy="64008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spcAft>
                <a:spcPts val="1000"/>
              </a:spcAft>
              <a:defRPr sz="3000" b="1">
                <a:solidFill>
                  <a:srgbClr val="6536A0"/>
                </a:solidFill>
                <a:latin typeface="Droid Sans Fallback"/>
              </a:defRPr>
            </a:pPr>
            <a:r>
              <a:t>附录：lu 完整缺页计数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47104"/>
            <a:ext cx="9144000" cy="219456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spcAft>
                <a:spcPts val="1000"/>
              </a:spcAft>
              <a:defRPr sz="1000" b="0">
                <a:solidFill>
                  <a:srgbClr val="637083"/>
                </a:solidFill>
                <a:latin typeface="Droid Sans Fallback"/>
              </a:defRPr>
            </a:pPr>
            <a:r>
              <a:t>Adaptive V5  ·  Online demand paging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09960" y="6537960"/>
            <a:ext cx="548640" cy="219456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spcAft>
                <a:spcPts val="1000"/>
              </a:spcAft>
              <a:defRPr sz="1000" b="0">
                <a:solidFill>
                  <a:srgbClr val="637083"/>
                </a:solidFill>
                <a:latin typeface="Droid Sans Fallback"/>
              </a:defRPr>
            </a:pPr>
            <a:r>
              <a:t>13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645920"/>
          <a:ext cx="11064240" cy="318211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6424"/>
                <a:gridCol w="1106424"/>
                <a:gridCol w="1106424"/>
                <a:gridCol w="1106424"/>
                <a:gridCol w="1106424"/>
                <a:gridCol w="1106424"/>
                <a:gridCol w="1106424"/>
                <a:gridCol w="1106424"/>
                <a:gridCol w="1106424"/>
                <a:gridCol w="1106424"/>
              </a:tblGrid>
              <a:tr h="530351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Droid Sans Fallback"/>
                        </a:defRPr>
                      </a:pPr>
                      <a:r>
                        <a:t>Frames</a:t>
                      </a:r>
                    </a:p>
                  </a:txBody>
                  <a:tcPr>
                    <a:solidFill>
                      <a:srgbClr val="6536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Droid Sans Fallback"/>
                        </a:defRPr>
                      </a:pPr>
                      <a:r>
                        <a:t>Random</a:t>
                      </a:r>
                    </a:p>
                  </a:txBody>
                  <a:tcPr>
                    <a:solidFill>
                      <a:srgbClr val="6536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Droid Sans Fallback"/>
                        </a:defRPr>
                      </a:pPr>
                      <a:r>
                        <a:t>FIFO</a:t>
                      </a:r>
                    </a:p>
                  </a:txBody>
                  <a:tcPr>
                    <a:solidFill>
                      <a:srgbClr val="6536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Droid Sans Fallback"/>
                        </a:defRPr>
                      </a:pPr>
                      <a:r>
                        <a:t>OPT</a:t>
                      </a:r>
                    </a:p>
                  </a:txBody>
                  <a:tcPr>
                    <a:solidFill>
                      <a:srgbClr val="6536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Droid Sans Fallback"/>
                        </a:defRPr>
                      </a:pPr>
                      <a:r>
                        <a:t>LFU</a:t>
                      </a:r>
                    </a:p>
                  </a:txBody>
                  <a:tcPr>
                    <a:solidFill>
                      <a:srgbClr val="6536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Droid Sans Fallback"/>
                        </a:defRPr>
                      </a:pPr>
                      <a:r>
                        <a:t>LRU</a:t>
                      </a:r>
                    </a:p>
                  </a:txBody>
                  <a:tcPr>
                    <a:solidFill>
                      <a:srgbClr val="6536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Droid Sans Fallback"/>
                        </a:defRPr>
                      </a:pPr>
                      <a:r>
                        <a:t>Clock</a:t>
                      </a:r>
                    </a:p>
                  </a:txBody>
                  <a:tcPr>
                    <a:solidFill>
                      <a:srgbClr val="6536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Droid Sans Fallback"/>
                        </a:defRPr>
                      </a:pPr>
                      <a:r>
                        <a:t>V3</a:t>
                      </a:r>
                    </a:p>
                  </a:txBody>
                  <a:tcPr>
                    <a:solidFill>
                      <a:srgbClr val="6536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Droid Sans Fallback"/>
                        </a:defRPr>
                      </a:pPr>
                      <a:r>
                        <a:t>V4</a:t>
                      </a:r>
                    </a:p>
                  </a:txBody>
                  <a:tcPr>
                    <a:solidFill>
                      <a:srgbClr val="6536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Droid Sans Fallback"/>
                        </a:defRPr>
                      </a:pPr>
                      <a:r>
                        <a:t>V5</a:t>
                      </a:r>
                    </a:p>
                  </a:txBody>
                  <a:tcPr>
                    <a:solidFill>
                      <a:srgbClr val="6536A0"/>
                    </a:solidFill>
                  </a:tcPr>
                </a:tc>
              </a:tr>
              <a:tr h="530351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22638"/>
                          </a:solidFill>
                          <a:latin typeface="Droid Sans Fallback"/>
                        </a:defRPr>
                      </a:pPr>
                      <a:r>
                        <a:t>5</a:t>
                      </a:r>
                    </a:p>
                  </a:txBody>
                  <a:tcPr>
                    <a:solidFill>
                      <a:srgbClr val="F6F3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22638"/>
                          </a:solidFill>
                          <a:latin typeface="Droid Sans Fallback"/>
                        </a:defRPr>
                      </a:pPr>
                      <a:r>
                        <a:t>41,708.40</a:t>
                      </a:r>
                    </a:p>
                  </a:txBody>
                  <a:tcPr>
                    <a:solidFill>
                      <a:srgbClr val="F6F3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22638"/>
                          </a:solidFill>
                          <a:latin typeface="Droid Sans Fallback"/>
                        </a:defRPr>
                      </a:pPr>
                      <a:r>
                        <a:t>41,832.00</a:t>
                      </a:r>
                    </a:p>
                  </a:txBody>
                  <a:tcPr>
                    <a:solidFill>
                      <a:srgbClr val="F6F3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22638"/>
                          </a:solidFill>
                          <a:latin typeface="Droid Sans Fallback"/>
                        </a:defRPr>
                      </a:pPr>
                      <a:r>
                        <a:t>34,076.00</a:t>
                      </a:r>
                    </a:p>
                  </a:txBody>
                  <a:tcPr>
                    <a:solidFill>
                      <a:srgbClr val="F6F3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22638"/>
                          </a:solidFill>
                          <a:latin typeface="Droid Sans Fallback"/>
                        </a:defRPr>
                      </a:pPr>
                      <a:r>
                        <a:t>41,832.00</a:t>
                      </a:r>
                    </a:p>
                  </a:txBody>
                  <a:tcPr>
                    <a:solidFill>
                      <a:srgbClr val="F6F3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22638"/>
                          </a:solidFill>
                          <a:latin typeface="Droid Sans Fallback"/>
                        </a:defRPr>
                      </a:pPr>
                      <a:r>
                        <a:t>41,832.00</a:t>
                      </a:r>
                    </a:p>
                  </a:txBody>
                  <a:tcPr>
                    <a:solidFill>
                      <a:srgbClr val="F6F3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22638"/>
                          </a:solidFill>
                          <a:latin typeface="Droid Sans Fallback"/>
                        </a:defRPr>
                      </a:pPr>
                      <a:r>
                        <a:t>41,832.00</a:t>
                      </a:r>
                    </a:p>
                  </a:txBody>
                  <a:tcPr>
                    <a:solidFill>
                      <a:srgbClr val="F6F3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22638"/>
                          </a:solidFill>
                          <a:latin typeface="Droid Sans Fallback"/>
                        </a:defRPr>
                      </a:pPr>
                      <a:r>
                        <a:t>34,422.93</a:t>
                      </a:r>
                    </a:p>
                  </a:txBody>
                  <a:tcPr>
                    <a:solidFill>
                      <a:srgbClr val="F6F3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22638"/>
                          </a:solidFill>
                          <a:latin typeface="Droid Sans Fallback"/>
                        </a:defRPr>
                      </a:pPr>
                      <a:r>
                        <a:t>34,418.00</a:t>
                      </a:r>
                    </a:p>
                  </a:txBody>
                  <a:tcPr>
                    <a:solidFill>
                      <a:srgbClr val="F6F3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22638"/>
                          </a:solidFill>
                          <a:latin typeface="Droid Sans Fallback"/>
                        </a:defRPr>
                      </a:pPr>
                      <a:r>
                        <a:t>34,426.00</a:t>
                      </a:r>
                    </a:p>
                  </a:txBody>
                  <a:tcPr>
                    <a:solidFill>
                      <a:srgbClr val="F6F3FA"/>
                    </a:solidFill>
                  </a:tcPr>
                </a:tc>
              </a:tr>
              <a:tr h="530351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22638"/>
                          </a:solidFill>
                          <a:latin typeface="Droid Sans Fallback"/>
                        </a:defRPr>
                      </a:pPr>
                      <a: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22638"/>
                          </a:solidFill>
                          <a:latin typeface="Droid Sans Fallback"/>
                        </a:defRPr>
                      </a:pPr>
                      <a:r>
                        <a:t>40,317.50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22638"/>
                          </a:solidFill>
                          <a:latin typeface="Droid Sans Fallback"/>
                        </a:defRPr>
                      </a:pPr>
                      <a:r>
                        <a:t>41,832.00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22638"/>
                          </a:solidFill>
                          <a:latin typeface="Droid Sans Fallback"/>
                        </a:defRPr>
                      </a:pPr>
                      <a:r>
                        <a:t>28,722.00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22638"/>
                          </a:solidFill>
                          <a:latin typeface="Droid Sans Fallback"/>
                        </a:defRPr>
                      </a:pPr>
                      <a:r>
                        <a:t>41,832.00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22638"/>
                          </a:solidFill>
                          <a:latin typeface="Droid Sans Fallback"/>
                        </a:defRPr>
                      </a:pPr>
                      <a:r>
                        <a:t>41,832.00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22638"/>
                          </a:solidFill>
                          <a:latin typeface="Droid Sans Fallback"/>
                        </a:defRPr>
                      </a:pPr>
                      <a:r>
                        <a:t>41,832.00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22638"/>
                          </a:solidFill>
                          <a:latin typeface="Droid Sans Fallback"/>
                        </a:defRPr>
                      </a:pPr>
                      <a:r>
                        <a:t>29,702.90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22638"/>
                          </a:solidFill>
                          <a:latin typeface="Droid Sans Fallback"/>
                        </a:defRPr>
                      </a:pPr>
                      <a:r>
                        <a:t>29,698.00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22638"/>
                          </a:solidFill>
                          <a:latin typeface="Droid Sans Fallback"/>
                        </a:defRPr>
                      </a:pPr>
                      <a:r>
                        <a:t>29,594.00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30351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22638"/>
                          </a:solidFill>
                          <a:latin typeface="Droid Sans Fallback"/>
                        </a:defRPr>
                      </a:pPr>
                      <a:r>
                        <a:t>20</a:t>
                      </a:r>
                    </a:p>
                  </a:txBody>
                  <a:tcPr>
                    <a:solidFill>
                      <a:srgbClr val="F6F3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22638"/>
                          </a:solidFill>
                          <a:latin typeface="Droid Sans Fallback"/>
                        </a:defRPr>
                      </a:pPr>
                      <a:r>
                        <a:t>36,796.50</a:t>
                      </a:r>
                    </a:p>
                  </a:txBody>
                  <a:tcPr>
                    <a:solidFill>
                      <a:srgbClr val="F6F3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22638"/>
                          </a:solidFill>
                          <a:latin typeface="Droid Sans Fallback"/>
                        </a:defRPr>
                      </a:pPr>
                      <a:r>
                        <a:t>41,832.00</a:t>
                      </a:r>
                    </a:p>
                  </a:txBody>
                  <a:tcPr>
                    <a:solidFill>
                      <a:srgbClr val="F6F3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22638"/>
                          </a:solidFill>
                          <a:latin typeface="Droid Sans Fallback"/>
                        </a:defRPr>
                      </a:pPr>
                      <a:r>
                        <a:t>26,922.00</a:t>
                      </a:r>
                    </a:p>
                  </a:txBody>
                  <a:tcPr>
                    <a:solidFill>
                      <a:srgbClr val="F6F3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22638"/>
                          </a:solidFill>
                          <a:latin typeface="Droid Sans Fallback"/>
                        </a:defRPr>
                      </a:pPr>
                      <a:r>
                        <a:t>41,832.00</a:t>
                      </a:r>
                    </a:p>
                  </a:txBody>
                  <a:tcPr>
                    <a:solidFill>
                      <a:srgbClr val="F6F3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22638"/>
                          </a:solidFill>
                          <a:latin typeface="Droid Sans Fallback"/>
                        </a:defRPr>
                      </a:pPr>
                      <a:r>
                        <a:t>41,832.00</a:t>
                      </a:r>
                    </a:p>
                  </a:txBody>
                  <a:tcPr>
                    <a:solidFill>
                      <a:srgbClr val="F6F3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22638"/>
                          </a:solidFill>
                          <a:latin typeface="Droid Sans Fallback"/>
                        </a:defRPr>
                      </a:pPr>
                      <a:r>
                        <a:t>41,832.00</a:t>
                      </a:r>
                    </a:p>
                  </a:txBody>
                  <a:tcPr>
                    <a:solidFill>
                      <a:srgbClr val="F6F3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22638"/>
                          </a:solidFill>
                          <a:latin typeface="Droid Sans Fallback"/>
                        </a:defRPr>
                      </a:pPr>
                      <a:r>
                        <a:t>28,222.87</a:t>
                      </a:r>
                    </a:p>
                  </a:txBody>
                  <a:tcPr>
                    <a:solidFill>
                      <a:srgbClr val="F6F3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22638"/>
                          </a:solidFill>
                          <a:latin typeface="Droid Sans Fallback"/>
                        </a:defRPr>
                      </a:pPr>
                      <a:r>
                        <a:t>28,208.00</a:t>
                      </a:r>
                    </a:p>
                  </a:txBody>
                  <a:tcPr>
                    <a:solidFill>
                      <a:srgbClr val="F6F3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22638"/>
                          </a:solidFill>
                          <a:latin typeface="Droid Sans Fallback"/>
                        </a:defRPr>
                      </a:pPr>
                      <a:r>
                        <a:t>27,672.00</a:t>
                      </a:r>
                    </a:p>
                  </a:txBody>
                  <a:tcPr>
                    <a:solidFill>
                      <a:srgbClr val="F6F3FA"/>
                    </a:solidFill>
                  </a:tcPr>
                </a:tc>
              </a:tr>
              <a:tr h="530351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22638"/>
                          </a:solidFill>
                          <a:latin typeface="Droid Sans Fallback"/>
                        </a:defRPr>
                      </a:pPr>
                      <a:r>
                        <a:t>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22638"/>
                          </a:solidFill>
                          <a:latin typeface="Droid Sans Fallback"/>
                        </a:defRPr>
                      </a:pPr>
                      <a:r>
                        <a:t>30,923.23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22638"/>
                          </a:solidFill>
                          <a:latin typeface="Droid Sans Fallback"/>
                        </a:defRPr>
                      </a:pPr>
                      <a:r>
                        <a:t>32,073.00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22638"/>
                          </a:solidFill>
                          <a:latin typeface="Droid Sans Fallback"/>
                        </a:defRPr>
                      </a:pPr>
                      <a:r>
                        <a:t>21,880.00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22638"/>
                          </a:solidFill>
                          <a:latin typeface="Droid Sans Fallback"/>
                        </a:defRPr>
                      </a:pPr>
                      <a:r>
                        <a:t>34,653.00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22638"/>
                          </a:solidFill>
                          <a:latin typeface="Droid Sans Fallback"/>
                        </a:defRPr>
                      </a:pPr>
                      <a:r>
                        <a:t>28,475.00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22638"/>
                          </a:solidFill>
                          <a:latin typeface="Droid Sans Fallback"/>
                        </a:defRPr>
                      </a:pPr>
                      <a:r>
                        <a:t>28,736.00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22638"/>
                          </a:solidFill>
                          <a:latin typeface="Droid Sans Fallback"/>
                        </a:defRPr>
                      </a:pPr>
                      <a:r>
                        <a:t>23,324.00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22638"/>
                          </a:solidFill>
                          <a:latin typeface="Droid Sans Fallback"/>
                        </a:defRPr>
                      </a:pPr>
                      <a:r>
                        <a:t>23,123.00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22638"/>
                          </a:solidFill>
                          <a:latin typeface="Droid Sans Fallback"/>
                        </a:defRPr>
                      </a:pPr>
                      <a:r>
                        <a:t>22,930.00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30356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22638"/>
                          </a:solidFill>
                          <a:latin typeface="Droid Sans Fallback"/>
                        </a:defRPr>
                      </a:pPr>
                      <a:r>
                        <a:t>100</a:t>
                      </a:r>
                    </a:p>
                  </a:txBody>
                  <a:tcPr>
                    <a:solidFill>
                      <a:srgbClr val="F6F3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22638"/>
                          </a:solidFill>
                          <a:latin typeface="Droid Sans Fallback"/>
                        </a:defRPr>
                      </a:pPr>
                      <a:r>
                        <a:t>23,802.27</a:t>
                      </a:r>
                    </a:p>
                  </a:txBody>
                  <a:tcPr>
                    <a:solidFill>
                      <a:srgbClr val="F6F3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22638"/>
                          </a:solidFill>
                          <a:latin typeface="Droid Sans Fallback"/>
                        </a:defRPr>
                      </a:pPr>
                      <a:r>
                        <a:t>27,864.00</a:t>
                      </a:r>
                    </a:p>
                  </a:txBody>
                  <a:tcPr>
                    <a:solidFill>
                      <a:srgbClr val="F6F3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22638"/>
                          </a:solidFill>
                          <a:latin typeface="Droid Sans Fallback"/>
                        </a:defRPr>
                      </a:pPr>
                      <a:r>
                        <a:t>14,869.00</a:t>
                      </a:r>
                    </a:p>
                  </a:txBody>
                  <a:tcPr>
                    <a:solidFill>
                      <a:srgbClr val="F6F3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22638"/>
                          </a:solidFill>
                          <a:latin typeface="Droid Sans Fallback"/>
                        </a:defRPr>
                      </a:pPr>
                      <a:r>
                        <a:t>32,969.00</a:t>
                      </a:r>
                    </a:p>
                  </a:txBody>
                  <a:tcPr>
                    <a:solidFill>
                      <a:srgbClr val="F6F3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22638"/>
                          </a:solidFill>
                          <a:latin typeface="Droid Sans Fallback"/>
                        </a:defRPr>
                      </a:pPr>
                      <a:r>
                        <a:t>26,497.00</a:t>
                      </a:r>
                    </a:p>
                  </a:txBody>
                  <a:tcPr>
                    <a:solidFill>
                      <a:srgbClr val="F6F3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22638"/>
                          </a:solidFill>
                          <a:latin typeface="Droid Sans Fallback"/>
                        </a:defRPr>
                      </a:pPr>
                      <a:r>
                        <a:t>26,483.00</a:t>
                      </a:r>
                    </a:p>
                  </a:txBody>
                  <a:tcPr>
                    <a:solidFill>
                      <a:srgbClr val="F6F3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22638"/>
                          </a:solidFill>
                          <a:latin typeface="Droid Sans Fallback"/>
                        </a:defRPr>
                      </a:pPr>
                      <a:r>
                        <a:t>17,452.00</a:t>
                      </a:r>
                    </a:p>
                  </a:txBody>
                  <a:tcPr>
                    <a:solidFill>
                      <a:srgbClr val="F6F3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22638"/>
                          </a:solidFill>
                          <a:latin typeface="Droid Sans Fallback"/>
                        </a:defRPr>
                      </a:pPr>
                      <a:r>
                        <a:t>17,452.00</a:t>
                      </a:r>
                    </a:p>
                  </a:txBody>
                  <a:tcPr>
                    <a:solidFill>
                      <a:srgbClr val="F6F3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22638"/>
                          </a:solidFill>
                          <a:latin typeface="Droid Sans Fallback"/>
                        </a:defRPr>
                      </a:pPr>
                      <a:r>
                        <a:t>15,954.00</a:t>
                      </a:r>
                    </a:p>
                  </a:txBody>
                  <a:tcPr>
                    <a:solidFill>
                      <a:srgbClr val="F6F3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31520" y="5715000"/>
            <a:ext cx="10789920" cy="45720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spcAft>
                <a:spcPts val="1000"/>
              </a:spcAft>
              <a:defRPr sz="1800" b="0">
                <a:solidFill>
                  <a:srgbClr val="637083"/>
                </a:solidFill>
                <a:latin typeface="Droid Sans Fallback"/>
              </a:defRPr>
            </a:pPr>
            <a:r>
              <a:t>四条课程轨迹参与了开发与参数选择，不能作为独立验证。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0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256032"/>
            <a:ext cx="11247120" cy="64008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spcAft>
                <a:spcPts val="1000"/>
              </a:spcAft>
              <a:defRPr sz="3000" b="1">
                <a:solidFill>
                  <a:srgbClr val="6536A0"/>
                </a:solidFill>
                <a:latin typeface="Droid Sans Fallback"/>
              </a:defRPr>
            </a:pPr>
            <a:r>
              <a:t>附录：mm16 完整缺页计数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47104"/>
            <a:ext cx="9144000" cy="219456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spcAft>
                <a:spcPts val="1000"/>
              </a:spcAft>
              <a:defRPr sz="1000" b="0">
                <a:solidFill>
                  <a:srgbClr val="637083"/>
                </a:solidFill>
                <a:latin typeface="Droid Sans Fallback"/>
              </a:defRPr>
            </a:pPr>
            <a:r>
              <a:t>Adaptive V5  ·  Online demand paging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09960" y="6537960"/>
            <a:ext cx="548640" cy="219456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spcAft>
                <a:spcPts val="1000"/>
              </a:spcAft>
              <a:defRPr sz="1000" b="0">
                <a:solidFill>
                  <a:srgbClr val="637083"/>
                </a:solidFill>
                <a:latin typeface="Droid Sans Fallback"/>
              </a:defRPr>
            </a:pPr>
            <a:r>
              <a:t>14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645920"/>
          <a:ext cx="11064240" cy="318211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6424"/>
                <a:gridCol w="1106424"/>
                <a:gridCol w="1106424"/>
                <a:gridCol w="1106424"/>
                <a:gridCol w="1106424"/>
                <a:gridCol w="1106424"/>
                <a:gridCol w="1106424"/>
                <a:gridCol w="1106424"/>
                <a:gridCol w="1106424"/>
                <a:gridCol w="1106424"/>
              </a:tblGrid>
              <a:tr h="530351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Droid Sans Fallback"/>
                        </a:defRPr>
                      </a:pPr>
                      <a:r>
                        <a:t>Frames</a:t>
                      </a:r>
                    </a:p>
                  </a:txBody>
                  <a:tcPr>
                    <a:solidFill>
                      <a:srgbClr val="6536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Droid Sans Fallback"/>
                        </a:defRPr>
                      </a:pPr>
                      <a:r>
                        <a:t>Random</a:t>
                      </a:r>
                    </a:p>
                  </a:txBody>
                  <a:tcPr>
                    <a:solidFill>
                      <a:srgbClr val="6536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Droid Sans Fallback"/>
                        </a:defRPr>
                      </a:pPr>
                      <a:r>
                        <a:t>FIFO</a:t>
                      </a:r>
                    </a:p>
                  </a:txBody>
                  <a:tcPr>
                    <a:solidFill>
                      <a:srgbClr val="6536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Droid Sans Fallback"/>
                        </a:defRPr>
                      </a:pPr>
                      <a:r>
                        <a:t>OPT</a:t>
                      </a:r>
                    </a:p>
                  </a:txBody>
                  <a:tcPr>
                    <a:solidFill>
                      <a:srgbClr val="6536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Droid Sans Fallback"/>
                        </a:defRPr>
                      </a:pPr>
                      <a:r>
                        <a:t>LFU</a:t>
                      </a:r>
                    </a:p>
                  </a:txBody>
                  <a:tcPr>
                    <a:solidFill>
                      <a:srgbClr val="6536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Droid Sans Fallback"/>
                        </a:defRPr>
                      </a:pPr>
                      <a:r>
                        <a:t>LRU</a:t>
                      </a:r>
                    </a:p>
                  </a:txBody>
                  <a:tcPr>
                    <a:solidFill>
                      <a:srgbClr val="6536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Droid Sans Fallback"/>
                        </a:defRPr>
                      </a:pPr>
                      <a:r>
                        <a:t>Clock</a:t>
                      </a:r>
                    </a:p>
                  </a:txBody>
                  <a:tcPr>
                    <a:solidFill>
                      <a:srgbClr val="6536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Droid Sans Fallback"/>
                        </a:defRPr>
                      </a:pPr>
                      <a:r>
                        <a:t>V3</a:t>
                      </a:r>
                    </a:p>
                  </a:txBody>
                  <a:tcPr>
                    <a:solidFill>
                      <a:srgbClr val="6536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Droid Sans Fallback"/>
                        </a:defRPr>
                      </a:pPr>
                      <a:r>
                        <a:t>V4</a:t>
                      </a:r>
                    </a:p>
                  </a:txBody>
                  <a:tcPr>
                    <a:solidFill>
                      <a:srgbClr val="6536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Droid Sans Fallback"/>
                        </a:defRPr>
                      </a:pPr>
                      <a:r>
                        <a:t>V5</a:t>
                      </a:r>
                    </a:p>
                  </a:txBody>
                  <a:tcPr>
                    <a:solidFill>
                      <a:srgbClr val="6536A0"/>
                    </a:solidFill>
                  </a:tcPr>
                </a:tc>
              </a:tr>
              <a:tr h="530351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22638"/>
                          </a:solidFill>
                          <a:latin typeface="Droid Sans Fallback"/>
                        </a:defRPr>
                      </a:pPr>
                      <a:r>
                        <a:t>5</a:t>
                      </a:r>
                    </a:p>
                  </a:txBody>
                  <a:tcPr>
                    <a:solidFill>
                      <a:srgbClr val="F6F3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22638"/>
                          </a:solidFill>
                          <a:latin typeface="Droid Sans Fallback"/>
                        </a:defRPr>
                      </a:pPr>
                      <a:r>
                        <a:t>9,046.63</a:t>
                      </a:r>
                    </a:p>
                  </a:txBody>
                  <a:tcPr>
                    <a:solidFill>
                      <a:srgbClr val="F6F3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22638"/>
                          </a:solidFill>
                          <a:latin typeface="Droid Sans Fallback"/>
                        </a:defRPr>
                      </a:pPr>
                      <a:r>
                        <a:t>9,075.00</a:t>
                      </a:r>
                    </a:p>
                  </a:txBody>
                  <a:tcPr>
                    <a:solidFill>
                      <a:srgbClr val="F6F3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22638"/>
                          </a:solidFill>
                          <a:latin typeface="Droid Sans Fallback"/>
                        </a:defRPr>
                      </a:pPr>
                      <a:r>
                        <a:t>7,407.00</a:t>
                      </a:r>
                    </a:p>
                  </a:txBody>
                  <a:tcPr>
                    <a:solidFill>
                      <a:srgbClr val="F6F3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22638"/>
                          </a:solidFill>
                          <a:latin typeface="Droid Sans Fallback"/>
                        </a:defRPr>
                      </a:pPr>
                      <a:r>
                        <a:t>9,075.00</a:t>
                      </a:r>
                    </a:p>
                  </a:txBody>
                  <a:tcPr>
                    <a:solidFill>
                      <a:srgbClr val="F6F3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22638"/>
                          </a:solidFill>
                          <a:latin typeface="Droid Sans Fallback"/>
                        </a:defRPr>
                      </a:pPr>
                      <a:r>
                        <a:t>9,075.00</a:t>
                      </a:r>
                    </a:p>
                  </a:txBody>
                  <a:tcPr>
                    <a:solidFill>
                      <a:srgbClr val="F6F3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22638"/>
                          </a:solidFill>
                          <a:latin typeface="Droid Sans Fallback"/>
                        </a:defRPr>
                      </a:pPr>
                      <a:r>
                        <a:t>9,075.00</a:t>
                      </a:r>
                    </a:p>
                  </a:txBody>
                  <a:tcPr>
                    <a:solidFill>
                      <a:srgbClr val="F6F3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22638"/>
                          </a:solidFill>
                          <a:latin typeface="Droid Sans Fallback"/>
                        </a:defRPr>
                      </a:pPr>
                      <a:r>
                        <a:t>7,552.77</a:t>
                      </a:r>
                    </a:p>
                  </a:txBody>
                  <a:tcPr>
                    <a:solidFill>
                      <a:srgbClr val="F6F3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22638"/>
                          </a:solidFill>
                          <a:latin typeface="Droid Sans Fallback"/>
                        </a:defRPr>
                      </a:pPr>
                      <a:r>
                        <a:t>7,548.00</a:t>
                      </a:r>
                    </a:p>
                  </a:txBody>
                  <a:tcPr>
                    <a:solidFill>
                      <a:srgbClr val="F6F3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22638"/>
                          </a:solidFill>
                          <a:latin typeface="Droid Sans Fallback"/>
                        </a:defRPr>
                      </a:pPr>
                      <a:r>
                        <a:t>7,548.00</a:t>
                      </a:r>
                    </a:p>
                  </a:txBody>
                  <a:tcPr>
                    <a:solidFill>
                      <a:srgbClr val="F6F3FA"/>
                    </a:solidFill>
                  </a:tcPr>
                </a:tc>
              </a:tr>
              <a:tr h="530351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22638"/>
                          </a:solidFill>
                          <a:latin typeface="Droid Sans Fallback"/>
                        </a:defRPr>
                      </a:pPr>
                      <a: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22638"/>
                          </a:solidFill>
                          <a:latin typeface="Droid Sans Fallback"/>
                        </a:defRPr>
                      </a:pPr>
                      <a:r>
                        <a:t>8,625.40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22638"/>
                          </a:solidFill>
                          <a:latin typeface="Droid Sans Fallback"/>
                        </a:defRPr>
                      </a:pPr>
                      <a:r>
                        <a:t>9,075.00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22638"/>
                          </a:solidFill>
                          <a:latin typeface="Droid Sans Fallback"/>
                        </a:defRPr>
                      </a:pPr>
                      <a:r>
                        <a:t>5,990.00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22638"/>
                          </a:solidFill>
                          <a:latin typeface="Droid Sans Fallback"/>
                        </a:defRPr>
                      </a:pPr>
                      <a:r>
                        <a:t>9,075.00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22638"/>
                          </a:solidFill>
                          <a:latin typeface="Droid Sans Fallback"/>
                        </a:defRPr>
                      </a:pPr>
                      <a:r>
                        <a:t>9,075.00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22638"/>
                          </a:solidFill>
                          <a:latin typeface="Droid Sans Fallback"/>
                        </a:defRPr>
                      </a:pPr>
                      <a:r>
                        <a:t>9,075.00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22638"/>
                          </a:solidFill>
                          <a:latin typeface="Droid Sans Fallback"/>
                        </a:defRPr>
                      </a:pPr>
                      <a:r>
                        <a:t>6,234.77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22638"/>
                          </a:solidFill>
                          <a:latin typeface="Droid Sans Fallback"/>
                        </a:defRPr>
                      </a:pPr>
                      <a:r>
                        <a:t>6,227.00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22638"/>
                          </a:solidFill>
                          <a:latin typeface="Droid Sans Fallback"/>
                        </a:defRPr>
                      </a:pPr>
                      <a:r>
                        <a:t>6,136.00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30351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22638"/>
                          </a:solidFill>
                          <a:latin typeface="Droid Sans Fallback"/>
                        </a:defRPr>
                      </a:pPr>
                      <a:r>
                        <a:t>20</a:t>
                      </a:r>
                    </a:p>
                  </a:txBody>
                  <a:tcPr>
                    <a:solidFill>
                      <a:srgbClr val="F6F3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22638"/>
                          </a:solidFill>
                          <a:latin typeface="Droid Sans Fallback"/>
                        </a:defRPr>
                      </a:pPr>
                      <a:r>
                        <a:t>6,922.07</a:t>
                      </a:r>
                    </a:p>
                  </a:txBody>
                  <a:tcPr>
                    <a:solidFill>
                      <a:srgbClr val="F6F3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22638"/>
                          </a:solidFill>
                          <a:latin typeface="Droid Sans Fallback"/>
                        </a:defRPr>
                      </a:pPr>
                      <a:r>
                        <a:t>9,075.00</a:t>
                      </a:r>
                    </a:p>
                  </a:txBody>
                  <a:tcPr>
                    <a:solidFill>
                      <a:srgbClr val="F6F3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22638"/>
                          </a:solidFill>
                          <a:latin typeface="Droid Sans Fallback"/>
                        </a:defRPr>
                      </a:pPr>
                      <a:r>
                        <a:t>3,426.00</a:t>
                      </a:r>
                    </a:p>
                  </a:txBody>
                  <a:tcPr>
                    <a:solidFill>
                      <a:srgbClr val="F6F3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22638"/>
                          </a:solidFill>
                          <a:latin typeface="Droid Sans Fallback"/>
                        </a:defRPr>
                      </a:pPr>
                      <a:r>
                        <a:t>9,075.00</a:t>
                      </a:r>
                    </a:p>
                  </a:txBody>
                  <a:tcPr>
                    <a:solidFill>
                      <a:srgbClr val="F6F3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22638"/>
                          </a:solidFill>
                          <a:latin typeface="Droid Sans Fallback"/>
                        </a:defRPr>
                      </a:pPr>
                      <a:r>
                        <a:t>9,075.00</a:t>
                      </a:r>
                    </a:p>
                  </a:txBody>
                  <a:tcPr>
                    <a:solidFill>
                      <a:srgbClr val="F6F3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22638"/>
                          </a:solidFill>
                          <a:latin typeface="Droid Sans Fallback"/>
                        </a:defRPr>
                      </a:pPr>
                      <a:r>
                        <a:t>9,075.00</a:t>
                      </a:r>
                    </a:p>
                  </a:txBody>
                  <a:tcPr>
                    <a:solidFill>
                      <a:srgbClr val="F6F3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22638"/>
                          </a:solidFill>
                          <a:latin typeface="Droid Sans Fallback"/>
                        </a:defRPr>
                      </a:pPr>
                      <a:r>
                        <a:t>3,679.40</a:t>
                      </a:r>
                    </a:p>
                  </a:txBody>
                  <a:tcPr>
                    <a:solidFill>
                      <a:srgbClr val="F6F3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22638"/>
                          </a:solidFill>
                          <a:latin typeface="Droid Sans Fallback"/>
                        </a:defRPr>
                      </a:pPr>
                      <a:r>
                        <a:t>3,597.00</a:t>
                      </a:r>
                    </a:p>
                  </a:txBody>
                  <a:tcPr>
                    <a:solidFill>
                      <a:srgbClr val="F6F3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22638"/>
                          </a:solidFill>
                          <a:latin typeface="Droid Sans Fallback"/>
                        </a:defRPr>
                      </a:pPr>
                      <a:r>
                        <a:t>3,612.00</a:t>
                      </a:r>
                    </a:p>
                  </a:txBody>
                  <a:tcPr>
                    <a:solidFill>
                      <a:srgbClr val="F6F3FA"/>
                    </a:solidFill>
                  </a:tcPr>
                </a:tc>
              </a:tr>
              <a:tr h="530351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22638"/>
                          </a:solidFill>
                          <a:latin typeface="Droid Sans Fallback"/>
                        </a:defRPr>
                      </a:pPr>
                      <a:r>
                        <a:t>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22638"/>
                          </a:solidFill>
                          <a:latin typeface="Droid Sans Fallback"/>
                        </a:defRPr>
                      </a:pPr>
                      <a:r>
                        <a:t>4,292.07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22638"/>
                          </a:solidFill>
                          <a:latin typeface="Droid Sans Fallback"/>
                        </a:defRPr>
                      </a:pPr>
                      <a:r>
                        <a:t>4,180.00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22638"/>
                          </a:solidFill>
                          <a:latin typeface="Droid Sans Fallback"/>
                        </a:defRPr>
                      </a:pPr>
                      <a:r>
                        <a:t>2,461.00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22638"/>
                          </a:solidFill>
                          <a:latin typeface="Droid Sans Fallback"/>
                        </a:defRPr>
                      </a:pPr>
                      <a:r>
                        <a:t>6,642.00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22638"/>
                          </a:solidFill>
                          <a:latin typeface="Droid Sans Fallback"/>
                        </a:defRPr>
                      </a:pPr>
                      <a:r>
                        <a:t>2,964.00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22638"/>
                          </a:solidFill>
                          <a:latin typeface="Droid Sans Fallback"/>
                        </a:defRPr>
                      </a:pPr>
                      <a:r>
                        <a:t>3,023.00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22638"/>
                          </a:solidFill>
                          <a:latin typeface="Droid Sans Fallback"/>
                        </a:defRPr>
                      </a:pPr>
                      <a:r>
                        <a:t>2,964.00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22638"/>
                          </a:solidFill>
                          <a:latin typeface="Droid Sans Fallback"/>
                        </a:defRPr>
                      </a:pPr>
                      <a:r>
                        <a:t>2,964.00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22638"/>
                          </a:solidFill>
                          <a:latin typeface="Droid Sans Fallback"/>
                        </a:defRPr>
                      </a:pPr>
                      <a:r>
                        <a:t>2,715.00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30356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22638"/>
                          </a:solidFill>
                          <a:latin typeface="Droid Sans Fallback"/>
                        </a:defRPr>
                      </a:pPr>
                      <a:r>
                        <a:t>100</a:t>
                      </a:r>
                    </a:p>
                  </a:txBody>
                  <a:tcPr>
                    <a:solidFill>
                      <a:srgbClr val="F6F3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22638"/>
                          </a:solidFill>
                          <a:latin typeface="Droid Sans Fallback"/>
                        </a:defRPr>
                      </a:pPr>
                      <a:r>
                        <a:t>2,963.97</a:t>
                      </a:r>
                    </a:p>
                  </a:txBody>
                  <a:tcPr>
                    <a:solidFill>
                      <a:srgbClr val="F6F3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22638"/>
                          </a:solidFill>
                          <a:latin typeface="Droid Sans Fallback"/>
                        </a:defRPr>
                      </a:pPr>
                      <a:r>
                        <a:t>3,487.00</a:t>
                      </a:r>
                    </a:p>
                  </a:txBody>
                  <a:tcPr>
                    <a:solidFill>
                      <a:srgbClr val="F6F3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22638"/>
                          </a:solidFill>
                          <a:latin typeface="Droid Sans Fallback"/>
                        </a:defRPr>
                      </a:pPr>
                      <a:r>
                        <a:t>1,657.00</a:t>
                      </a:r>
                    </a:p>
                  </a:txBody>
                  <a:tcPr>
                    <a:solidFill>
                      <a:srgbClr val="F6F3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22638"/>
                          </a:solidFill>
                          <a:latin typeface="Droid Sans Fallback"/>
                        </a:defRPr>
                      </a:pPr>
                      <a:r>
                        <a:t>6,077.00</a:t>
                      </a:r>
                    </a:p>
                  </a:txBody>
                  <a:tcPr>
                    <a:solidFill>
                      <a:srgbClr val="F6F3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22638"/>
                          </a:solidFill>
                          <a:latin typeface="Droid Sans Fallback"/>
                        </a:defRPr>
                      </a:pPr>
                      <a:r>
                        <a:t>2,964.00</a:t>
                      </a:r>
                    </a:p>
                  </a:txBody>
                  <a:tcPr>
                    <a:solidFill>
                      <a:srgbClr val="F6F3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22638"/>
                          </a:solidFill>
                          <a:latin typeface="Droid Sans Fallback"/>
                        </a:defRPr>
                      </a:pPr>
                      <a:r>
                        <a:t>2,964.00</a:t>
                      </a:r>
                    </a:p>
                  </a:txBody>
                  <a:tcPr>
                    <a:solidFill>
                      <a:srgbClr val="F6F3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22638"/>
                          </a:solidFill>
                          <a:latin typeface="Droid Sans Fallback"/>
                        </a:defRPr>
                      </a:pPr>
                      <a:r>
                        <a:t>2,714.17</a:t>
                      </a:r>
                    </a:p>
                  </a:txBody>
                  <a:tcPr>
                    <a:solidFill>
                      <a:srgbClr val="F6F3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22638"/>
                          </a:solidFill>
                          <a:latin typeface="Droid Sans Fallback"/>
                        </a:defRPr>
                      </a:pPr>
                      <a:r>
                        <a:t>2,373.00</a:t>
                      </a:r>
                    </a:p>
                  </a:txBody>
                  <a:tcPr>
                    <a:solidFill>
                      <a:srgbClr val="F6F3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22638"/>
                          </a:solidFill>
                          <a:latin typeface="Droid Sans Fallback"/>
                        </a:defRPr>
                      </a:pPr>
                      <a:r>
                        <a:t>2,095.00</a:t>
                      </a:r>
                    </a:p>
                  </a:txBody>
                  <a:tcPr>
                    <a:solidFill>
                      <a:srgbClr val="F6F3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31520" y="5715000"/>
            <a:ext cx="10789920" cy="45720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spcAft>
                <a:spcPts val="1000"/>
              </a:spcAft>
              <a:defRPr sz="1800" b="0">
                <a:solidFill>
                  <a:srgbClr val="637083"/>
                </a:solidFill>
                <a:latin typeface="Droid Sans Fallback"/>
              </a:defRPr>
            </a:pPr>
            <a:r>
              <a:t>四条课程轨迹参与了开发与参数选择，不能作为独立验证。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0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256032"/>
            <a:ext cx="11247120" cy="64008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spcAft>
                <a:spcPts val="1000"/>
              </a:spcAft>
              <a:defRPr sz="3000" b="1">
                <a:solidFill>
                  <a:srgbClr val="6536A0"/>
                </a:solidFill>
                <a:latin typeface="Droid Sans Fallback"/>
              </a:defRPr>
            </a:pPr>
            <a:r>
              <a:t>附录：mm32 完整缺页计数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47104"/>
            <a:ext cx="9144000" cy="219456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spcAft>
                <a:spcPts val="1000"/>
              </a:spcAft>
              <a:defRPr sz="1000" b="0">
                <a:solidFill>
                  <a:srgbClr val="637083"/>
                </a:solidFill>
                <a:latin typeface="Droid Sans Fallback"/>
              </a:defRPr>
            </a:pPr>
            <a:r>
              <a:t>Adaptive V5  ·  Online demand paging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09960" y="6537960"/>
            <a:ext cx="548640" cy="219456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spcAft>
                <a:spcPts val="1000"/>
              </a:spcAft>
              <a:defRPr sz="1000" b="0">
                <a:solidFill>
                  <a:srgbClr val="637083"/>
                </a:solidFill>
                <a:latin typeface="Droid Sans Fallback"/>
              </a:defRPr>
            </a:pPr>
            <a:r>
              <a:t>15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645920"/>
          <a:ext cx="11064240" cy="318211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6424"/>
                <a:gridCol w="1106424"/>
                <a:gridCol w="1106424"/>
                <a:gridCol w="1106424"/>
                <a:gridCol w="1106424"/>
                <a:gridCol w="1106424"/>
                <a:gridCol w="1106424"/>
                <a:gridCol w="1106424"/>
                <a:gridCol w="1106424"/>
                <a:gridCol w="1106424"/>
              </a:tblGrid>
              <a:tr h="530351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Droid Sans Fallback"/>
                        </a:defRPr>
                      </a:pPr>
                      <a:r>
                        <a:t>Frames</a:t>
                      </a:r>
                    </a:p>
                  </a:txBody>
                  <a:tcPr>
                    <a:solidFill>
                      <a:srgbClr val="6536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Droid Sans Fallback"/>
                        </a:defRPr>
                      </a:pPr>
                      <a:r>
                        <a:t>Random</a:t>
                      </a:r>
                    </a:p>
                  </a:txBody>
                  <a:tcPr>
                    <a:solidFill>
                      <a:srgbClr val="6536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Droid Sans Fallback"/>
                        </a:defRPr>
                      </a:pPr>
                      <a:r>
                        <a:t>FIFO</a:t>
                      </a:r>
                    </a:p>
                  </a:txBody>
                  <a:tcPr>
                    <a:solidFill>
                      <a:srgbClr val="6536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Droid Sans Fallback"/>
                        </a:defRPr>
                      </a:pPr>
                      <a:r>
                        <a:t>OPT</a:t>
                      </a:r>
                    </a:p>
                  </a:txBody>
                  <a:tcPr>
                    <a:solidFill>
                      <a:srgbClr val="6536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Droid Sans Fallback"/>
                        </a:defRPr>
                      </a:pPr>
                      <a:r>
                        <a:t>LFU</a:t>
                      </a:r>
                    </a:p>
                  </a:txBody>
                  <a:tcPr>
                    <a:solidFill>
                      <a:srgbClr val="6536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Droid Sans Fallback"/>
                        </a:defRPr>
                      </a:pPr>
                      <a:r>
                        <a:t>LRU</a:t>
                      </a:r>
                    </a:p>
                  </a:txBody>
                  <a:tcPr>
                    <a:solidFill>
                      <a:srgbClr val="6536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Droid Sans Fallback"/>
                        </a:defRPr>
                      </a:pPr>
                      <a:r>
                        <a:t>Clock</a:t>
                      </a:r>
                    </a:p>
                  </a:txBody>
                  <a:tcPr>
                    <a:solidFill>
                      <a:srgbClr val="6536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Droid Sans Fallback"/>
                        </a:defRPr>
                      </a:pPr>
                      <a:r>
                        <a:t>V3</a:t>
                      </a:r>
                    </a:p>
                  </a:txBody>
                  <a:tcPr>
                    <a:solidFill>
                      <a:srgbClr val="6536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Droid Sans Fallback"/>
                        </a:defRPr>
                      </a:pPr>
                      <a:r>
                        <a:t>V4</a:t>
                      </a:r>
                    </a:p>
                  </a:txBody>
                  <a:tcPr>
                    <a:solidFill>
                      <a:srgbClr val="6536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Droid Sans Fallback"/>
                        </a:defRPr>
                      </a:pPr>
                      <a:r>
                        <a:t>V5</a:t>
                      </a:r>
                    </a:p>
                  </a:txBody>
                  <a:tcPr>
                    <a:solidFill>
                      <a:srgbClr val="6536A0"/>
                    </a:solidFill>
                  </a:tcPr>
                </a:tc>
              </a:tr>
              <a:tr h="530351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22638"/>
                          </a:solidFill>
                          <a:latin typeface="Droid Sans Fallback"/>
                        </a:defRPr>
                      </a:pPr>
                      <a:r>
                        <a:t>5</a:t>
                      </a:r>
                    </a:p>
                  </a:txBody>
                  <a:tcPr>
                    <a:solidFill>
                      <a:srgbClr val="F6F3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22638"/>
                          </a:solidFill>
                          <a:latin typeface="Droid Sans Fallback"/>
                        </a:defRPr>
                      </a:pPr>
                      <a:r>
                        <a:t>67,071.20</a:t>
                      </a:r>
                    </a:p>
                  </a:txBody>
                  <a:tcPr>
                    <a:solidFill>
                      <a:srgbClr val="F6F3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22638"/>
                          </a:solidFill>
                          <a:latin typeface="Droid Sans Fallback"/>
                        </a:defRPr>
                      </a:pPr>
                      <a:r>
                        <a:t>67,235.00</a:t>
                      </a:r>
                    </a:p>
                  </a:txBody>
                  <a:tcPr>
                    <a:solidFill>
                      <a:srgbClr val="F6F3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22638"/>
                          </a:solidFill>
                          <a:latin typeface="Droid Sans Fallback"/>
                        </a:defRPr>
                      </a:pPr>
                      <a:r>
                        <a:t>54,807.00</a:t>
                      </a:r>
                    </a:p>
                  </a:txBody>
                  <a:tcPr>
                    <a:solidFill>
                      <a:srgbClr val="F6F3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22638"/>
                          </a:solidFill>
                          <a:latin typeface="Droid Sans Fallback"/>
                        </a:defRPr>
                      </a:pPr>
                      <a:r>
                        <a:t>67,235.00</a:t>
                      </a:r>
                    </a:p>
                  </a:txBody>
                  <a:tcPr>
                    <a:solidFill>
                      <a:srgbClr val="F6F3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22638"/>
                          </a:solidFill>
                          <a:latin typeface="Droid Sans Fallback"/>
                        </a:defRPr>
                      </a:pPr>
                      <a:r>
                        <a:t>67,235.00</a:t>
                      </a:r>
                    </a:p>
                  </a:txBody>
                  <a:tcPr>
                    <a:solidFill>
                      <a:srgbClr val="F6F3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22638"/>
                          </a:solidFill>
                          <a:latin typeface="Droid Sans Fallback"/>
                        </a:defRPr>
                      </a:pPr>
                      <a:r>
                        <a:t>67,235.00</a:t>
                      </a:r>
                    </a:p>
                  </a:txBody>
                  <a:tcPr>
                    <a:solidFill>
                      <a:srgbClr val="F6F3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22638"/>
                          </a:solidFill>
                          <a:latin typeface="Droid Sans Fallback"/>
                        </a:defRPr>
                      </a:pPr>
                      <a:r>
                        <a:t>55,009.90</a:t>
                      </a:r>
                    </a:p>
                  </a:txBody>
                  <a:tcPr>
                    <a:solidFill>
                      <a:srgbClr val="F6F3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22638"/>
                          </a:solidFill>
                          <a:latin typeface="Droid Sans Fallback"/>
                        </a:defRPr>
                      </a:pPr>
                      <a:r>
                        <a:t>55,006.00</a:t>
                      </a:r>
                    </a:p>
                  </a:txBody>
                  <a:tcPr>
                    <a:solidFill>
                      <a:srgbClr val="F6F3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22638"/>
                          </a:solidFill>
                          <a:latin typeface="Droid Sans Fallback"/>
                        </a:defRPr>
                      </a:pPr>
                      <a:r>
                        <a:t>55,006.00</a:t>
                      </a:r>
                    </a:p>
                  </a:txBody>
                  <a:tcPr>
                    <a:solidFill>
                      <a:srgbClr val="F6F3FA"/>
                    </a:solidFill>
                  </a:tcPr>
                </a:tc>
              </a:tr>
              <a:tr h="530351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22638"/>
                          </a:solidFill>
                          <a:latin typeface="Droid Sans Fallback"/>
                        </a:defRPr>
                      </a:pPr>
                      <a: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22638"/>
                          </a:solidFill>
                          <a:latin typeface="Droid Sans Fallback"/>
                        </a:defRPr>
                      </a:pPr>
                      <a:r>
                        <a:t>65,301.03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22638"/>
                          </a:solidFill>
                          <a:latin typeface="Droid Sans Fallback"/>
                        </a:defRPr>
                      </a:pPr>
                      <a:r>
                        <a:t>67,235.00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22638"/>
                          </a:solidFill>
                          <a:latin typeface="Droid Sans Fallback"/>
                        </a:defRPr>
                      </a:pPr>
                      <a:r>
                        <a:t>48,109.00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22638"/>
                          </a:solidFill>
                          <a:latin typeface="Droid Sans Fallback"/>
                        </a:defRPr>
                      </a:pPr>
                      <a:r>
                        <a:t>67,235.00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22638"/>
                          </a:solidFill>
                          <a:latin typeface="Droid Sans Fallback"/>
                        </a:defRPr>
                      </a:pPr>
                      <a:r>
                        <a:t>67,235.00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22638"/>
                          </a:solidFill>
                          <a:latin typeface="Droid Sans Fallback"/>
                        </a:defRPr>
                      </a:pPr>
                      <a:r>
                        <a:t>67,235.00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22638"/>
                          </a:solidFill>
                          <a:latin typeface="Droid Sans Fallback"/>
                        </a:defRPr>
                      </a:pPr>
                      <a:r>
                        <a:t>49,263.47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22638"/>
                          </a:solidFill>
                          <a:latin typeface="Droid Sans Fallback"/>
                        </a:defRPr>
                      </a:pPr>
                      <a:r>
                        <a:t>49,256.00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22638"/>
                          </a:solidFill>
                          <a:latin typeface="Droid Sans Fallback"/>
                        </a:defRPr>
                      </a:pPr>
                      <a:r>
                        <a:t>48,712.00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30351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22638"/>
                          </a:solidFill>
                          <a:latin typeface="Droid Sans Fallback"/>
                        </a:defRPr>
                      </a:pPr>
                      <a:r>
                        <a:t>20</a:t>
                      </a:r>
                    </a:p>
                  </a:txBody>
                  <a:tcPr>
                    <a:solidFill>
                      <a:srgbClr val="F6F3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22638"/>
                          </a:solidFill>
                          <a:latin typeface="Droid Sans Fallback"/>
                        </a:defRPr>
                      </a:pPr>
                      <a:r>
                        <a:t>59,191.53</a:t>
                      </a:r>
                    </a:p>
                  </a:txBody>
                  <a:tcPr>
                    <a:solidFill>
                      <a:srgbClr val="F6F3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22638"/>
                          </a:solidFill>
                          <a:latin typeface="Droid Sans Fallback"/>
                        </a:defRPr>
                      </a:pPr>
                      <a:r>
                        <a:t>67,235.00</a:t>
                      </a:r>
                    </a:p>
                  </a:txBody>
                  <a:tcPr>
                    <a:solidFill>
                      <a:srgbClr val="F6F3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22638"/>
                          </a:solidFill>
                          <a:latin typeface="Droid Sans Fallback"/>
                        </a:defRPr>
                      </a:pPr>
                      <a:r>
                        <a:t>37,682.00</a:t>
                      </a:r>
                    </a:p>
                  </a:txBody>
                  <a:tcPr>
                    <a:solidFill>
                      <a:srgbClr val="F6F3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22638"/>
                          </a:solidFill>
                          <a:latin typeface="Droid Sans Fallback"/>
                        </a:defRPr>
                      </a:pPr>
                      <a:r>
                        <a:t>67,235.00</a:t>
                      </a:r>
                    </a:p>
                  </a:txBody>
                  <a:tcPr>
                    <a:solidFill>
                      <a:srgbClr val="F6F3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22638"/>
                          </a:solidFill>
                          <a:latin typeface="Droid Sans Fallback"/>
                        </a:defRPr>
                      </a:pPr>
                      <a:r>
                        <a:t>67,235.00</a:t>
                      </a:r>
                    </a:p>
                  </a:txBody>
                  <a:tcPr>
                    <a:solidFill>
                      <a:srgbClr val="F6F3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22638"/>
                          </a:solidFill>
                          <a:latin typeface="Droid Sans Fallback"/>
                        </a:defRPr>
                      </a:pPr>
                      <a:r>
                        <a:t>67,235.00</a:t>
                      </a:r>
                    </a:p>
                  </a:txBody>
                  <a:tcPr>
                    <a:solidFill>
                      <a:srgbClr val="F6F3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22638"/>
                          </a:solidFill>
                          <a:latin typeface="Droid Sans Fallback"/>
                        </a:defRPr>
                      </a:pPr>
                      <a:r>
                        <a:t>39,025.93</a:t>
                      </a:r>
                    </a:p>
                  </a:txBody>
                  <a:tcPr>
                    <a:solidFill>
                      <a:srgbClr val="F6F3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22638"/>
                          </a:solidFill>
                          <a:latin typeface="Droid Sans Fallback"/>
                        </a:defRPr>
                      </a:pPr>
                      <a:r>
                        <a:t>39,016.00</a:t>
                      </a:r>
                    </a:p>
                  </a:txBody>
                  <a:tcPr>
                    <a:solidFill>
                      <a:srgbClr val="F6F3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22638"/>
                          </a:solidFill>
                          <a:latin typeface="Droid Sans Fallback"/>
                        </a:defRPr>
                      </a:pPr>
                      <a:r>
                        <a:t>37,986.00</a:t>
                      </a:r>
                    </a:p>
                  </a:txBody>
                  <a:tcPr>
                    <a:solidFill>
                      <a:srgbClr val="F6F3FA"/>
                    </a:solidFill>
                  </a:tcPr>
                </a:tc>
              </a:tr>
              <a:tr h="530351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22638"/>
                          </a:solidFill>
                          <a:latin typeface="Droid Sans Fallback"/>
                        </a:defRPr>
                      </a:pPr>
                      <a:r>
                        <a:t>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22638"/>
                          </a:solidFill>
                          <a:latin typeface="Droid Sans Fallback"/>
                        </a:defRPr>
                      </a:pPr>
                      <a:r>
                        <a:t>39,745.63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22638"/>
                          </a:solidFill>
                          <a:latin typeface="Droid Sans Fallback"/>
                        </a:defRPr>
                      </a:pPr>
                      <a:r>
                        <a:t>55,136.00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22638"/>
                          </a:solidFill>
                          <a:latin typeface="Droid Sans Fallback"/>
                        </a:defRPr>
                      </a:pPr>
                      <a:r>
                        <a:t>19,164.00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22638"/>
                          </a:solidFill>
                          <a:latin typeface="Droid Sans Fallback"/>
                        </a:defRPr>
                      </a:pPr>
                      <a:r>
                        <a:t>53,805.00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22638"/>
                          </a:solidFill>
                          <a:latin typeface="Droid Sans Fallback"/>
                        </a:defRPr>
                      </a:pPr>
                      <a:r>
                        <a:t>51,860.00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22638"/>
                          </a:solidFill>
                          <a:latin typeface="Droid Sans Fallback"/>
                        </a:defRPr>
                      </a:pPr>
                      <a:r>
                        <a:t>51,865.00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22638"/>
                          </a:solidFill>
                          <a:latin typeface="Droid Sans Fallback"/>
                        </a:defRPr>
                      </a:pPr>
                      <a:r>
                        <a:t>21,179.00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22638"/>
                          </a:solidFill>
                          <a:latin typeface="Droid Sans Fallback"/>
                        </a:defRPr>
                      </a:pPr>
                      <a:r>
                        <a:t>19,909.00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22638"/>
                          </a:solidFill>
                          <a:latin typeface="Droid Sans Fallback"/>
                        </a:defRPr>
                      </a:pPr>
                      <a:r>
                        <a:t>19,730.00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30356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22638"/>
                          </a:solidFill>
                          <a:latin typeface="Droid Sans Fallback"/>
                        </a:defRPr>
                      </a:pPr>
                      <a:r>
                        <a:t>100</a:t>
                      </a:r>
                    </a:p>
                  </a:txBody>
                  <a:tcPr>
                    <a:solidFill>
                      <a:srgbClr val="F6F3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22638"/>
                          </a:solidFill>
                          <a:latin typeface="Droid Sans Fallback"/>
                        </a:defRPr>
                      </a:pPr>
                      <a:r>
                        <a:t>28,090.60</a:t>
                      </a:r>
                    </a:p>
                  </a:txBody>
                  <a:tcPr>
                    <a:solidFill>
                      <a:srgbClr val="F6F3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22638"/>
                          </a:solidFill>
                          <a:latin typeface="Droid Sans Fallback"/>
                        </a:defRPr>
                      </a:pPr>
                      <a:r>
                        <a:t>28,421.00</a:t>
                      </a:r>
                    </a:p>
                  </a:txBody>
                  <a:tcPr>
                    <a:solidFill>
                      <a:srgbClr val="F6F3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22638"/>
                          </a:solidFill>
                          <a:latin typeface="Droid Sans Fallback"/>
                        </a:defRPr>
                      </a:pPr>
                      <a:r>
                        <a:t>17,514.00</a:t>
                      </a:r>
                    </a:p>
                  </a:txBody>
                  <a:tcPr>
                    <a:solidFill>
                      <a:srgbClr val="F6F3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22638"/>
                          </a:solidFill>
                          <a:latin typeface="Droid Sans Fallback"/>
                        </a:defRPr>
                      </a:pPr>
                      <a:r>
                        <a:t>51,699.00</a:t>
                      </a:r>
                    </a:p>
                  </a:txBody>
                  <a:tcPr>
                    <a:solidFill>
                      <a:srgbClr val="F6F3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22638"/>
                          </a:solidFill>
                          <a:latin typeface="Droid Sans Fallback"/>
                        </a:defRPr>
                      </a:pPr>
                      <a:r>
                        <a:t>19,604.00</a:t>
                      </a:r>
                    </a:p>
                  </a:txBody>
                  <a:tcPr>
                    <a:solidFill>
                      <a:srgbClr val="F6F3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22638"/>
                          </a:solidFill>
                          <a:latin typeface="Droid Sans Fallback"/>
                        </a:defRPr>
                      </a:pPr>
                      <a:r>
                        <a:t>19,947.00</a:t>
                      </a:r>
                    </a:p>
                  </a:txBody>
                  <a:tcPr>
                    <a:solidFill>
                      <a:srgbClr val="F6F3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22638"/>
                          </a:solidFill>
                          <a:latin typeface="Droid Sans Fallback"/>
                        </a:defRPr>
                      </a:pPr>
                      <a:r>
                        <a:t>19,604.00</a:t>
                      </a:r>
                    </a:p>
                  </a:txBody>
                  <a:tcPr>
                    <a:solidFill>
                      <a:srgbClr val="F6F3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22638"/>
                          </a:solidFill>
                          <a:latin typeface="Droid Sans Fallback"/>
                        </a:defRPr>
                      </a:pPr>
                      <a:r>
                        <a:t>19,604.00</a:t>
                      </a:r>
                    </a:p>
                  </a:txBody>
                  <a:tcPr>
                    <a:solidFill>
                      <a:srgbClr val="F6F3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222638"/>
                          </a:solidFill>
                          <a:latin typeface="Droid Sans Fallback"/>
                        </a:defRPr>
                      </a:pPr>
                      <a:r>
                        <a:t>18,022.00</a:t>
                      </a:r>
                    </a:p>
                  </a:txBody>
                  <a:tcPr>
                    <a:solidFill>
                      <a:srgbClr val="F6F3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31520" y="5715000"/>
            <a:ext cx="10789920" cy="45720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spcAft>
                <a:spcPts val="1000"/>
              </a:spcAft>
              <a:defRPr sz="1800" b="0">
                <a:solidFill>
                  <a:srgbClr val="637083"/>
                </a:solidFill>
                <a:latin typeface="Droid Sans Fallback"/>
              </a:defRPr>
            </a:pPr>
            <a:r>
              <a:t>四条课程轨迹参与了开发与参数选择，不能作为独立验证。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