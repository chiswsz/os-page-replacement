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638"/>
                </a:solidFill>
                <a:latin typeface="Microsoft YaHei"/>
              </a:rPr>
              <a:t>qsort（横轴：页框数；纵轴：缺页次数）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FIFO</c:v>
                </c:pt>
              </c:strCache>
            </c:strRef>
          </c:tx>
          <c:spPr>
            <a:ln w="28575">
              <a:solidFill>
                <a:srgbClr val="9AA3B2"/>
              </a:solidFill>
            </a:ln>
          </c:spPr>
          <c:marker>
            <c:size val="6"/>
            <c:spPr>
              <a:solidFill>
                <a:srgbClr val="9AA3B2"/>
              </a:solidFill>
              <a:ln>
                <a:solidFill>
                  <a:srgbClr val="9AA3B2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524.0</c:v>
                </c:pt>
                <c:pt idx="1">
                  <c:v>524.0</c:v>
                </c:pt>
                <c:pt idx="2">
                  <c:v>524.0</c:v>
                </c:pt>
                <c:pt idx="3">
                  <c:v>209.0</c:v>
                </c:pt>
                <c:pt idx="4">
                  <c:v>199.0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LRU</c:v>
                </c:pt>
              </c:strCache>
            </c:strRef>
          </c:tx>
          <c:spPr>
            <a:ln w="28575">
              <a:solidFill>
                <a:srgbClr val="D98A0B"/>
              </a:solidFill>
            </a:ln>
          </c:spPr>
          <c:marker>
            <c:size val="6"/>
            <c:spPr>
              <a:solidFill>
                <a:srgbClr val="D98A0B"/>
              </a:solidFill>
              <a:ln>
                <a:solidFill>
                  <a:srgbClr val="D98A0B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524.0</c:v>
                </c:pt>
                <c:pt idx="1">
                  <c:v>524.0</c:v>
                </c:pt>
                <c:pt idx="2">
                  <c:v>524.0</c:v>
                </c:pt>
                <c:pt idx="3">
                  <c:v>199.0</c:v>
                </c:pt>
                <c:pt idx="4">
                  <c:v>199.0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Second chance</c:v>
                </c:pt>
              </c:strCache>
            </c:strRef>
          </c:tx>
          <c:spPr>
            <a:ln w="28575">
              <a:solidFill>
                <a:srgbClr val="2F6FD0"/>
              </a:solidFill>
            </a:ln>
          </c:spPr>
          <c:marker>
            <c:size val="6"/>
            <c:spPr>
              <a:solidFill>
                <a:srgbClr val="2F6FD0"/>
              </a:solidFill>
              <a:ln>
                <a:solidFill>
                  <a:srgbClr val="2F6FD0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524.0</c:v>
                </c:pt>
                <c:pt idx="1">
                  <c:v>524.0</c:v>
                </c:pt>
                <c:pt idx="2">
                  <c:v>524.0</c:v>
                </c:pt>
                <c:pt idx="3">
                  <c:v>203.0</c:v>
                </c:pt>
                <c:pt idx="4">
                  <c:v>199.0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MIN (OPT)</c:v>
                </c:pt>
              </c:strCache>
            </c:strRef>
          </c:tx>
          <c:spPr>
            <a:ln w="28575">
              <a:solidFill>
                <a:srgbClr val="334155"/>
              </a:solidFill>
              <a:prstDash val="dash"/>
            </a:ln>
          </c:spPr>
          <c:marker>
            <c:size val="6"/>
            <c:spPr>
              <a:solidFill>
                <a:srgbClr val="334155"/>
              </a:solidFill>
              <a:ln>
                <a:solidFill>
                  <a:srgbClr val="334155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463.0</c:v>
                </c:pt>
                <c:pt idx="1">
                  <c:v>389.0</c:v>
                </c:pt>
                <c:pt idx="2">
                  <c:v>274.0</c:v>
                </c:pt>
                <c:pt idx="3">
                  <c:v>192.0</c:v>
                </c:pt>
                <c:pt idx="4">
                  <c:v>192.0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我们的算法</c:v>
                </c:pt>
              </c:strCache>
            </c:strRef>
          </c:tx>
          <c:spPr>
            <a:ln w="50800">
              <a:solidFill>
                <a:srgbClr val="087F78"/>
              </a:solidFill>
            </a:ln>
          </c:spPr>
          <c:marker>
            <c:size val="8"/>
            <c:spPr>
              <a:solidFill>
                <a:srgbClr val="087F78"/>
              </a:solidFill>
              <a:ln>
                <a:solidFill>
                  <a:srgbClr val="087F78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479.0</c:v>
                </c:pt>
                <c:pt idx="1">
                  <c:v>430.0</c:v>
                </c:pt>
                <c:pt idx="2">
                  <c:v>324.0</c:v>
                </c:pt>
                <c:pt idx="3">
                  <c:v>199.0</c:v>
                </c:pt>
                <c:pt idx="4">
                  <c:v>199.0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Microsoft YaHe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latin typeface="Microsoft YaHe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638"/>
                </a:solidFill>
                <a:latin typeface="Microsoft YaHei"/>
              </a:rPr>
              <a:t>lu（横轴：页框数；纵轴：缺页次数）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FIFO</c:v>
                </c:pt>
              </c:strCache>
            </c:strRef>
          </c:tx>
          <c:spPr>
            <a:ln w="28575">
              <a:solidFill>
                <a:srgbClr val="9AA3B2"/>
              </a:solidFill>
            </a:ln>
          </c:spPr>
          <c:marker>
            <c:size val="6"/>
            <c:spPr>
              <a:solidFill>
                <a:srgbClr val="9AA3B2"/>
              </a:solidFill>
              <a:ln>
                <a:solidFill>
                  <a:srgbClr val="9AA3B2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41832.0</c:v>
                </c:pt>
                <c:pt idx="1">
                  <c:v>41832.0</c:v>
                </c:pt>
                <c:pt idx="2">
                  <c:v>41832.0</c:v>
                </c:pt>
                <c:pt idx="3">
                  <c:v>32073.0</c:v>
                </c:pt>
                <c:pt idx="4">
                  <c:v>27864.0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LRU</c:v>
                </c:pt>
              </c:strCache>
            </c:strRef>
          </c:tx>
          <c:spPr>
            <a:ln w="28575">
              <a:solidFill>
                <a:srgbClr val="D98A0B"/>
              </a:solidFill>
            </a:ln>
          </c:spPr>
          <c:marker>
            <c:size val="6"/>
            <c:spPr>
              <a:solidFill>
                <a:srgbClr val="D98A0B"/>
              </a:solidFill>
              <a:ln>
                <a:solidFill>
                  <a:srgbClr val="D98A0B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41832.0</c:v>
                </c:pt>
                <c:pt idx="1">
                  <c:v>41832.0</c:v>
                </c:pt>
                <c:pt idx="2">
                  <c:v>41832.0</c:v>
                </c:pt>
                <c:pt idx="3">
                  <c:v>28475.0</c:v>
                </c:pt>
                <c:pt idx="4">
                  <c:v>26497.0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Second chance</c:v>
                </c:pt>
              </c:strCache>
            </c:strRef>
          </c:tx>
          <c:spPr>
            <a:ln w="28575">
              <a:solidFill>
                <a:srgbClr val="2F6FD0"/>
              </a:solidFill>
            </a:ln>
          </c:spPr>
          <c:marker>
            <c:size val="6"/>
            <c:spPr>
              <a:solidFill>
                <a:srgbClr val="2F6FD0"/>
              </a:solidFill>
              <a:ln>
                <a:solidFill>
                  <a:srgbClr val="2F6FD0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41832.0</c:v>
                </c:pt>
                <c:pt idx="1">
                  <c:v>41832.0</c:v>
                </c:pt>
                <c:pt idx="2">
                  <c:v>41832.0</c:v>
                </c:pt>
                <c:pt idx="3">
                  <c:v>28736.0</c:v>
                </c:pt>
                <c:pt idx="4">
                  <c:v>26483.0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MIN (OPT)</c:v>
                </c:pt>
              </c:strCache>
            </c:strRef>
          </c:tx>
          <c:spPr>
            <a:ln w="28575">
              <a:solidFill>
                <a:srgbClr val="334155"/>
              </a:solidFill>
              <a:prstDash val="dash"/>
            </a:ln>
          </c:spPr>
          <c:marker>
            <c:size val="6"/>
            <c:spPr>
              <a:solidFill>
                <a:srgbClr val="334155"/>
              </a:solidFill>
              <a:ln>
                <a:solidFill>
                  <a:srgbClr val="334155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34076.0</c:v>
                </c:pt>
                <c:pt idx="1">
                  <c:v>28722.0</c:v>
                </c:pt>
                <c:pt idx="2">
                  <c:v>26922.0</c:v>
                </c:pt>
                <c:pt idx="3">
                  <c:v>21880.0</c:v>
                </c:pt>
                <c:pt idx="4">
                  <c:v>14869.0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我们的算法</c:v>
                </c:pt>
              </c:strCache>
            </c:strRef>
          </c:tx>
          <c:spPr>
            <a:ln w="50800">
              <a:solidFill>
                <a:srgbClr val="087F78"/>
              </a:solidFill>
            </a:ln>
          </c:spPr>
          <c:marker>
            <c:size val="8"/>
            <c:spPr>
              <a:solidFill>
                <a:srgbClr val="087F78"/>
              </a:solidFill>
              <a:ln>
                <a:solidFill>
                  <a:srgbClr val="087F78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34426.0</c:v>
                </c:pt>
                <c:pt idx="1">
                  <c:v>29594.0</c:v>
                </c:pt>
                <c:pt idx="2">
                  <c:v>27672.0</c:v>
                </c:pt>
                <c:pt idx="3">
                  <c:v>22930.0</c:v>
                </c:pt>
                <c:pt idx="4">
                  <c:v>15954.0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Microsoft YaHe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latin typeface="Microsoft YaHe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638"/>
                </a:solidFill>
                <a:latin typeface="Microsoft YaHei"/>
              </a:rPr>
              <a:t>mm16（横轴：页框数；纵轴：缺页次数）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FIFO</c:v>
                </c:pt>
              </c:strCache>
            </c:strRef>
          </c:tx>
          <c:spPr>
            <a:ln w="28575">
              <a:solidFill>
                <a:srgbClr val="9AA3B2"/>
              </a:solidFill>
            </a:ln>
          </c:spPr>
          <c:marker>
            <c:size val="6"/>
            <c:spPr>
              <a:solidFill>
                <a:srgbClr val="9AA3B2"/>
              </a:solidFill>
              <a:ln>
                <a:solidFill>
                  <a:srgbClr val="9AA3B2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9075.0</c:v>
                </c:pt>
                <c:pt idx="1">
                  <c:v>9075.0</c:v>
                </c:pt>
                <c:pt idx="2">
                  <c:v>9075.0</c:v>
                </c:pt>
                <c:pt idx="3">
                  <c:v>4180.0</c:v>
                </c:pt>
                <c:pt idx="4">
                  <c:v>3487.0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LRU</c:v>
                </c:pt>
              </c:strCache>
            </c:strRef>
          </c:tx>
          <c:spPr>
            <a:ln w="28575">
              <a:solidFill>
                <a:srgbClr val="D98A0B"/>
              </a:solidFill>
            </a:ln>
          </c:spPr>
          <c:marker>
            <c:size val="6"/>
            <c:spPr>
              <a:solidFill>
                <a:srgbClr val="D98A0B"/>
              </a:solidFill>
              <a:ln>
                <a:solidFill>
                  <a:srgbClr val="D98A0B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9075.0</c:v>
                </c:pt>
                <c:pt idx="1">
                  <c:v>9075.0</c:v>
                </c:pt>
                <c:pt idx="2">
                  <c:v>9075.0</c:v>
                </c:pt>
                <c:pt idx="3">
                  <c:v>2964.0</c:v>
                </c:pt>
                <c:pt idx="4">
                  <c:v>2964.0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Second chance</c:v>
                </c:pt>
              </c:strCache>
            </c:strRef>
          </c:tx>
          <c:spPr>
            <a:ln w="28575">
              <a:solidFill>
                <a:srgbClr val="2F6FD0"/>
              </a:solidFill>
            </a:ln>
          </c:spPr>
          <c:marker>
            <c:size val="6"/>
            <c:spPr>
              <a:solidFill>
                <a:srgbClr val="2F6FD0"/>
              </a:solidFill>
              <a:ln>
                <a:solidFill>
                  <a:srgbClr val="2F6FD0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9075.0</c:v>
                </c:pt>
                <c:pt idx="1">
                  <c:v>9075.0</c:v>
                </c:pt>
                <c:pt idx="2">
                  <c:v>9075.0</c:v>
                </c:pt>
                <c:pt idx="3">
                  <c:v>3023.0</c:v>
                </c:pt>
                <c:pt idx="4">
                  <c:v>2964.0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MIN (OPT)</c:v>
                </c:pt>
              </c:strCache>
            </c:strRef>
          </c:tx>
          <c:spPr>
            <a:ln w="28575">
              <a:solidFill>
                <a:srgbClr val="334155"/>
              </a:solidFill>
              <a:prstDash val="dash"/>
            </a:ln>
          </c:spPr>
          <c:marker>
            <c:size val="6"/>
            <c:spPr>
              <a:solidFill>
                <a:srgbClr val="334155"/>
              </a:solidFill>
              <a:ln>
                <a:solidFill>
                  <a:srgbClr val="334155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7407.0</c:v>
                </c:pt>
                <c:pt idx="1">
                  <c:v>5990.0</c:v>
                </c:pt>
                <c:pt idx="2">
                  <c:v>3426.0</c:v>
                </c:pt>
                <c:pt idx="3">
                  <c:v>2461.0</c:v>
                </c:pt>
                <c:pt idx="4">
                  <c:v>1657.0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我们的算法</c:v>
                </c:pt>
              </c:strCache>
            </c:strRef>
          </c:tx>
          <c:spPr>
            <a:ln w="50800">
              <a:solidFill>
                <a:srgbClr val="087F78"/>
              </a:solidFill>
            </a:ln>
          </c:spPr>
          <c:marker>
            <c:size val="8"/>
            <c:spPr>
              <a:solidFill>
                <a:srgbClr val="087F78"/>
              </a:solidFill>
              <a:ln>
                <a:solidFill>
                  <a:srgbClr val="087F78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7548.0</c:v>
                </c:pt>
                <c:pt idx="1">
                  <c:v>6136.0</c:v>
                </c:pt>
                <c:pt idx="2">
                  <c:v>3612.0</c:v>
                </c:pt>
                <c:pt idx="3">
                  <c:v>2715.0</c:v>
                </c:pt>
                <c:pt idx="4">
                  <c:v>2095.0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Microsoft YaHe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latin typeface="Microsoft YaHe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638"/>
                </a:solidFill>
                <a:latin typeface="Microsoft YaHei"/>
              </a:rPr>
              <a:t>mm32（横轴：页框数；纵轴：缺页次数）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FIFO</c:v>
                </c:pt>
              </c:strCache>
            </c:strRef>
          </c:tx>
          <c:spPr>
            <a:ln w="28575">
              <a:solidFill>
                <a:srgbClr val="9AA3B2"/>
              </a:solidFill>
            </a:ln>
          </c:spPr>
          <c:marker>
            <c:size val="6"/>
            <c:spPr>
              <a:solidFill>
                <a:srgbClr val="9AA3B2"/>
              </a:solidFill>
              <a:ln>
                <a:solidFill>
                  <a:srgbClr val="9AA3B2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67235.0</c:v>
                </c:pt>
                <c:pt idx="1">
                  <c:v>67235.0</c:v>
                </c:pt>
                <c:pt idx="2">
                  <c:v>67235.0</c:v>
                </c:pt>
                <c:pt idx="3">
                  <c:v>55136.0</c:v>
                </c:pt>
                <c:pt idx="4">
                  <c:v>28421.0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LRU</c:v>
                </c:pt>
              </c:strCache>
            </c:strRef>
          </c:tx>
          <c:spPr>
            <a:ln w="28575">
              <a:solidFill>
                <a:srgbClr val="D98A0B"/>
              </a:solidFill>
            </a:ln>
          </c:spPr>
          <c:marker>
            <c:size val="6"/>
            <c:spPr>
              <a:solidFill>
                <a:srgbClr val="D98A0B"/>
              </a:solidFill>
              <a:ln>
                <a:solidFill>
                  <a:srgbClr val="D98A0B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67235.0</c:v>
                </c:pt>
                <c:pt idx="1">
                  <c:v>67235.0</c:v>
                </c:pt>
                <c:pt idx="2">
                  <c:v>67235.0</c:v>
                </c:pt>
                <c:pt idx="3">
                  <c:v>51860.0</c:v>
                </c:pt>
                <c:pt idx="4">
                  <c:v>19604.0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Second chance</c:v>
                </c:pt>
              </c:strCache>
            </c:strRef>
          </c:tx>
          <c:spPr>
            <a:ln w="28575">
              <a:solidFill>
                <a:srgbClr val="2F6FD0"/>
              </a:solidFill>
            </a:ln>
          </c:spPr>
          <c:marker>
            <c:size val="6"/>
            <c:spPr>
              <a:solidFill>
                <a:srgbClr val="2F6FD0"/>
              </a:solidFill>
              <a:ln>
                <a:solidFill>
                  <a:srgbClr val="2F6FD0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67235.0</c:v>
                </c:pt>
                <c:pt idx="1">
                  <c:v>67235.0</c:v>
                </c:pt>
                <c:pt idx="2">
                  <c:v>67235.0</c:v>
                </c:pt>
                <c:pt idx="3">
                  <c:v>51865.0</c:v>
                </c:pt>
                <c:pt idx="4">
                  <c:v>19947.0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MIN (OPT)</c:v>
                </c:pt>
              </c:strCache>
            </c:strRef>
          </c:tx>
          <c:spPr>
            <a:ln w="28575">
              <a:solidFill>
                <a:srgbClr val="334155"/>
              </a:solidFill>
              <a:prstDash val="dash"/>
            </a:ln>
          </c:spPr>
          <c:marker>
            <c:size val="6"/>
            <c:spPr>
              <a:solidFill>
                <a:srgbClr val="334155"/>
              </a:solidFill>
              <a:ln>
                <a:solidFill>
                  <a:srgbClr val="334155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54807.0</c:v>
                </c:pt>
                <c:pt idx="1">
                  <c:v>48109.0</c:v>
                </c:pt>
                <c:pt idx="2">
                  <c:v>37682.0</c:v>
                </c:pt>
                <c:pt idx="3">
                  <c:v>19164.0</c:v>
                </c:pt>
                <c:pt idx="4">
                  <c:v>17514.0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我们的算法</c:v>
                </c:pt>
              </c:strCache>
            </c:strRef>
          </c:tx>
          <c:spPr>
            <a:ln w="50800">
              <a:solidFill>
                <a:srgbClr val="087F78"/>
              </a:solidFill>
            </a:ln>
          </c:spPr>
          <c:marker>
            <c:size val="8"/>
            <c:spPr>
              <a:solidFill>
                <a:srgbClr val="087F78"/>
              </a:solidFill>
              <a:ln>
                <a:solidFill>
                  <a:srgbClr val="087F78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55006.0</c:v>
                </c:pt>
                <c:pt idx="1">
                  <c:v>48712.0</c:v>
                </c:pt>
                <c:pt idx="2">
                  <c:v>37986.0</c:v>
                </c:pt>
                <c:pt idx="3">
                  <c:v>19730.0</c:v>
                </c:pt>
                <c:pt idx="4">
                  <c:v>18022.0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Microsoft YaHe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latin typeface="Microsoft YaHe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334155"/>
              </a:solidFill>
            </c:spPr>
          </c:dPt>
          <c:dPt>
            <c:idx val="1"/>
            <c:spPr>
              <a:solidFill>
                <a:srgbClr val="087F78"/>
              </a:solidFill>
            </c:spPr>
          </c:dPt>
          <c:dPt>
            <c:idx val="2"/>
            <c:spPr>
              <a:solidFill>
                <a:srgbClr val="C9CED8"/>
              </a:solidFill>
            </c:spPr>
          </c:dPt>
          <c:dPt>
            <c:idx val="3"/>
            <c:spPr>
              <a:solidFill>
                <a:srgbClr val="D98A0B"/>
              </a:solidFill>
            </c:spPr>
          </c:dPt>
          <c:dPt>
            <c:idx val="4"/>
            <c:spPr>
              <a:solidFill>
                <a:srgbClr val="2F6FD0"/>
              </a:solidFill>
            </c:spPr>
          </c:dPt>
          <c:dPt>
            <c:idx val="5"/>
            <c:spPr>
              <a:solidFill>
                <a:srgbClr val="9AA3B2"/>
              </a:solidFill>
            </c:spPr>
          </c:dPt>
          <c:dPt>
            <c:idx val="6"/>
            <c:spPr>
              <a:solidFill>
                <a:srgbClr val="C9CED8"/>
              </a:solidFill>
            </c:spPr>
          </c:dPt>
          <c:cat>
            <c:strRef>
              <c:f>Sheet1!$A$2:$A$8</c:f>
              <c:strCache>
                <c:ptCount val="7"/>
                <c:pt idx="0">
                  <c:v>MIN (OPT)</c:v>
                </c:pt>
                <c:pt idx="1">
                  <c:v>我们的算法</c:v>
                </c:pt>
                <c:pt idx="2">
                  <c:v>Random</c:v>
                </c:pt>
                <c:pt idx="3">
                  <c:v>LRU</c:v>
                </c:pt>
                <c:pt idx="4">
                  <c:v>Second chance</c:v>
                </c:pt>
                <c:pt idx="5">
                  <c:v>FIFO</c:v>
                </c:pt>
                <c:pt idx="6">
                  <c:v>LFU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16310</c:v>
                </c:pt>
                <c:pt idx="1">
                  <c:v>16688</c:v>
                </c:pt>
                <c:pt idx="2">
                  <c:v>23331</c:v>
                </c:pt>
                <c:pt idx="3">
                  <c:v>24438</c:v>
                </c:pt>
                <c:pt idx="4">
                  <c:v>24471</c:v>
                </c:pt>
                <c:pt idx="5">
                  <c:v>25378</c:v>
                </c:pt>
                <c:pt idx="6">
                  <c:v>27112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300" b="1">
                  <a:latin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latin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9AA3B2"/>
              </a:solidFill>
            </c:spPr>
          </c:dPt>
          <c:dPt>
            <c:idx val="1"/>
            <c:spPr>
              <a:solidFill>
                <a:srgbClr val="9AA3B2"/>
              </a:solidFill>
            </c:spPr>
          </c:dPt>
          <c:dPt>
            <c:idx val="2"/>
            <c:spPr>
              <a:solidFill>
                <a:srgbClr val="087F78"/>
              </a:solidFill>
            </c:spPr>
          </c:dPt>
          <c:dPt>
            <c:idx val="3"/>
            <c:spPr>
              <a:solidFill>
                <a:srgbClr val="9AA3B2"/>
              </a:solidFill>
            </c:spPr>
          </c:dPt>
          <c:dPt>
            <c:idx val="4"/>
            <c:spPr>
              <a:solidFill>
                <a:srgbClr val="9AA3B2"/>
              </a:solidFill>
            </c:spPr>
          </c:dPt>
          <c:dPt>
            <c:idx val="5"/>
            <c:spPr>
              <a:solidFill>
                <a:srgbClr val="9AA3B2"/>
              </a:solidFill>
            </c:spPr>
          </c:dPt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17103</c:v>
                </c:pt>
                <c:pt idx="1">
                  <c:v>16772</c:v>
                </c:pt>
                <c:pt idx="2">
                  <c:v>16688</c:v>
                </c:pt>
                <c:pt idx="3">
                  <c:v>16922</c:v>
                </c:pt>
                <c:pt idx="4">
                  <c:v>17022</c:v>
                </c:pt>
                <c:pt idx="5">
                  <c:v>17039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300" b="1">
                  <a:latin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15000.0"/>
        </c:scaling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latin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9AA3B2"/>
              </a:solidFill>
            </c:spPr>
          </c:dPt>
          <c:dPt>
            <c:idx val="1"/>
            <c:spPr>
              <a:solidFill>
                <a:srgbClr val="9AA3B2"/>
              </a:solidFill>
            </c:spPr>
          </c:dPt>
          <c:dPt>
            <c:idx val="2"/>
            <c:spPr>
              <a:solidFill>
                <a:srgbClr val="9AA3B2"/>
              </a:solidFill>
            </c:spPr>
          </c:dPt>
          <c:dPt>
            <c:idx val="3"/>
            <c:spPr>
              <a:solidFill>
                <a:srgbClr val="9AA3B2"/>
              </a:solidFill>
            </c:spPr>
          </c:dPt>
          <c:dPt>
            <c:idx val="4"/>
            <c:spPr>
              <a:solidFill>
                <a:srgbClr val="087F78"/>
              </a:solidFill>
            </c:spPr>
          </c:dPt>
          <c:dPt>
            <c:idx val="5"/>
            <c:spPr>
              <a:solidFill>
                <a:srgbClr val="9AA3B2"/>
              </a:solidFill>
            </c:spPr>
          </c:dPt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18970</c:v>
                </c:pt>
                <c:pt idx="1">
                  <c:v>18972</c:v>
                </c:pt>
                <c:pt idx="2">
                  <c:v>17621</c:v>
                </c:pt>
                <c:pt idx="3">
                  <c:v>16998</c:v>
                </c:pt>
                <c:pt idx="4">
                  <c:v>16688</c:v>
                </c:pt>
                <c:pt idx="5">
                  <c:v>16771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300" b="1">
                  <a:latin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15000.0"/>
        </c:scaling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latin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FIFO</c:v>
                </c:pt>
              </c:strCache>
            </c:strRef>
          </c:tx>
          <c:spPr>
            <a:solidFill>
              <a:srgbClr val="9AA3B2"/>
            </a:solidFill>
          </c:spPr>
          <c:cat>
            <c:strRef>
              <c:f>Sheet1!$A$2:$A$4</c:f>
              <c:strCache>
                <c:ptCount val="3"/>
                <c:pt idx="0">
                  <c:v>开发用 10 类</c:v>
                </c:pt>
                <c:pt idx="1">
                  <c:v>回归 8 类</c:v>
                </c:pt>
                <c:pt idx="2">
                  <c:v>冻结后新生成 10 类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5597</c:v>
                </c:pt>
                <c:pt idx="1">
                  <c:v>7930</c:v>
                </c:pt>
                <c:pt idx="2">
                  <c:v>8334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LRU</c:v>
                </c:pt>
              </c:strCache>
            </c:strRef>
          </c:tx>
          <c:spPr>
            <a:solidFill>
              <a:srgbClr val="D98A0B"/>
            </a:solidFill>
          </c:spPr>
          <c:cat>
            <c:strRef>
              <c:f>Sheet1!$A$2:$A$4</c:f>
              <c:strCache>
                <c:ptCount val="3"/>
                <c:pt idx="0">
                  <c:v>开发用 10 类</c:v>
                </c:pt>
                <c:pt idx="1">
                  <c:v>回归 8 类</c:v>
                </c:pt>
                <c:pt idx="2">
                  <c:v>冻结后新生成 10 类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5539</c:v>
                </c:pt>
                <c:pt idx="1">
                  <c:v>7722</c:v>
                </c:pt>
                <c:pt idx="2">
                  <c:v>8232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Second chance</c:v>
                </c:pt>
              </c:strCache>
            </c:strRef>
          </c:tx>
          <c:spPr>
            <a:solidFill>
              <a:srgbClr val="2F6FD0"/>
            </a:solidFill>
          </c:spPr>
          <c:cat>
            <c:strRef>
              <c:f>Sheet1!$A$2:$A$4</c:f>
              <c:strCache>
                <c:ptCount val="3"/>
                <c:pt idx="0">
                  <c:v>开发用 10 类</c:v>
                </c:pt>
                <c:pt idx="1">
                  <c:v>回归 8 类</c:v>
                </c:pt>
                <c:pt idx="2">
                  <c:v>冻结后新生成 10 类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5565</c:v>
                </c:pt>
                <c:pt idx="1">
                  <c:v>7792</c:v>
                </c:pt>
                <c:pt idx="2">
                  <c:v>8283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MIN (OPT)</c:v>
                </c:pt>
              </c:strCache>
            </c:strRef>
          </c:tx>
          <c:spPr>
            <a:solidFill>
              <a:srgbClr val="334155"/>
            </a:solidFill>
          </c:spPr>
          <c:cat>
            <c:strRef>
              <c:f>Sheet1!$A$2:$A$4</c:f>
              <c:strCache>
                <c:ptCount val="3"/>
                <c:pt idx="0">
                  <c:v>开发用 10 类</c:v>
                </c:pt>
                <c:pt idx="1">
                  <c:v>回归 8 类</c:v>
                </c:pt>
                <c:pt idx="2">
                  <c:v>冻结后新生成 10 类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4494</c:v>
                </c:pt>
                <c:pt idx="1">
                  <c:v>6098</c:v>
                </c:pt>
                <c:pt idx="2">
                  <c:v>6219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我们的算法</c:v>
                </c:pt>
              </c:strCache>
            </c:strRef>
          </c:tx>
          <c:spPr>
            <a:solidFill>
              <a:srgbClr val="087F78"/>
            </a:solidFill>
          </c:spPr>
          <c:cat>
            <c:strRef>
              <c:f>Sheet1!$A$2:$A$4</c:f>
              <c:strCache>
                <c:ptCount val="3"/>
                <c:pt idx="0">
                  <c:v>开发用 10 类</c:v>
                </c:pt>
                <c:pt idx="1">
                  <c:v>回归 8 类</c:v>
                </c:pt>
                <c:pt idx="2">
                  <c:v>冻结后新生成 10 类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4832</c:v>
                </c:pt>
                <c:pt idx="1">
                  <c:v>6903</c:v>
                </c:pt>
                <c:pt idx="2">
                  <c:v>6966</c:v>
                </c:pt>
              </c:numCache>
            </c:numRef>
          </c:val>
        </c:ser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latin typeface="Microsoft YaHe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300">
              <a:latin typeface="Microsoft YaHe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建议用时：10 秒</a:t>
            </a:r>
          </a:p>
          <a:p>
            <a:r>
              <a:t>开场：我们实现了 FIFO、LRU、Second chance、MIN 四个经典算法，并设计了自己的自适应算法。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建议用时：40 秒</a:t>
            </a:r>
          </a:p>
          <a:p>
            <a:r>
              <a:t>题目是 demand paging：进程启动时没有页面，缺页且内存满时必须选一个受害页换出，不能预取。现场评分是在没见过的 trace 上，页框 5、10、20、50、100 五档的平均缺页次数，越少越好。关键矛盾：最优算法 MIN 需要知道未来，真实系统不可能；所以我们的思路是从已经发生的历史里学习，去估计未来。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建议用时：50 秒</a:t>
            </a:r>
          </a:p>
          <a:p>
            <a:r>
              <a:t>前四个是课程要求的基本算法。FIFO 看进入内存的先后；LRU 看最近一次访问；Second chance 在 FIFO 基础上加访问位，给近期用过的页一次机会；MIN 看未来，是不可实现的理论下界。我们的算法同样只用历史，但同时看多种信号——间隔、前驱页、后继页，并由 25 个候选策略在线竞争，选当前最准的那个。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建议用时：60 秒</a:t>
            </a:r>
          </a:p>
          <a:p>
            <a:r>
              <a:t>横轴是页框数，纵轴是缺页次数，越低越好，虚线是 MIN 理论下界。观察：第一，FIFO、LRU、Second chance 在 5、10、20 页框时几乎重合在 100% 缺页——lu 和矩阵乘法是循环访问，循环长度超过内存时，这三个算法每次都换出马上要用的页。第二，我们的算法在所有页框下都贴近 MIN。第三，页框很大时，LRU 和 FIFO 才开始接近，但我们仍然更低。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建议用时：45 秒</a:t>
            </a:r>
          </a:p>
          <a:p>
            <a:r>
              <a:t>MIN 的做法是淘汰未来最晚被访问的页。我们没有未来，但可以估计：对每个驻留页，用它过去的访问间隔预测下一次访问的时间，再淘汰预测最远的那个。LRU 其实是一个特例——它假设最近访问的页下一次访问也最近。示意图中，A 的间隔很短、C 的间隔很长，所以淘汰 C。这个训练标签是页面真的再次出现之后才产生的，没有偷看未来。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建议用时：55 秒</a:t>
            </a:r>
          </a:p>
          <a:p>
            <a:r>
              <a:t>只用平均间隔会出问题。举一个示意例子：某页过去的访问间隔要么约 10，要么约 100。平均值是 55，哪一种情况都不是。如果它已经等了 20 还没出现，那么“间隔 10”的那一类已经排除，应当按 100 来预测。所以我们保存的是间隔分布，并且按当前已等待的时间做条件化。同时，同一页在不同程序路径下的间隔也不同，所以我们把前驱页、后继页作为上下文分开学习。参考了 LRB 的延迟标签、LHD 的“存活时间影响价值”以及 LeCaR 的在线组合思想，但都是自己实现、自己验证。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建议用时：50 秒</a:t>
            </a:r>
          </a:p>
          <a:p>
            <a:r>
              <a:t>实现上，每个请求只把当前页号交给算法。算法维护一份有界的历史观察；基于这份历史，25 个候选策略——包括 LRU、频率、片段重放、间隔预测、条件分布等——各自在“影子缓存”里模拟，影子里只有页号，不是真实页面。选择器用最近一段时间的衰减缺页损失给候选打分，领先超过门槛才切换，避免来回抖动。真实缓存永远只有 F 个页框，缺页时只淘汰一个页，并且只从真实驻留页里选，不被当前获胜者的影子保留。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建议用时：25 秒</a:t>
            </a:r>
          </a:p>
          <a:p>
            <a:r>
              <a:t>这一页回答可能的质疑。程序逐行读入，对象只能看到当前页号，拿不到整个文件、也不知道长度；不会按文件名或页号大小选择算法。影子缓存只记页号，永远不会把影子里的页放进真实缓存。我们用 Release、ASan、UBSan 做了测试，并且在很多短序列上与穷举得到的精确 OPT 做了对照，还检查了前缀一致性、页号重命名不变、流式与一次性读入一致。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建议用时：50 秒</a:t>
            </a:r>
          </a:p>
          <a:p>
            <a:r>
              <a:t>这是最核心的结果：对四条课程 trace 和五档页框做等权平均。我们的算法平均缺页 16,688，比 LRU 少 31.7%（LRU 是三个基本算法里最好的），只比读取了未来的理论下界 MIN 多 2.3%。需要诚实说明：这四条 trace 在开发时用过，所以它们不是盲测，后面会用冻结后新生成的序列验证。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建议用时：30 秒</a:t>
            </a:r>
          </a:p>
          <a:p>
            <a:r>
              <a:t>每一行是一条 trace 在五档页框上的平均缺页次数。我们的算法在 lu、mm16、mm32 上明显优于三个经典算法；在 qsort 上，因为 qsort 只有 524 次访问、192 个不同页，没有太多可学习的重复，所以各算法差距小，我们依然更低。绿色列是我们的算法。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建议用时：40 秒</a:t>
            </a:r>
          </a:p>
          <a:p>
            <a:r>
              <a:t>算法有两个主要参数。窗口系数决定选择器比较候选策略近期表现的时间窗口，历史系数决定每个页面可以保留多少历史。图中是四条课程 trace 平均缺页，越低越好。结论：窗口系数在 2 到 8 都比较稳定，太小则选择器过于敏感；历史系数太小时记不住足够的间隔信息，缺页明显上升，16 附近最好，继续加大收益消失。我们使用窗口系数 4、历史系数 16。这两个参数是在课程和开发数据上选的，所以不能当作对未知数据的保证。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建议用时：45 秒</a:t>
            </a:r>
          </a:p>
          <a:p>
            <a:r>
              <a:t>老师现场的 trace 不在给定数据集里，所以我们还生成了很多访问模式不同的序列：循环、矩阵、热点加扫描、Zipf、多个程序交错等。最右边一组是在算法冻结之后才生成、完全没有用来调参的 10 类序列。我们的算法仍然最少，比 LRU 少约 15%，距离 MIN 约 12%。要说明的是：也有不占优的：在 matrix_ikj_24 上比 LRU 多约 1%，在完全随机均匀访问 uniform_997 上与 LRU 持平——随机访问没有规律可学，任何算法都帮不上忙。这些都如实记录在报告里。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建议用时：30 秒</a:t>
            </a:r>
          </a:p>
          <a:p>
            <a:r>
              <a:t>代价方面：25 个影子缓存让模拟时间变长，mm32 五档合计约 4.5 秒，这是本机上程序端到端的模拟时间，不是操作系统真实的缺页延迟。内存是有界的，一百万行的纯扫描输入峰值约 20 MiB。局限方面：它依赖访问模式有重复；完全随机或第一次出现的页面无法预测；我们也不能保证在未知文件上拿第一。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建议用时：20 秒</a:t>
            </a:r>
          </a:p>
          <a:p>
            <a:r>
              <a:t>总结三点：第一，实现了 FIFO、LRU、Second chance、MIN 四个基本算法和我们自己的自适应算法，并做了页框数、不同 trace、不同参数的实验。第二，核心贡献是用条件复用分布预测下次访问时间，并让 25 个候选策略在线竞争。第三，在课程 trace 上平均缺页比 LRU 少三成多，只比理论下界多约两个百分点；在冻结后新生成的序列上仍然领先；同时我们也说明了局限。谢谢。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附录，不讲</a:t>
            </a:r>
          </a:p>
          <a:p>
            <a:r>
              <a:t>附录，不讲。Random 为 30 个固定种子的均值，其余均为确定性整数。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附录，不讲</a:t>
            </a:r>
          </a:p>
          <a:p>
            <a:r>
              <a:t>附录，不讲。Random 为 30 个固定种子的均值，其余均为确定性整数。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附录，不讲</a:t>
            </a:r>
          </a:p>
          <a:p>
            <a:r>
              <a:t>附录，不讲。Random 为 30 个固定种子的均值，其余均为确定性整数。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附录，不讲</a:t>
            </a:r>
          </a:p>
          <a:p>
            <a:r>
              <a:t>附录，不讲。Random 为 30 个固定种子的均值，其余均为确定性整数。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chart" Target="../charts/chart3.xml"/><Relationship Id="rId6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53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146304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005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Microsoft YaHei"/>
              </a:rPr>
              <a:t>页面替换算法设计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5156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2800" b="0">
                <a:solidFill>
                  <a:srgbClr val="E9DDF7"/>
                </a:solidFill>
                <a:latin typeface="Microsoft YaHei"/>
              </a:rPr>
              <a:t>Demand paging 下的自适应预测式页面替换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10515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E9DDF7"/>
                </a:solidFill>
                <a:latin typeface="Microsoft YaHei"/>
              </a:rPr>
              <a:t>One-Day Hackathon 汇报  ·  10.29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53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6536A0"/>
                </a:solidFill>
                <a:latin typeface="Microsoft YaHei"/>
              </a:rPr>
              <a:t>目标：用最少的缺页，处理没见过的访问序列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0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637083"/>
                </a:solidFill>
                <a:latin typeface="Microsoft YaHei"/>
              </a:rPr>
              <a:t>页面替换算法设计  ·  Demand paging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37083"/>
                </a:solidFill>
                <a:latin typeface="Microsoft YaHe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566160" cy="2286000"/>
          </a:xfrm>
          <a:prstGeom prst="roundRect">
            <a:avLst>
              <a:gd name="adj" fmla="val 8000"/>
            </a:avLst>
          </a:prstGeom>
          <a:solidFill>
            <a:srgbClr val="F3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3566160" cy="502920"/>
          </a:xfrm>
          <a:prstGeom prst="roundRect">
            <a:avLst>
              <a:gd name="adj" fmla="val 30000"/>
            </a:avLst>
          </a:prstGeom>
          <a:solidFill>
            <a:srgbClr val="653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89888"/>
            <a:ext cx="35661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规则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93392"/>
            <a:ext cx="3383279" cy="1600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222638"/>
                </a:solidFill>
                <a:latin typeface="Microsoft YaHei"/>
              </a:rPr>
              <a:t>• 只做 demand paging，不预取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222638"/>
                </a:solidFill>
                <a:latin typeface="Microsoft YaHei"/>
              </a:rPr>
              <a:t>• 每次缺页只换入当前页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222638"/>
                </a:solidFill>
                <a:latin typeface="Microsoft YaHei"/>
              </a:rPr>
              <a:t>• 页框 5/10/20/50/100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222638"/>
                </a:solidFill>
                <a:latin typeface="Microsoft YaHei"/>
              </a:rPr>
              <a:t>• 每档从空内存开始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371600"/>
            <a:ext cx="3566160" cy="2286000"/>
          </a:xfrm>
          <a:prstGeom prst="roundRect">
            <a:avLst>
              <a:gd name="adj" fmla="val 8000"/>
            </a:avLst>
          </a:prstGeom>
          <a:solidFill>
            <a:srgbClr val="F3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7680" y="1371600"/>
            <a:ext cx="3566160" cy="502920"/>
          </a:xfrm>
          <a:prstGeom prst="roundRect">
            <a:avLst>
              <a:gd name="adj" fmla="val 30000"/>
            </a:avLst>
          </a:prstGeom>
          <a:solidFill>
            <a:srgbClr val="653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389888"/>
            <a:ext cx="35661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评分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993392"/>
            <a:ext cx="3383279" cy="1600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700" b="0">
                <a:solidFill>
                  <a:srgbClr val="222638"/>
                </a:solidFill>
                <a:latin typeface="Microsoft YaHei"/>
              </a:rPr>
              <a:t>• 现场未知 trace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222638"/>
                </a:solidFill>
                <a:latin typeface="Microsoft YaHei"/>
              </a:rPr>
              <a:t>• 五档缺页次数的算术平均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222638"/>
                </a:solidFill>
                <a:latin typeface="Microsoft YaHei"/>
              </a:rPr>
              <a:t>• 越少越好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71600"/>
            <a:ext cx="3566160" cy="2286000"/>
          </a:xfrm>
          <a:prstGeom prst="roundRect">
            <a:avLst>
              <a:gd name="adj" fmla="val 8000"/>
            </a:avLst>
          </a:prstGeom>
          <a:solidFill>
            <a:srgbClr val="F3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1371600"/>
            <a:ext cx="3566160" cy="502920"/>
          </a:xfrm>
          <a:prstGeom prst="roundRect">
            <a:avLst>
              <a:gd name="adj" fmla="val 30000"/>
            </a:avLst>
          </a:prstGeom>
          <a:solidFill>
            <a:srgbClr val="08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1389888"/>
            <a:ext cx="35661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难点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1993392"/>
            <a:ext cx="3383279" cy="1600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700" b="0">
                <a:solidFill>
                  <a:srgbClr val="222638"/>
                </a:solidFill>
                <a:latin typeface="Microsoft YaHei"/>
              </a:rPr>
              <a:t>• MIN 要读未来，现实做不到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222638"/>
                </a:solidFill>
                <a:latin typeface="Microsoft YaHei"/>
              </a:rPr>
              <a:t>• 经典算法只看一种信号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222638"/>
                </a:solidFill>
                <a:latin typeface="Microsoft YaHei"/>
              </a:rPr>
              <a:t>• 访问模式因程序而异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69080"/>
            <a:ext cx="11064240" cy="1737360"/>
          </a:xfrm>
          <a:prstGeom prst="roundRect">
            <a:avLst>
              <a:gd name="adj" fmla="val 8000"/>
            </a:avLst>
          </a:prstGeom>
          <a:solidFill>
            <a:srgbClr val="E3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160520"/>
            <a:ext cx="3657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87F78"/>
                </a:solidFill>
                <a:latin typeface="Microsoft YaHei"/>
              </a:rPr>
              <a:t>我们的思路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617720"/>
            <a:ext cx="10607040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222638"/>
                </a:solidFill>
                <a:latin typeface="Microsoft YaHei"/>
              </a:rPr>
              <a:t>只用已经发生的访问历史，估计每个驻留页“下次还要多久才会被用到”，淘汰预计最晚被用到的页——在线地逼近 MIN。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53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6536A0"/>
                </a:solidFill>
                <a:latin typeface="Microsoft YaHei"/>
              </a:rPr>
              <a:t>五种算法：它们靠什么选择受害页？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0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637083"/>
                </a:solidFill>
                <a:latin typeface="Microsoft YaHei"/>
              </a:rPr>
              <a:t>页面替换算法设计  ·  Demand paging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37083"/>
                </a:solidFill>
                <a:latin typeface="Microsoft YaHe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210312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9AA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2103120" cy="640080"/>
          </a:xfrm>
          <a:prstGeom prst="roundRect">
            <a:avLst>
              <a:gd name="adj" fmla="val 25000"/>
            </a:avLst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21031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FIFO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1920239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637083"/>
                </a:solidFill>
                <a:latin typeface="Microsoft YaHei"/>
              </a:rPr>
              <a:t>依据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23160"/>
            <a:ext cx="1920239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22638"/>
                </a:solidFill>
                <a:latin typeface="Microsoft YaHei"/>
              </a:rPr>
              <a:t>进入内存最久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46120"/>
            <a:ext cx="1920239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637083"/>
                </a:solidFill>
                <a:latin typeface="Microsoft YaHei"/>
              </a:rPr>
              <a:t>做法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1920239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22638"/>
                </a:solidFill>
                <a:latin typeface="Microsoft YaHei"/>
              </a:rPr>
              <a:t>公平，但不管页面是否仍在使用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26280"/>
            <a:ext cx="1920239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637083"/>
                </a:solidFill>
                <a:latin typeface="Microsoft YaHei"/>
              </a:rPr>
              <a:t>特点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46320"/>
            <a:ext cx="1920239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22638"/>
                </a:solidFill>
                <a:latin typeface="Microsoft YaHei"/>
              </a:rPr>
              <a:t>最简单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88920" y="1325880"/>
            <a:ext cx="210312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98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88920" y="1325880"/>
            <a:ext cx="2103120" cy="640080"/>
          </a:xfrm>
          <a:prstGeom prst="roundRect">
            <a:avLst>
              <a:gd name="adj" fmla="val 25000"/>
            </a:avLst>
          </a:prstGeom>
          <a:solidFill>
            <a:srgbClr val="D9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88920" y="1371600"/>
            <a:ext cx="21031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LRU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2103120"/>
            <a:ext cx="1920239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637083"/>
                </a:solidFill>
                <a:latin typeface="Microsoft YaHei"/>
              </a:rPr>
              <a:t>依据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2423160"/>
            <a:ext cx="1920239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D98A0B"/>
                </a:solidFill>
                <a:latin typeface="Microsoft YaHei"/>
              </a:rPr>
              <a:t>最近最久未访问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3246120"/>
            <a:ext cx="1920239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637083"/>
                </a:solidFill>
                <a:latin typeface="Microsoft YaHei"/>
              </a:rPr>
              <a:t>做法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3566160"/>
            <a:ext cx="1920239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22638"/>
                </a:solidFill>
                <a:latin typeface="Microsoft YaHei"/>
              </a:rPr>
              <a:t>假设最近用过的会再用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4526280"/>
            <a:ext cx="1920239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637083"/>
                </a:solidFill>
                <a:latin typeface="Microsoft YaHei"/>
              </a:rPr>
              <a:t>特点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4846320"/>
            <a:ext cx="1920239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22638"/>
                </a:solidFill>
                <a:latin typeface="Microsoft YaHei"/>
              </a:rPr>
              <a:t>循环访问超过内存时反而全错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199" y="1325880"/>
            <a:ext cx="210312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6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199" y="1325880"/>
            <a:ext cx="2103120" cy="640080"/>
          </a:xfrm>
          <a:prstGeom prst="roundRect">
            <a:avLst>
              <a:gd name="adj" fmla="val 25000"/>
            </a:avLst>
          </a:prstGeom>
          <a:solidFill>
            <a:srgbClr val="2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199" y="1371600"/>
            <a:ext cx="21031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Second chance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39" y="2103120"/>
            <a:ext cx="1920239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637083"/>
                </a:solidFill>
                <a:latin typeface="Microsoft YaHei"/>
              </a:rPr>
              <a:t>依据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39" y="2423160"/>
            <a:ext cx="1920239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F6FD0"/>
                </a:solidFill>
                <a:latin typeface="Microsoft YaHei"/>
              </a:rPr>
              <a:t>FIFO + 访问位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39" y="3246120"/>
            <a:ext cx="1920239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637083"/>
                </a:solidFill>
                <a:latin typeface="Microsoft YaHei"/>
              </a:rPr>
              <a:t>做法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39" y="3566160"/>
            <a:ext cx="1920239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22638"/>
                </a:solidFill>
                <a:latin typeface="Microsoft YaHei"/>
              </a:rPr>
              <a:t>被访问过的页获得第二次机会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39" y="4526280"/>
            <a:ext cx="1920239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637083"/>
                </a:solidFill>
                <a:latin typeface="Microsoft YaHei"/>
              </a:rPr>
              <a:t>特点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39" y="4846320"/>
            <a:ext cx="1920239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22638"/>
                </a:solidFill>
                <a:latin typeface="Microsoft YaHei"/>
              </a:rPr>
              <a:t>只有 1 位信息，区分度低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69479" y="1325880"/>
            <a:ext cx="210312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269479" y="1325880"/>
            <a:ext cx="2103120" cy="640080"/>
          </a:xfrm>
          <a:prstGeom prst="roundRect">
            <a:avLst>
              <a:gd name="adj" fmla="val 25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69479" y="1371600"/>
            <a:ext cx="21031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MIN (OPT)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60919" y="2103120"/>
            <a:ext cx="1920239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637083"/>
                </a:solidFill>
                <a:latin typeface="Microsoft YaHei"/>
              </a:rPr>
              <a:t>依据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19" y="2423160"/>
            <a:ext cx="1920239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334155"/>
                </a:solidFill>
                <a:latin typeface="Microsoft YaHei"/>
              </a:rPr>
              <a:t>未来最晚才访问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60919" y="3246120"/>
            <a:ext cx="1920239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637083"/>
                </a:solidFill>
                <a:latin typeface="Microsoft YaHei"/>
              </a:rPr>
              <a:t>做法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0919" y="3566160"/>
            <a:ext cx="1920239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22638"/>
                </a:solidFill>
                <a:latin typeface="Microsoft YaHei"/>
              </a:rPr>
              <a:t>理论最优，现场不可用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0919" y="4526280"/>
            <a:ext cx="1920239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637083"/>
                </a:solidFill>
                <a:latin typeface="Microsoft YaHei"/>
              </a:rPr>
              <a:t>特点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60919" y="4846320"/>
            <a:ext cx="1920239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22638"/>
                </a:solidFill>
                <a:latin typeface="Microsoft YaHei"/>
              </a:rPr>
              <a:t>需要读取未来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09759" y="1325880"/>
            <a:ext cx="210312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87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509759" y="1325880"/>
            <a:ext cx="2103120" cy="640080"/>
          </a:xfrm>
          <a:prstGeom prst="roundRect">
            <a:avLst>
              <a:gd name="adj" fmla="val 25000"/>
            </a:avLst>
          </a:prstGeom>
          <a:solidFill>
            <a:srgbClr val="08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759" y="1371600"/>
            <a:ext cx="21031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我们的算法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199" y="2103120"/>
            <a:ext cx="1920239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637083"/>
                </a:solidFill>
                <a:latin typeface="Microsoft YaHei"/>
              </a:rPr>
              <a:t>依据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199" y="2423160"/>
            <a:ext cx="1920239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087F78"/>
                </a:solidFill>
                <a:latin typeface="Microsoft YaHei"/>
              </a:rPr>
              <a:t>预测下次访问时间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199" y="3246120"/>
            <a:ext cx="1920239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637083"/>
                </a:solidFill>
                <a:latin typeface="Microsoft YaHei"/>
              </a:rPr>
              <a:t>做法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199" y="3566160"/>
            <a:ext cx="1920239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22638"/>
                </a:solidFill>
                <a:latin typeface="Microsoft YaHei"/>
              </a:rPr>
              <a:t>间隔 + 上下文，多策略在线选择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199" y="4526280"/>
            <a:ext cx="1920239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637083"/>
                </a:solidFill>
                <a:latin typeface="Microsoft YaHei"/>
              </a:rPr>
              <a:t>特点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199" y="4846320"/>
            <a:ext cx="1920239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22638"/>
                </a:solidFill>
                <a:latin typeface="Microsoft YaHei"/>
              </a:rPr>
              <a:t>用计算换更少的缺页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5943600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637083"/>
                </a:solidFill>
                <a:latin typeface="Microsoft YaHei"/>
              </a:rPr>
              <a:t>另外也实现了 Random、LFU 作为参照；以下对比以这五种为主。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53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6536A0"/>
                </a:solidFill>
                <a:latin typeface="Microsoft YaHei"/>
              </a:rPr>
              <a:t>不同页框数下的缺页次数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0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637083"/>
                </a:solidFill>
                <a:latin typeface="Microsoft YaHei"/>
              </a:rPr>
              <a:t>页面替换算法设计  ·  Demand paging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37083"/>
                </a:solidFill>
                <a:latin typeface="Microsoft YaHei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70432"/>
            <a:ext cx="457200" cy="109728"/>
          </a:xfrm>
          <a:prstGeom prst="rect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005840"/>
            <a:ext cx="178308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22638"/>
                </a:solidFill>
                <a:latin typeface="Microsoft YaHei"/>
              </a:rPr>
              <a:t>FIFO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170432"/>
            <a:ext cx="457200" cy="109728"/>
          </a:xfrm>
          <a:prstGeom prst="rect">
            <a:avLst/>
          </a:prstGeom>
          <a:solidFill>
            <a:srgbClr val="D9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005840"/>
            <a:ext cx="178308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22638"/>
                </a:solidFill>
                <a:latin typeface="Microsoft YaHei"/>
              </a:rPr>
              <a:t>LRU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1170432"/>
            <a:ext cx="457200" cy="109728"/>
          </a:xfrm>
          <a:prstGeom prst="rect">
            <a:avLst/>
          </a:prstGeom>
          <a:solidFill>
            <a:srgbClr val="2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23559" y="1005840"/>
            <a:ext cx="178308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22638"/>
                </a:solidFill>
                <a:latin typeface="Microsoft YaHei"/>
              </a:rPr>
              <a:t>Second chance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1170432"/>
            <a:ext cx="457200" cy="10972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1005840"/>
            <a:ext cx="178308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22638"/>
                </a:solidFill>
                <a:latin typeface="Microsoft YaHei"/>
              </a:rPr>
              <a:t>MIN (OPT) 虚线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92640" y="1170432"/>
            <a:ext cx="457200" cy="109728"/>
          </a:xfrm>
          <a:prstGeom prst="rect">
            <a:avLst/>
          </a:prstGeom>
          <a:solidFill>
            <a:srgbClr val="08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95560" y="1005840"/>
            <a:ext cx="178308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22638"/>
                </a:solidFill>
                <a:latin typeface="Microsoft YaHei"/>
              </a:rPr>
              <a:t>我们的算法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411480" y="1463040"/>
          <a:ext cx="5669280" cy="2423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172200" y="1463040"/>
          <a:ext cx="5669280" cy="24231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411480" y="3931920"/>
          <a:ext cx="5669280" cy="242316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6172200" y="3931920"/>
          <a:ext cx="5669280" cy="242316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53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6536A0"/>
                </a:solidFill>
                <a:latin typeface="Microsoft YaHei"/>
              </a:rPr>
              <a:t>核心思想：预测“下次访问还有多久”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0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637083"/>
                </a:solidFill>
                <a:latin typeface="Microsoft YaHei"/>
              </a:rPr>
              <a:t>页面替换算法设计  ·  Demand paging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37083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222638"/>
                </a:solidFill>
                <a:latin typeface="Microsoft YaHei"/>
              </a:rPr>
              <a:t>缺页发生，内存已满：谁最晚才会被再次用到？（示意）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14630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222638"/>
                </a:solidFill>
                <a:latin typeface="Microsoft YaHei"/>
              </a:rPr>
              <a:t>页面 A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1993392"/>
            <a:ext cx="822960" cy="402336"/>
          </a:xfrm>
          <a:prstGeom prst="rect">
            <a:avLst/>
          </a:prstGeom>
          <a:solidFill>
            <a:srgbClr val="08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79" y="1920240"/>
            <a:ext cx="594360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087F78"/>
                </a:solidFill>
                <a:latin typeface="Microsoft YaHei"/>
              </a:rPr>
              <a:t>预计很快再用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34640"/>
            <a:ext cx="14630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222638"/>
                </a:solidFill>
                <a:latin typeface="Microsoft YaHei"/>
              </a:rPr>
              <a:t>页面 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2907792"/>
            <a:ext cx="2377440" cy="402336"/>
          </a:xfrm>
          <a:prstGeom prst="rect">
            <a:avLst/>
          </a:prstGeom>
          <a:solidFill>
            <a:srgbClr val="2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834640"/>
            <a:ext cx="594360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F6FD0"/>
                </a:solidFill>
                <a:latin typeface="Microsoft YaHei"/>
              </a:rPr>
              <a:t>预计较晚再用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49039"/>
            <a:ext cx="14630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222638"/>
                </a:solidFill>
                <a:latin typeface="Microsoft YaHei"/>
              </a:rPr>
              <a:t>页面 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3822191"/>
            <a:ext cx="5577840" cy="40233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59" y="3749039"/>
            <a:ext cx="594360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C0392B"/>
                </a:solidFill>
                <a:latin typeface="Microsoft YaHei"/>
              </a:rPr>
              <a:t>预计最晚再用  → 淘汰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663440"/>
            <a:ext cx="9144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637083"/>
                </a:solidFill>
                <a:latin typeface="Microsoft YaHei"/>
              </a:rPr>
              <a:t>← 现在                                                                    预测的下次访问时间 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20640"/>
            <a:ext cx="11064240" cy="1188720"/>
          </a:xfrm>
          <a:prstGeom prst="roundRect">
            <a:avLst>
              <a:gd name="adj" fmla="val 8000"/>
            </a:avLst>
          </a:prstGeom>
          <a:solidFill>
            <a:srgbClr val="F3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212080"/>
            <a:ext cx="10607040" cy="1005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22638"/>
                </a:solidFill>
                <a:latin typeface="Microsoft YaHei"/>
              </a:rPr>
              <a:t>为什么比 LRU 好：LRU 只看“上次什么时候用过”；我们看“这页通常隔多久回来”。循环访问时，刚用过的页恰恰最晚才被再用。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53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6536A0"/>
                </a:solidFill>
                <a:latin typeface="Microsoft YaHei"/>
              </a:rPr>
              <a:t>新信号：等待时间本身就是信息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0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637083"/>
                </a:solidFill>
                <a:latin typeface="Microsoft YaHei"/>
              </a:rPr>
              <a:t>页面替换算法设计  ·  Demand paging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37083"/>
                </a:solidFill>
                <a:latin typeface="Microsoft YaHe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F3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394960" cy="502920"/>
          </a:xfrm>
          <a:prstGeom prst="roundRect">
            <a:avLst>
              <a:gd name="adj" fmla="val 30000"/>
            </a:avLst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98448"/>
            <a:ext cx="53949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只用平均值（容易错）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01952"/>
            <a:ext cx="5212080" cy="1965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100" b="0">
                <a:solidFill>
                  <a:srgbClr val="222638"/>
                </a:solidFill>
                <a:latin typeface="Microsoft YaHei"/>
              </a:rPr>
              <a:t>示意：历史间隔 10、100、10、100</a:t>
            </a:r>
          </a:p>
          <a:p>
            <a:pPr>
              <a:spcAft>
                <a:spcPts val="400"/>
              </a:spcAft>
            </a:pPr>
            <a:r>
              <a:rPr sz="2100" b="0">
                <a:solidFill>
                  <a:srgbClr val="222638"/>
                </a:solidFill>
                <a:latin typeface="Microsoft YaHei"/>
              </a:rPr>
              <a:t>平均 ≈ 55 —— 实际从不出现</a:t>
            </a:r>
          </a:p>
          <a:p>
            <a:pPr>
              <a:spcAft>
                <a:spcPts val="400"/>
              </a:spcAft>
            </a:pPr>
            <a:r>
              <a:rPr sz="2100" b="0">
                <a:solidFill>
                  <a:srgbClr val="222638"/>
                </a:solidFill>
                <a:latin typeface="Microsoft YaHei"/>
              </a:rPr>
              <a:t>页面已等待 20，仍按 55 预测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E3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394960" cy="502920"/>
          </a:xfrm>
          <a:prstGeom prst="roundRect">
            <a:avLst>
              <a:gd name="adj" fmla="val 30000"/>
            </a:avLst>
          </a:prstGeom>
          <a:solidFill>
            <a:srgbClr val="08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298448"/>
            <a:ext cx="53949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条件复用分布（我们）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1901952"/>
            <a:ext cx="5212080" cy="1965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100" b="0">
                <a:solidFill>
                  <a:srgbClr val="222638"/>
                </a:solidFill>
                <a:latin typeface="Microsoft YaHei"/>
              </a:rPr>
              <a:t>已等待 20 → 排除“间隔 10”</a:t>
            </a:r>
          </a:p>
          <a:p>
            <a:pPr>
              <a:spcAft>
                <a:spcPts val="400"/>
              </a:spcAft>
            </a:pPr>
            <a:r>
              <a:rPr sz="2100" b="0">
                <a:solidFill>
                  <a:srgbClr val="222638"/>
                </a:solidFill>
                <a:latin typeface="Microsoft YaHei"/>
              </a:rPr>
              <a:t>只保留大于 20 的历史间隔</a:t>
            </a:r>
          </a:p>
          <a:p>
            <a:pPr>
              <a:spcAft>
                <a:spcPts val="400"/>
              </a:spcAft>
            </a:pPr>
            <a:r>
              <a:rPr sz="2100" b="0">
                <a:solidFill>
                  <a:srgbClr val="222638"/>
                </a:solidFill>
                <a:latin typeface="Microsoft YaHei"/>
              </a:rPr>
              <a:t>预测 ≈ 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54864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6536A0"/>
                </a:solidFill>
                <a:latin typeface="Microsoft YaHei"/>
              </a:rPr>
              <a:t>怎样实现（有界内存）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72000"/>
            <a:ext cx="11064240" cy="1828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800" b="0">
                <a:solidFill>
                  <a:srgbClr val="222638"/>
                </a:solidFill>
                <a:latin typeface="Microsoft YaHei"/>
              </a:rPr>
              <a:t>• 每组最多 16 个加权“间隔簇”，旧证据每次乘 0.98，适应访问模式变化</a:t>
            </a:r>
          </a:p>
          <a:p>
            <a:pPr>
              <a:spcAft>
                <a:spcPts val="500"/>
              </a:spcAft>
            </a:pPr>
            <a:r>
              <a:rPr sz="1800" b="0">
                <a:solidFill>
                  <a:srgbClr val="222638"/>
                </a:solidFill>
                <a:latin typeface="Microsoft YaHei"/>
              </a:rPr>
              <a:t>• 分组上下文：最近间隔、前后间隔对、前驱页、后继页</a:t>
            </a:r>
          </a:p>
          <a:p>
            <a:pPr>
              <a:spcAft>
                <a:spcPts val="500"/>
              </a:spcAft>
            </a:pPr>
            <a:r>
              <a:rPr sz="1800" b="0">
                <a:solidFill>
                  <a:srgbClr val="222638"/>
                </a:solidFill>
                <a:latin typeface="Microsoft YaHei"/>
              </a:rPr>
              <a:t>• 页面已被淘汰出历史表 → 记为“尚未返回”，加有限惩罚</a:t>
            </a:r>
          </a:p>
          <a:p>
            <a:pPr>
              <a:spcAft>
                <a:spcPts val="500"/>
              </a:spcAft>
            </a:pPr>
            <a:r>
              <a:rPr sz="1800" b="0">
                <a:solidFill>
                  <a:srgbClr val="222638"/>
                </a:solidFill>
                <a:latin typeface="Microsoft YaHei"/>
              </a:rPr>
              <a:t>• “后继页”指已经到达的当前页，不是偷看下一页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53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6536A0"/>
                </a:solidFill>
                <a:latin typeface="Microsoft YaHei"/>
              </a:rPr>
              <a:t>怎么落地：25 个候选策略在线竞争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0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637083"/>
                </a:solidFill>
                <a:latin typeface="Microsoft YaHei"/>
              </a:rPr>
              <a:t>页面替换算法设计  ·  Demand paging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37083"/>
                </a:solidFill>
                <a:latin typeface="Microsoft YaHe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1920240" cy="1828800"/>
          </a:xfrm>
          <a:prstGeom prst="roundRect">
            <a:avLst>
              <a:gd name="adj" fmla="val 8000"/>
            </a:avLst>
          </a:prstGeom>
          <a:solidFill>
            <a:srgbClr val="A78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192024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当前页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51760"/>
            <a:ext cx="192024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</a:rPr>
              <a:t>每次只输入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</a:rPr>
              <a:t>一个页号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14600" y="2514600"/>
            <a:ext cx="274320" cy="457200"/>
          </a:xfrm>
          <a:prstGeom prst="rightArrow">
            <a:avLst/>
          </a:prstGeom>
          <a:solidFill>
            <a:srgbClr val="637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34640" y="1828800"/>
            <a:ext cx="1920240" cy="1828800"/>
          </a:xfrm>
          <a:prstGeom prst="roundRect">
            <a:avLst>
              <a:gd name="adj" fmla="val 8000"/>
            </a:avLst>
          </a:prstGeom>
          <a:solidFill>
            <a:srgbClr val="653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1965960"/>
            <a:ext cx="192024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历史观察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651760"/>
            <a:ext cx="192024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</a:rPr>
              <a:t>间隔分布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</a:rPr>
              <a:t>前驱 / 后继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00600" y="2514600"/>
            <a:ext cx="274320" cy="457200"/>
          </a:xfrm>
          <a:prstGeom prst="rightArrow">
            <a:avLst/>
          </a:prstGeom>
          <a:solidFill>
            <a:srgbClr val="637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20640" y="1828800"/>
            <a:ext cx="1920240" cy="1828800"/>
          </a:xfrm>
          <a:prstGeom prst="roundRect">
            <a:avLst>
              <a:gd name="adj" fmla="val 8000"/>
            </a:avLst>
          </a:prstGeom>
          <a:solidFill>
            <a:srgbClr val="653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1965960"/>
            <a:ext cx="192024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25 个候选策略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651760"/>
            <a:ext cx="192024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</a:rPr>
              <a:t>影子缓存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</a:rPr>
              <a:t>各自模拟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086599" y="2514600"/>
            <a:ext cx="274320" cy="457200"/>
          </a:xfrm>
          <a:prstGeom prst="rightArrow">
            <a:avLst/>
          </a:prstGeom>
          <a:solidFill>
            <a:srgbClr val="637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06640" y="1828800"/>
            <a:ext cx="1920240" cy="1828800"/>
          </a:xfrm>
          <a:prstGeom prst="roundRect">
            <a:avLst>
              <a:gd name="adj" fmla="val 8000"/>
            </a:avLst>
          </a:prstGeom>
          <a:solidFill>
            <a:srgbClr val="08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1965960"/>
            <a:ext cx="192024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选择器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651760"/>
            <a:ext cx="192024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</a:rPr>
              <a:t>衰减缺页损失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</a:rPr>
              <a:t>+ 切换门槛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372600" y="2514600"/>
            <a:ext cx="274320" cy="457200"/>
          </a:xfrm>
          <a:prstGeom prst="rightArrow">
            <a:avLst/>
          </a:prstGeom>
          <a:solidFill>
            <a:srgbClr val="637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92640" y="1828800"/>
            <a:ext cx="1920240" cy="1828800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0" y="1965960"/>
            <a:ext cx="192024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真实缓存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2651760"/>
            <a:ext cx="192024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</a:rPr>
              <a:t>F 个页框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</a:rPr>
              <a:t>逐次合法淘汰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3794760"/>
            <a:ext cx="21031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37083"/>
                </a:solidFill>
                <a:latin typeface="Microsoft YaHei"/>
              </a:rPr>
              <a:t>命中 / 缺页统计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297680"/>
            <a:ext cx="5394960" cy="1920240"/>
          </a:xfrm>
          <a:prstGeom prst="roundRect">
            <a:avLst>
              <a:gd name="adj" fmla="val 8000"/>
            </a:avLst>
          </a:prstGeom>
          <a:solidFill>
            <a:srgbClr val="F3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8640" y="4297680"/>
            <a:ext cx="5394960" cy="502920"/>
          </a:xfrm>
          <a:prstGeom prst="roundRect">
            <a:avLst>
              <a:gd name="adj" fmla="val 30000"/>
            </a:avLst>
          </a:prstGeom>
          <a:solidFill>
            <a:srgbClr val="653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315968"/>
            <a:ext cx="53949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候选策略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919472"/>
            <a:ext cx="5212080" cy="12344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700" b="0">
                <a:solidFill>
                  <a:srgbClr val="222638"/>
                </a:solidFill>
                <a:latin typeface="Microsoft YaHei"/>
              </a:rPr>
              <a:t>• LRU、频率、随机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222638"/>
                </a:solidFill>
                <a:latin typeface="Microsoft YaHei"/>
              </a:rPr>
              <a:t>• 间隔预测、重放、条件分布、上下文 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297680"/>
            <a:ext cx="5394960" cy="1920240"/>
          </a:xfrm>
          <a:prstGeom prst="roundRect">
            <a:avLst>
              <a:gd name="adj" fmla="val 8000"/>
            </a:avLst>
          </a:prstGeom>
          <a:solidFill>
            <a:srgbClr val="F3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17920" y="4297680"/>
            <a:ext cx="5394960" cy="502920"/>
          </a:xfrm>
          <a:prstGeom prst="roundRect">
            <a:avLst>
              <a:gd name="adj" fmla="val 30000"/>
            </a:avLst>
          </a:prstGeom>
          <a:solidFill>
            <a:srgbClr val="08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4315968"/>
            <a:ext cx="53949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选择规则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59" y="4919472"/>
            <a:ext cx="5212080" cy="12344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700" b="0">
                <a:solidFill>
                  <a:srgbClr val="222638"/>
                </a:solidFill>
                <a:latin typeface="Microsoft YaHei"/>
              </a:rPr>
              <a:t>• 损失 L ← (1 − 1/W)·L + 本次是否缺页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222638"/>
                </a:solidFill>
                <a:latin typeface="Microsoft YaHei"/>
              </a:rPr>
              <a:t>• W = max(32, 8F)；领先超过 W/20 才切换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53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6536A0"/>
                </a:solidFill>
                <a:latin typeface="Microsoft YaHei"/>
              </a:rPr>
              <a:t>遵守规则：没有预取，也没有偷看未来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0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637083"/>
                </a:solidFill>
                <a:latin typeface="Microsoft YaHei"/>
              </a:rPr>
              <a:t>页面替换算法设计  ·  Demand paging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37083"/>
                </a:solidFill>
                <a:latin typeface="Microsoft YaHei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4406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87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64008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3800" b="1">
                <a:solidFill>
                  <a:srgbClr val="087F78"/>
                </a:solidFill>
                <a:latin typeface="Microsoft YaHe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417319"/>
            <a:ext cx="44805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2100" b="1">
                <a:solidFill>
                  <a:srgbClr val="222638"/>
                </a:solidFill>
                <a:latin typeface="Microsoft YaHei"/>
              </a:rPr>
              <a:t>只能 on-demand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20239"/>
            <a:ext cx="448056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637083"/>
                </a:solidFill>
                <a:latin typeface="Microsoft YaHei"/>
              </a:rPr>
              <a:t>缺页才换入，每次只换入当前页，不预取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280160"/>
            <a:ext cx="54406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87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554480"/>
            <a:ext cx="64008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3800" b="1">
                <a:solidFill>
                  <a:srgbClr val="087F78"/>
                </a:solidFill>
                <a:latin typeface="Microsoft YaHe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417319"/>
            <a:ext cx="44805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2100" b="1">
                <a:solidFill>
                  <a:srgbClr val="222638"/>
                </a:solidFill>
                <a:latin typeface="Microsoft YaHei"/>
              </a:rPr>
              <a:t>不看未来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20239"/>
            <a:ext cx="448056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637083"/>
                </a:solidFill>
                <a:latin typeface="Microsoft YaHei"/>
              </a:rPr>
              <a:t>接口一次只收到当前页号，无文件句柄、无长度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926080"/>
            <a:ext cx="54406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87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200400"/>
            <a:ext cx="64008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3800" b="1">
                <a:solidFill>
                  <a:srgbClr val="087F78"/>
                </a:solidFill>
                <a:latin typeface="Microsoft YaHe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063240"/>
            <a:ext cx="44805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2100" b="1">
                <a:solidFill>
                  <a:srgbClr val="222638"/>
                </a:solidFill>
                <a:latin typeface="Microsoft YaHei"/>
              </a:rPr>
              <a:t>真实页框不超限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566160"/>
            <a:ext cx="448056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637083"/>
                </a:solidFill>
                <a:latin typeface="Microsoft YaHei"/>
              </a:rPr>
              <a:t>影子只含页号；真实缓存始终 ≤ F 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926080"/>
            <a:ext cx="54406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87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200400"/>
            <a:ext cx="64008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3800" b="1">
                <a:solidFill>
                  <a:srgbClr val="087F78"/>
                </a:solidFill>
                <a:latin typeface="Microsoft YaHe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3063240"/>
            <a:ext cx="44805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2100" b="1">
                <a:solidFill>
                  <a:srgbClr val="222638"/>
                </a:solidFill>
                <a:latin typeface="Microsoft YaHei"/>
              </a:rPr>
              <a:t>不依赖文件名 / 页号大小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3566160"/>
            <a:ext cx="448056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637083"/>
                </a:solidFill>
                <a:latin typeface="Microsoft YaHei"/>
              </a:rPr>
              <a:t>页号已是页号，不再除以页大小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572000"/>
            <a:ext cx="54406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87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846320"/>
            <a:ext cx="64008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3800" b="1">
                <a:solidFill>
                  <a:srgbClr val="087F78"/>
                </a:solidFill>
                <a:latin typeface="Microsoft YaHe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709160"/>
            <a:ext cx="44805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2100" b="1">
                <a:solidFill>
                  <a:srgbClr val="222638"/>
                </a:solidFill>
                <a:latin typeface="Microsoft YaHei"/>
              </a:rPr>
              <a:t>结果可复现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212080"/>
            <a:ext cx="448056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637083"/>
                </a:solidFill>
                <a:latin typeface="Microsoft YaHei"/>
              </a:rPr>
              <a:t>随机算法使用 30 个固定种子；全部原始数据保留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572000"/>
            <a:ext cx="54406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87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4846320"/>
            <a:ext cx="64008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3800" b="1">
                <a:solidFill>
                  <a:srgbClr val="087F78"/>
                </a:solidFill>
                <a:latin typeface="Microsoft YaHe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4709160"/>
            <a:ext cx="44805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2100" b="1">
                <a:solidFill>
                  <a:srgbClr val="222638"/>
                </a:solidFill>
                <a:latin typeface="Microsoft YaHei"/>
              </a:rPr>
              <a:t>测试通过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5212080"/>
            <a:ext cx="448056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637083"/>
                </a:solidFill>
                <a:latin typeface="Microsoft YaHei"/>
              </a:rPr>
              <a:t>Release + ASan + UBSan；与精确 OPT 对照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53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6536A0"/>
                </a:solidFill>
                <a:latin typeface="Microsoft YaHei"/>
              </a:rPr>
              <a:t>总体结果：四条课程 trace × 五档页框的平均缺页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0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637083"/>
                </a:solidFill>
                <a:latin typeface="Microsoft YaHei"/>
              </a:rPr>
              <a:t>页面替换算法设计  ·  Demand paging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37083"/>
                </a:solidFill>
                <a:latin typeface="Microsoft YaHei"/>
              </a:rPr>
              <a:t>9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097280"/>
          <a:ext cx="7863840" cy="5212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595360" y="1280160"/>
            <a:ext cx="3108960" cy="4846320"/>
          </a:xfrm>
          <a:prstGeom prst="roundRect">
            <a:avLst>
              <a:gd name="adj" fmla="val 8000"/>
            </a:avLst>
          </a:prstGeom>
          <a:solidFill>
            <a:srgbClr val="F3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1463040"/>
            <a:ext cx="292608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087F78"/>
                </a:solidFill>
                <a:latin typeface="Microsoft YaHei"/>
              </a:rPr>
              <a:t>−31.7%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286000"/>
            <a:ext cx="29260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637083"/>
                </a:solidFill>
                <a:latin typeface="Microsoft YaHei"/>
              </a:rPr>
              <a:t>相对 LRU 的缺页减少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200400"/>
            <a:ext cx="292608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334155"/>
                </a:solidFill>
                <a:latin typeface="Microsoft YaHei"/>
              </a:rPr>
              <a:t>+2.3%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4023360"/>
            <a:ext cx="29260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637083"/>
                </a:solidFill>
                <a:latin typeface="Microsoft YaHei"/>
              </a:rPr>
              <a:t>距离 MIN 理论下界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4754880"/>
            <a:ext cx="292608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222638"/>
                </a:solidFill>
                <a:latin typeface="Microsoft YaHei"/>
              </a:rPr>
              <a:t>基本算法约 2.4–2.5 万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222638"/>
                </a:solidFill>
                <a:latin typeface="Microsoft YaHei"/>
              </a:rPr>
              <a:t>我们 16,688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53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6536A0"/>
                </a:solidFill>
                <a:latin typeface="Microsoft YaHei"/>
              </a:rPr>
              <a:t>不同访问序列：每条 trace 的平均缺页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0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637083"/>
                </a:solidFill>
                <a:latin typeface="Microsoft YaHei"/>
              </a:rPr>
              <a:t>页面替换算法设计  ·  Demand paging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37083"/>
                </a:solidFill>
                <a:latin typeface="Microsoft YaHei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605"/>
                <a:gridCol w="1580605"/>
                <a:gridCol w="1580605"/>
                <a:gridCol w="1580605"/>
                <a:gridCol w="1580605"/>
                <a:gridCol w="1580605"/>
                <a:gridCol w="1580610"/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</a:rPr>
                        <a:t>Trace</a:t>
                      </a:r>
                    </a:p>
                  </a:txBody>
                  <a:tcPr anchor="ctr"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</a:rPr>
                        <a:t>FIFO</a:t>
                      </a:r>
                    </a:p>
                  </a:txBody>
                  <a:tcPr anchor="ctr"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</a:rPr>
                        <a:t>LRU</a:t>
                      </a:r>
                    </a:p>
                  </a:txBody>
                  <a:tcPr anchor="ctr"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</a:rPr>
                        <a:t>Second chance</a:t>
                      </a:r>
                    </a:p>
                  </a:txBody>
                  <a:tcPr anchor="ctr"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</a:rPr>
                        <a:t>MIN (OPT)</a:t>
                      </a:r>
                    </a:p>
                  </a:txBody>
                  <a:tcPr anchor="ctr"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</a:rPr>
                        <a:t>我们的算法</a:t>
                      </a:r>
                    </a:p>
                  </a:txBody>
                  <a:tcPr anchor="ctr"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</a:rPr>
                        <a:t>较最佳经典算法少</a:t>
                      </a:r>
                    </a:p>
                  </a:txBody>
                  <a:tcPr anchor="ctr">
                    <a:solidFill>
                      <a:srgbClr val="6536A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638"/>
                          </a:solidFill>
                          <a:latin typeface="Microsoft YaHei"/>
                        </a:rPr>
                        <a:t>qsort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22638"/>
                          </a:solidFill>
                          <a:latin typeface="Microsoft YaHei"/>
                        </a:rPr>
                        <a:t>396.0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22638"/>
                          </a:solidFill>
                          <a:latin typeface="Microsoft YaHei"/>
                        </a:rPr>
                        <a:t>394.0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22638"/>
                          </a:solidFill>
                          <a:latin typeface="Microsoft YaHei"/>
                        </a:rPr>
                        <a:t>394.8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22638"/>
                          </a:solidFill>
                          <a:latin typeface="Microsoft YaHei"/>
                        </a:rPr>
                        <a:t>302.0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87F78"/>
                          </a:solidFill>
                          <a:latin typeface="Microsoft YaHei"/>
                        </a:rPr>
                        <a:t>326.2</a:t>
                      </a:r>
                    </a:p>
                  </a:txBody>
                  <a:tcPr anchor="ctr">
                    <a:solidFill>
                      <a:srgbClr val="E3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22638"/>
                          </a:solidFill>
                          <a:latin typeface="Microsoft YaHei"/>
                        </a:rPr>
                        <a:t>17.2%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638"/>
                          </a:solidFill>
                          <a:latin typeface="Microsoft YaHei"/>
                        </a:rPr>
                        <a:t>lu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22638"/>
                          </a:solidFill>
                          <a:latin typeface="Microsoft YaHei"/>
                        </a:rPr>
                        <a:t>37,086.6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22638"/>
                          </a:solidFill>
                          <a:latin typeface="Microsoft YaHei"/>
                        </a:rPr>
                        <a:t>36,093.6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22638"/>
                          </a:solidFill>
                          <a:latin typeface="Microsoft YaHei"/>
                        </a:rPr>
                        <a:t>36,143.0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22638"/>
                          </a:solidFill>
                          <a:latin typeface="Microsoft YaHei"/>
                        </a:rPr>
                        <a:t>25,293.8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87F78"/>
                          </a:solidFill>
                          <a:latin typeface="Microsoft YaHei"/>
                        </a:rPr>
                        <a:t>26,115.2</a:t>
                      </a:r>
                    </a:p>
                  </a:txBody>
                  <a:tcPr anchor="ctr">
                    <a:solidFill>
                      <a:srgbClr val="E3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22638"/>
                          </a:solidFill>
                          <a:latin typeface="Microsoft YaHei"/>
                        </a:rPr>
                        <a:t>27.6%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638"/>
                          </a:solidFill>
                          <a:latin typeface="Microsoft YaHei"/>
                        </a:rPr>
                        <a:t>mm16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22638"/>
                          </a:solidFill>
                          <a:latin typeface="Microsoft YaHei"/>
                        </a:rPr>
                        <a:t>6,978.4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22638"/>
                          </a:solidFill>
                          <a:latin typeface="Microsoft YaHei"/>
                        </a:rPr>
                        <a:t>6,630.6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22638"/>
                          </a:solidFill>
                          <a:latin typeface="Microsoft YaHei"/>
                        </a:rPr>
                        <a:t>6,642.4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22638"/>
                          </a:solidFill>
                          <a:latin typeface="Microsoft YaHei"/>
                        </a:rPr>
                        <a:t>4,188.2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87F78"/>
                          </a:solidFill>
                          <a:latin typeface="Microsoft YaHei"/>
                        </a:rPr>
                        <a:t>4,421.2</a:t>
                      </a:r>
                    </a:p>
                  </a:txBody>
                  <a:tcPr anchor="ctr">
                    <a:solidFill>
                      <a:srgbClr val="E3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22638"/>
                          </a:solidFill>
                          <a:latin typeface="Microsoft YaHei"/>
                        </a:rPr>
                        <a:t>33.3%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638"/>
                          </a:solidFill>
                          <a:latin typeface="Microsoft YaHei"/>
                        </a:rPr>
                        <a:t>mm32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22638"/>
                          </a:solidFill>
                          <a:latin typeface="Microsoft YaHei"/>
                        </a:rPr>
                        <a:t>57,052.4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22638"/>
                          </a:solidFill>
                          <a:latin typeface="Microsoft YaHei"/>
                        </a:rPr>
                        <a:t>54,633.8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22638"/>
                          </a:solidFill>
                          <a:latin typeface="Microsoft YaHei"/>
                        </a:rPr>
                        <a:t>54,703.4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22638"/>
                          </a:solidFill>
                          <a:latin typeface="Microsoft YaHei"/>
                        </a:rPr>
                        <a:t>35,455.2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87F78"/>
                          </a:solidFill>
                          <a:latin typeface="Microsoft YaHei"/>
                        </a:rPr>
                        <a:t>35,891.2</a:t>
                      </a:r>
                    </a:p>
                  </a:txBody>
                  <a:tcPr anchor="ctr">
                    <a:solidFill>
                      <a:srgbClr val="E3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22638"/>
                          </a:solidFill>
                          <a:latin typeface="Microsoft YaHei"/>
                        </a:rPr>
                        <a:t>34.3%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637083"/>
                </a:solidFill>
                <a:latin typeface="Microsoft YaHei"/>
              </a:rPr>
              <a:t>数字为五档页框（5、10、20、50、100）缺页次数的平均值。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440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637083"/>
                </a:solidFill>
                <a:latin typeface="Microsoft YaHei"/>
              </a:rPr>
              <a:t>完整的逐页框数字见附录。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53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6536A0"/>
                </a:solidFill>
                <a:latin typeface="Microsoft YaHei"/>
              </a:rPr>
              <a:t>算法参数的影响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0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637083"/>
                </a:solidFill>
                <a:latin typeface="Microsoft YaHei"/>
              </a:rPr>
              <a:t>页面替换算法设计  ·  Demand paging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37083"/>
                </a:solidFill>
                <a:latin typeface="Microsoft YaHei"/>
              </a:rPr>
              <a:t>11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11480" y="1554480"/>
          <a:ext cx="566928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1051560"/>
            <a:ext cx="5669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6536A0"/>
                </a:solidFill>
                <a:latin typeface="Microsoft YaHei"/>
              </a:rPr>
              <a:t>窗口系数（选择器比较窗口）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172200" y="1554480"/>
          <a:ext cx="5669280" cy="38404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172200" y="1051560"/>
            <a:ext cx="5669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6536A0"/>
                </a:solidFill>
                <a:latin typeface="Microsoft YaHei"/>
              </a:rPr>
              <a:t>历史系数（每页历史容量）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637083"/>
                </a:solidFill>
                <a:latin typeface="Microsoft YaHei"/>
              </a:rPr>
              <a:t>纵轴：四条课程 trace 的平均缺页次数（已截断起点）；绿色为我们采用的取值。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22638"/>
                </a:solidFill>
                <a:latin typeface="Microsoft YaHei"/>
              </a:rPr>
              <a:t>默认：窗口系数 = 4，历史系数 = 16。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53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6536A0"/>
                </a:solidFill>
                <a:latin typeface="Microsoft YaHei"/>
              </a:rPr>
              <a:t>换一批序列：构造的循环、热点、Zipf、混合程序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0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637083"/>
                </a:solidFill>
                <a:latin typeface="Microsoft YaHei"/>
              </a:rPr>
              <a:t>页面替换算法设计  ·  Demand paging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37083"/>
                </a:solidFill>
                <a:latin typeface="Microsoft YaHei"/>
              </a:rPr>
              <a:t>12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097280"/>
          <a:ext cx="8046720" cy="5212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0" y="1280160"/>
            <a:ext cx="3017520" cy="4846320"/>
          </a:xfrm>
          <a:prstGeom prst="roundRect">
            <a:avLst>
              <a:gd name="adj" fmla="val 8000"/>
            </a:avLst>
          </a:prstGeom>
          <a:solidFill>
            <a:srgbClr val="F3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1371600"/>
            <a:ext cx="283464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6536A0"/>
                </a:solidFill>
                <a:latin typeface="Microsoft YaHei"/>
              </a:rPr>
              <a:t>新构造序列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920240"/>
            <a:ext cx="283464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4200" b="1">
                <a:solidFill>
                  <a:srgbClr val="087F78"/>
                </a:solidFill>
                <a:latin typeface="Microsoft YaHei"/>
              </a:rPr>
              <a:t>−15.4%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2743200"/>
            <a:ext cx="28346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637083"/>
                </a:solidFill>
                <a:latin typeface="Microsoft YaHei"/>
              </a:rPr>
              <a:t>相对 LRU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3383280"/>
            <a:ext cx="283464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4200" b="1">
                <a:solidFill>
                  <a:srgbClr val="334155"/>
                </a:solidFill>
                <a:latin typeface="Microsoft YaHei"/>
              </a:rPr>
              <a:t>+12.0%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4206240"/>
            <a:ext cx="28346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637083"/>
                </a:solidFill>
                <a:latin typeface="Microsoft YaHei"/>
              </a:rPr>
              <a:t>距离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4709160"/>
            <a:ext cx="2834640" cy="1280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637083"/>
                </a:solidFill>
                <a:latin typeface="Microsoft YaHei"/>
              </a:rPr>
              <a:t>这 10 类序列在算法冻结后才生成，未用于调参；个别序列略差于 LRU（如 matrix_ikj_24），已如实记录。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53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6536A0"/>
                </a:solidFill>
                <a:latin typeface="Microsoft YaHei"/>
              </a:rPr>
              <a:t>开销与局限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0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637083"/>
                </a:solidFill>
                <a:latin typeface="Microsoft YaHei"/>
              </a:rPr>
              <a:t>页面替换算法设计  ·  Demand paging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37083"/>
                </a:solidFill>
                <a:latin typeface="Microsoft YaHe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394960" cy="2468880"/>
          </a:xfrm>
          <a:prstGeom prst="roundRect">
            <a:avLst>
              <a:gd name="adj" fmla="val 8000"/>
            </a:avLst>
          </a:prstGeom>
          <a:solidFill>
            <a:srgbClr val="F3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394960" cy="502920"/>
          </a:xfrm>
          <a:prstGeom prst="roundRect">
            <a:avLst>
              <a:gd name="adj" fmla="val 30000"/>
            </a:avLst>
          </a:prstGeom>
          <a:solidFill>
            <a:srgbClr val="653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98448"/>
            <a:ext cx="53949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代价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01952"/>
            <a:ext cx="5212080" cy="1783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900" b="0">
                <a:solidFill>
                  <a:srgbClr val="222638"/>
                </a:solidFill>
                <a:latin typeface="Microsoft YaHei"/>
              </a:rPr>
              <a:t>• mm32（67,235 次访问）五档合计约 4.5 秒</a:t>
            </a:r>
          </a:p>
          <a:p>
            <a:pPr>
              <a:spcAft>
                <a:spcPts val="400"/>
              </a:spcAft>
            </a:pPr>
            <a:r>
              <a:rPr sz="1900" b="0">
                <a:solidFill>
                  <a:srgbClr val="222638"/>
                </a:solidFill>
                <a:latin typeface="Microsoft YaHei"/>
              </a:rPr>
              <a:t>• 一百万行纯扫描：峰值内存约 20 MiB</a:t>
            </a:r>
          </a:p>
          <a:p>
            <a:pPr>
              <a:spcAft>
                <a:spcPts val="400"/>
              </a:spcAft>
            </a:pPr>
            <a:r>
              <a:rPr sz="1900" b="0">
                <a:solidFill>
                  <a:srgbClr val="222638"/>
                </a:solidFill>
                <a:latin typeface="Microsoft YaHei"/>
              </a:rPr>
              <a:t>• 内存随页框数有界，与输入长度无关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394960" cy="2468880"/>
          </a:xfrm>
          <a:prstGeom prst="roundRect">
            <a:avLst>
              <a:gd name="adj" fmla="val 8000"/>
            </a:avLst>
          </a:prstGeom>
          <a:solidFill>
            <a:srgbClr val="F3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394960" cy="502920"/>
          </a:xfrm>
          <a:prstGeom prst="roundRect">
            <a:avLst>
              <a:gd name="adj" fmla="val 3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298448"/>
            <a:ext cx="53949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局限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1901952"/>
            <a:ext cx="5212080" cy="1783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900" b="0">
                <a:solidFill>
                  <a:srgbClr val="222638"/>
                </a:solidFill>
                <a:latin typeface="Microsoft YaHei"/>
              </a:rPr>
              <a:t>• 依赖访问模式有重复</a:t>
            </a:r>
          </a:p>
          <a:p>
            <a:pPr>
              <a:spcAft>
                <a:spcPts val="400"/>
              </a:spcAft>
            </a:pPr>
            <a:r>
              <a:rPr sz="1900" b="0">
                <a:solidFill>
                  <a:srgbClr val="222638"/>
                </a:solidFill>
                <a:latin typeface="Microsoft YaHei"/>
              </a:rPr>
              <a:t>• 完全随机、第一次出现的页无法预测</a:t>
            </a:r>
          </a:p>
          <a:p>
            <a:pPr>
              <a:spcAft>
                <a:spcPts val="400"/>
              </a:spcAft>
            </a:pPr>
            <a:r>
              <a:rPr sz="1900" b="0">
                <a:solidFill>
                  <a:srgbClr val="222638"/>
                </a:solidFill>
                <a:latin typeface="Microsoft YaHei"/>
              </a:rPr>
              <a:t>• 不保证任意未知输入都第一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69080"/>
            <a:ext cx="11064240" cy="2148840"/>
          </a:xfrm>
          <a:prstGeom prst="roundRect">
            <a:avLst>
              <a:gd name="adj" fmla="val 8000"/>
            </a:avLst>
          </a:prstGeom>
          <a:solidFill>
            <a:srgbClr val="E3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160520"/>
            <a:ext cx="3657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87F78"/>
                </a:solidFill>
                <a:latin typeface="Microsoft YaHei"/>
              </a:rPr>
              <a:t>现场使用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63440"/>
            <a:ext cx="10607040" cy="1371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222638"/>
                </a:solidFill>
                <a:latin typeface="Microsoft YaHei"/>
              </a:rPr>
              <a:t>直接读取老师给的文件，一行一个页号，输出五档缺页次数和平均值。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222638"/>
                </a:solidFill>
                <a:latin typeface="Microsoft YaHei"/>
              </a:rPr>
              <a:t>演练（mm32）：55,006 · 48,712 · 37,986 · 19,730 · 18,022，平均 35,891.20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53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6536A0"/>
                </a:solidFill>
                <a:latin typeface="Microsoft YaHei"/>
              </a:rPr>
              <a:t>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0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637083"/>
                </a:solidFill>
                <a:latin typeface="Microsoft YaHei"/>
              </a:rPr>
              <a:t>页面替换算法设计  ·  Demand paging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37083"/>
                </a:solidFill>
                <a:latin typeface="Microsoft YaHei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11064240" cy="1051560"/>
          </a:xfrm>
          <a:prstGeom prst="roundRect">
            <a:avLst>
              <a:gd name="adj" fmla="val 8000"/>
            </a:avLst>
          </a:prstGeom>
          <a:solidFill>
            <a:srgbClr val="F3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463039"/>
            <a:ext cx="685800" cy="685800"/>
          </a:xfrm>
          <a:prstGeom prst="ellipse">
            <a:avLst/>
          </a:prstGeom>
          <a:solidFill>
            <a:srgbClr val="08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39"/>
            <a:ext cx="68580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371600"/>
            <a:ext cx="97840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2100" b="1">
                <a:solidFill>
                  <a:srgbClr val="222638"/>
                </a:solidFill>
                <a:latin typeface="Microsoft YaHei"/>
              </a:rPr>
              <a:t>五种算法完整对比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10512"/>
            <a:ext cx="97840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637083"/>
                </a:solidFill>
                <a:latin typeface="Microsoft YaHei"/>
              </a:rPr>
              <a:t>FIFO · LRU · Second chance · MIN · 我们的算法；5 种页框、4 条 trace、多组参数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14600"/>
            <a:ext cx="11064240" cy="1051560"/>
          </a:xfrm>
          <a:prstGeom prst="roundRect">
            <a:avLst>
              <a:gd name="adj" fmla="val 8000"/>
            </a:avLst>
          </a:prstGeom>
          <a:solidFill>
            <a:srgbClr val="F3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2697480"/>
            <a:ext cx="685800" cy="685800"/>
          </a:xfrm>
          <a:prstGeom prst="ellipse">
            <a:avLst/>
          </a:prstGeom>
          <a:solidFill>
            <a:srgbClr val="08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68580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606040"/>
            <a:ext cx="97840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2100" b="1">
                <a:solidFill>
                  <a:srgbClr val="222638"/>
                </a:solidFill>
                <a:latin typeface="Microsoft YaHei"/>
              </a:rPr>
              <a:t>核心贡献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044952"/>
            <a:ext cx="97840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637083"/>
                </a:solidFill>
                <a:latin typeface="Microsoft YaHei"/>
              </a:rPr>
              <a:t>条件复用分布预测下次访问时间；25 个候选策略在线竞争，真实页框始终合法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749039"/>
            <a:ext cx="11064240" cy="1051560"/>
          </a:xfrm>
          <a:prstGeom prst="roundRect">
            <a:avLst>
              <a:gd name="adj" fmla="val 8000"/>
            </a:avLst>
          </a:prstGeom>
          <a:solidFill>
            <a:srgbClr val="F3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3931920"/>
            <a:ext cx="685800" cy="685800"/>
          </a:xfrm>
          <a:prstGeom prst="ellipse">
            <a:avLst/>
          </a:prstGeom>
          <a:solidFill>
            <a:srgbClr val="08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931920"/>
            <a:ext cx="68580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840479"/>
            <a:ext cx="97840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2100" b="1">
                <a:solidFill>
                  <a:srgbClr val="222638"/>
                </a:solidFill>
                <a:latin typeface="Microsoft YaHei"/>
              </a:rPr>
              <a:t>结果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279392"/>
            <a:ext cx="97840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637083"/>
                </a:solidFill>
                <a:latin typeface="Microsoft YaHei"/>
              </a:rPr>
              <a:t>课程 trace 平均缺页比 LRU 少 32%，仅比理论下界 MIN 多 2.3%；新构造序列仍领先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983480"/>
            <a:ext cx="11064240" cy="1051560"/>
          </a:xfrm>
          <a:prstGeom prst="roundRect">
            <a:avLst>
              <a:gd name="adj" fmla="val 8000"/>
            </a:avLst>
          </a:prstGeom>
          <a:solidFill>
            <a:srgbClr val="F3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1520" y="5166360"/>
            <a:ext cx="685800" cy="685800"/>
          </a:xfrm>
          <a:prstGeom prst="ellipse">
            <a:avLst/>
          </a:prstGeom>
          <a:solidFill>
            <a:srgbClr val="08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166360"/>
            <a:ext cx="68580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074920"/>
            <a:ext cx="97840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2100" b="1">
                <a:solidFill>
                  <a:srgbClr val="222638"/>
                </a:solidFill>
                <a:latin typeface="Microsoft YaHei"/>
              </a:rPr>
              <a:t>诚实说明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5513832"/>
            <a:ext cx="97840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637083"/>
                </a:solidFill>
                <a:latin typeface="Microsoft YaHei"/>
              </a:rPr>
              <a:t>依赖访问模式重复；未知文件不保证第一；四条课程 trace 参与过开发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53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6536A0"/>
                </a:solidFill>
                <a:latin typeface="Microsoft YaHei"/>
              </a:rPr>
              <a:t>附录：qsort 完整缺页次数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0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637083"/>
                </a:solidFill>
                <a:latin typeface="Microsoft YaHei"/>
              </a:rPr>
              <a:t>页面替换算法设计  ·  Demand paging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37083"/>
                </a:solidFill>
                <a:latin typeface="Microsoft YaHei"/>
              </a:rPr>
              <a:t>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030"/>
                <a:gridCol w="1383030"/>
                <a:gridCol w="1383030"/>
                <a:gridCol w="1383030"/>
                <a:gridCol w="1383030"/>
                <a:gridCol w="1383030"/>
                <a:gridCol w="1383030"/>
                <a:gridCol w="1383030"/>
              </a:tblGrid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页框数</a:t>
                      </a:r>
                    </a:p>
                  </a:txBody>
                  <a:tcPr anchor="ctr"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Random</a:t>
                      </a:r>
                    </a:p>
                  </a:txBody>
                  <a:tcPr anchor="ctr"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FIFO</a:t>
                      </a:r>
                    </a:p>
                  </a:txBody>
                  <a:tcPr anchor="ctr"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MIN (OPT)</a:t>
                      </a:r>
                    </a:p>
                  </a:txBody>
                  <a:tcPr anchor="ctr"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LFU</a:t>
                      </a:r>
                    </a:p>
                  </a:txBody>
                  <a:tcPr anchor="ctr"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LRU</a:t>
                      </a:r>
                    </a:p>
                  </a:txBody>
                  <a:tcPr anchor="ctr"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Second chance</a:t>
                      </a:r>
                    </a:p>
                  </a:txBody>
                  <a:tcPr anchor="ctr"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我们的算法</a:t>
                      </a:r>
                    </a:p>
                  </a:txBody>
                  <a:tcPr anchor="ctr">
                    <a:solidFill>
                      <a:srgbClr val="6536A0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523.1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524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463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524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524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524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87F78"/>
                          </a:solidFill>
                          <a:latin typeface="Microsoft YaHei"/>
                        </a:rPr>
                        <a:t>479</a:t>
                      </a:r>
                    </a:p>
                  </a:txBody>
                  <a:tcPr anchor="ctr">
                    <a:solidFill>
                      <a:srgbClr val="E3F4F2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502.5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524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389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524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524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524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87F78"/>
                          </a:solidFill>
                          <a:latin typeface="Microsoft YaHei"/>
                        </a:rPr>
                        <a:t>430</a:t>
                      </a:r>
                    </a:p>
                  </a:txBody>
                  <a:tcPr anchor="ctr">
                    <a:solidFill>
                      <a:srgbClr val="E3F4F2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389.8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524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274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524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524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524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87F78"/>
                          </a:solidFill>
                          <a:latin typeface="Microsoft YaHei"/>
                        </a:rPr>
                        <a:t>324</a:t>
                      </a:r>
                    </a:p>
                  </a:txBody>
                  <a:tcPr anchor="ctr">
                    <a:solidFill>
                      <a:srgbClr val="E3F4F2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217.7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209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192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199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199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203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87F78"/>
                          </a:solidFill>
                          <a:latin typeface="Microsoft YaHei"/>
                        </a:rPr>
                        <a:t>199</a:t>
                      </a:r>
                    </a:p>
                  </a:txBody>
                  <a:tcPr anchor="ctr">
                    <a:solidFill>
                      <a:srgbClr val="E3F4F2"/>
                    </a:solidFill>
                  </a:tcPr>
                </a:tc>
              </a:tr>
              <a:tr h="640084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100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196.3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199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192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199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199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199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87F78"/>
                          </a:solidFill>
                          <a:latin typeface="Microsoft YaHei"/>
                        </a:rPr>
                        <a:t>199</a:t>
                      </a:r>
                    </a:p>
                  </a:txBody>
                  <a:tcPr anchor="ctr">
                    <a:solidFill>
                      <a:srgbClr val="E3F4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53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6536A0"/>
                </a:solidFill>
                <a:latin typeface="Microsoft YaHei"/>
              </a:rPr>
              <a:t>附录：lu 完整缺页次数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0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637083"/>
                </a:solidFill>
                <a:latin typeface="Microsoft YaHei"/>
              </a:rPr>
              <a:t>页面替换算法设计  ·  Demand paging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37083"/>
                </a:solidFill>
                <a:latin typeface="Microsoft YaHei"/>
              </a:rPr>
              <a:t>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030"/>
                <a:gridCol w="1383030"/>
                <a:gridCol w="1383030"/>
                <a:gridCol w="1383030"/>
                <a:gridCol w="1383030"/>
                <a:gridCol w="1383030"/>
                <a:gridCol w="1383030"/>
                <a:gridCol w="1383030"/>
              </a:tblGrid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页框数</a:t>
                      </a:r>
                    </a:p>
                  </a:txBody>
                  <a:tcPr anchor="ctr"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Random</a:t>
                      </a:r>
                    </a:p>
                  </a:txBody>
                  <a:tcPr anchor="ctr"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FIFO</a:t>
                      </a:r>
                    </a:p>
                  </a:txBody>
                  <a:tcPr anchor="ctr"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MIN (OPT)</a:t>
                      </a:r>
                    </a:p>
                  </a:txBody>
                  <a:tcPr anchor="ctr"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LFU</a:t>
                      </a:r>
                    </a:p>
                  </a:txBody>
                  <a:tcPr anchor="ctr"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LRU</a:t>
                      </a:r>
                    </a:p>
                  </a:txBody>
                  <a:tcPr anchor="ctr"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Second chance</a:t>
                      </a:r>
                    </a:p>
                  </a:txBody>
                  <a:tcPr anchor="ctr"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我们的算法</a:t>
                      </a:r>
                    </a:p>
                  </a:txBody>
                  <a:tcPr anchor="ctr">
                    <a:solidFill>
                      <a:srgbClr val="6536A0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41,708.4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41,832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34,076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41,832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41,832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41,832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87F78"/>
                          </a:solidFill>
                          <a:latin typeface="Microsoft YaHei"/>
                        </a:rPr>
                        <a:t>34,426</a:t>
                      </a:r>
                    </a:p>
                  </a:txBody>
                  <a:tcPr anchor="ctr">
                    <a:solidFill>
                      <a:srgbClr val="E3F4F2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40,317.5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41,832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28,722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41,832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41,832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41,832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87F78"/>
                          </a:solidFill>
                          <a:latin typeface="Microsoft YaHei"/>
                        </a:rPr>
                        <a:t>29,594</a:t>
                      </a:r>
                    </a:p>
                  </a:txBody>
                  <a:tcPr anchor="ctr">
                    <a:solidFill>
                      <a:srgbClr val="E3F4F2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36,796.5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41,832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26,922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41,832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41,832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41,832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87F78"/>
                          </a:solidFill>
                          <a:latin typeface="Microsoft YaHei"/>
                        </a:rPr>
                        <a:t>27,672</a:t>
                      </a:r>
                    </a:p>
                  </a:txBody>
                  <a:tcPr anchor="ctr">
                    <a:solidFill>
                      <a:srgbClr val="E3F4F2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30,923.2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32,073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21,880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34,653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28,475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28,736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87F78"/>
                          </a:solidFill>
                          <a:latin typeface="Microsoft YaHei"/>
                        </a:rPr>
                        <a:t>22,930</a:t>
                      </a:r>
                    </a:p>
                  </a:txBody>
                  <a:tcPr anchor="ctr">
                    <a:solidFill>
                      <a:srgbClr val="E3F4F2"/>
                    </a:solidFill>
                  </a:tcPr>
                </a:tc>
              </a:tr>
              <a:tr h="640084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100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23,802.3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27,864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14,869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32,969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26,497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26,483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87F78"/>
                          </a:solidFill>
                          <a:latin typeface="Microsoft YaHei"/>
                        </a:rPr>
                        <a:t>15,954</a:t>
                      </a:r>
                    </a:p>
                  </a:txBody>
                  <a:tcPr anchor="ctr">
                    <a:solidFill>
                      <a:srgbClr val="E3F4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53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6536A0"/>
                </a:solidFill>
                <a:latin typeface="Microsoft YaHei"/>
              </a:rPr>
              <a:t>附录：mm16 完整缺页次数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0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637083"/>
                </a:solidFill>
                <a:latin typeface="Microsoft YaHei"/>
              </a:rPr>
              <a:t>页面替换算法设计  ·  Demand paging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37083"/>
                </a:solidFill>
                <a:latin typeface="Microsoft YaHei"/>
              </a:rPr>
              <a:t>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030"/>
                <a:gridCol w="1383030"/>
                <a:gridCol w="1383030"/>
                <a:gridCol w="1383030"/>
                <a:gridCol w="1383030"/>
                <a:gridCol w="1383030"/>
                <a:gridCol w="1383030"/>
                <a:gridCol w="1383030"/>
              </a:tblGrid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页框数</a:t>
                      </a:r>
                    </a:p>
                  </a:txBody>
                  <a:tcPr anchor="ctr"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Random</a:t>
                      </a:r>
                    </a:p>
                  </a:txBody>
                  <a:tcPr anchor="ctr"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FIFO</a:t>
                      </a:r>
                    </a:p>
                  </a:txBody>
                  <a:tcPr anchor="ctr"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MIN (OPT)</a:t>
                      </a:r>
                    </a:p>
                  </a:txBody>
                  <a:tcPr anchor="ctr"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LFU</a:t>
                      </a:r>
                    </a:p>
                  </a:txBody>
                  <a:tcPr anchor="ctr"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LRU</a:t>
                      </a:r>
                    </a:p>
                  </a:txBody>
                  <a:tcPr anchor="ctr"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Second chance</a:t>
                      </a:r>
                    </a:p>
                  </a:txBody>
                  <a:tcPr anchor="ctr"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我们的算法</a:t>
                      </a:r>
                    </a:p>
                  </a:txBody>
                  <a:tcPr anchor="ctr">
                    <a:solidFill>
                      <a:srgbClr val="6536A0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9,046.6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9,075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7,407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9,075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9,075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9,075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87F78"/>
                          </a:solidFill>
                          <a:latin typeface="Microsoft YaHei"/>
                        </a:rPr>
                        <a:t>7,548</a:t>
                      </a:r>
                    </a:p>
                  </a:txBody>
                  <a:tcPr anchor="ctr">
                    <a:solidFill>
                      <a:srgbClr val="E3F4F2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8,625.4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9,075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5,990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9,075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9,075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9,075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87F78"/>
                          </a:solidFill>
                          <a:latin typeface="Microsoft YaHei"/>
                        </a:rPr>
                        <a:t>6,136</a:t>
                      </a:r>
                    </a:p>
                  </a:txBody>
                  <a:tcPr anchor="ctr">
                    <a:solidFill>
                      <a:srgbClr val="E3F4F2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6,922.1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9,075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3,426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9,075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9,075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9,075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87F78"/>
                          </a:solidFill>
                          <a:latin typeface="Microsoft YaHei"/>
                        </a:rPr>
                        <a:t>3,612</a:t>
                      </a:r>
                    </a:p>
                  </a:txBody>
                  <a:tcPr anchor="ctr">
                    <a:solidFill>
                      <a:srgbClr val="E3F4F2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4,292.1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4,180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2,461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6,642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2,964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3,023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87F78"/>
                          </a:solidFill>
                          <a:latin typeface="Microsoft YaHei"/>
                        </a:rPr>
                        <a:t>2,715</a:t>
                      </a:r>
                    </a:p>
                  </a:txBody>
                  <a:tcPr anchor="ctr">
                    <a:solidFill>
                      <a:srgbClr val="E3F4F2"/>
                    </a:solidFill>
                  </a:tcPr>
                </a:tc>
              </a:tr>
              <a:tr h="640084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100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2,964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3,487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1,657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6,077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2,964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2,964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87F78"/>
                          </a:solidFill>
                          <a:latin typeface="Microsoft YaHei"/>
                        </a:rPr>
                        <a:t>2,095</a:t>
                      </a:r>
                    </a:p>
                  </a:txBody>
                  <a:tcPr anchor="ctr">
                    <a:solidFill>
                      <a:srgbClr val="E3F4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53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6536A0"/>
                </a:solidFill>
                <a:latin typeface="Microsoft YaHei"/>
              </a:rPr>
              <a:t>附录：mm32 完整缺页次数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0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637083"/>
                </a:solidFill>
                <a:latin typeface="Microsoft YaHei"/>
              </a:rPr>
              <a:t>页面替换算法设计  ·  Demand paging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37083"/>
                </a:solidFill>
                <a:latin typeface="Microsoft YaHei"/>
              </a:rPr>
              <a:t>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030"/>
                <a:gridCol w="1383030"/>
                <a:gridCol w="1383030"/>
                <a:gridCol w="1383030"/>
                <a:gridCol w="1383030"/>
                <a:gridCol w="1383030"/>
                <a:gridCol w="1383030"/>
                <a:gridCol w="1383030"/>
              </a:tblGrid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页框数</a:t>
                      </a:r>
                    </a:p>
                  </a:txBody>
                  <a:tcPr anchor="ctr"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Random</a:t>
                      </a:r>
                    </a:p>
                  </a:txBody>
                  <a:tcPr anchor="ctr"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FIFO</a:t>
                      </a:r>
                    </a:p>
                  </a:txBody>
                  <a:tcPr anchor="ctr"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MIN (OPT)</a:t>
                      </a:r>
                    </a:p>
                  </a:txBody>
                  <a:tcPr anchor="ctr"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LFU</a:t>
                      </a:r>
                    </a:p>
                  </a:txBody>
                  <a:tcPr anchor="ctr"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LRU</a:t>
                      </a:r>
                    </a:p>
                  </a:txBody>
                  <a:tcPr anchor="ctr"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Second chance</a:t>
                      </a:r>
                    </a:p>
                  </a:txBody>
                  <a:tcPr anchor="ctr"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我们的算法</a:t>
                      </a:r>
                    </a:p>
                  </a:txBody>
                  <a:tcPr anchor="ctr">
                    <a:solidFill>
                      <a:srgbClr val="6536A0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67,071.2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67,235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54,807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67,235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67,235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67,235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87F78"/>
                          </a:solidFill>
                          <a:latin typeface="Microsoft YaHei"/>
                        </a:rPr>
                        <a:t>55,006</a:t>
                      </a:r>
                    </a:p>
                  </a:txBody>
                  <a:tcPr anchor="ctr">
                    <a:solidFill>
                      <a:srgbClr val="E3F4F2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65,301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67,235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48,109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67,235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67,235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67,235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87F78"/>
                          </a:solidFill>
                          <a:latin typeface="Microsoft YaHei"/>
                        </a:rPr>
                        <a:t>48,712</a:t>
                      </a:r>
                    </a:p>
                  </a:txBody>
                  <a:tcPr anchor="ctr">
                    <a:solidFill>
                      <a:srgbClr val="E3F4F2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59,191.5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67,235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37,682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67,235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67,235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67,235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87F78"/>
                          </a:solidFill>
                          <a:latin typeface="Microsoft YaHei"/>
                        </a:rPr>
                        <a:t>37,986</a:t>
                      </a:r>
                    </a:p>
                  </a:txBody>
                  <a:tcPr anchor="ctr">
                    <a:solidFill>
                      <a:srgbClr val="E3F4F2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39,745.6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55,136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19,164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53,805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51,860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51,865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87F78"/>
                          </a:solidFill>
                          <a:latin typeface="Microsoft YaHei"/>
                        </a:rPr>
                        <a:t>19,730</a:t>
                      </a:r>
                    </a:p>
                  </a:txBody>
                  <a:tcPr anchor="ctr">
                    <a:solidFill>
                      <a:srgbClr val="E3F4F2"/>
                    </a:solidFill>
                  </a:tcPr>
                </a:tc>
              </a:tr>
              <a:tr h="640084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100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28,090.6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28,421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17,514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51,699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19,604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638"/>
                          </a:solidFill>
                          <a:latin typeface="Microsoft YaHei"/>
                        </a:rPr>
                        <a:t>19,947</a:t>
                      </a:r>
                    </a:p>
                  </a:txBody>
                  <a:tcPr anchor="ctr"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87F78"/>
                          </a:solidFill>
                          <a:latin typeface="Microsoft YaHei"/>
                        </a:rPr>
                        <a:t>18,022</a:t>
                      </a:r>
                    </a:p>
                  </a:txBody>
                  <a:tcPr anchor="ctr">
                    <a:solidFill>
                      <a:srgbClr val="E3F4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