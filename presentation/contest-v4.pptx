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page faults</c:v>
                </c:pt>
              </c:strCache>
            </c:strRef>
          </c:tx>
          <c:spPr>
            <a:solidFill>
              <a:srgbClr val="94A3B8"/>
            </a:solidFill>
          </c:spPr>
          <c:dPt>
            <c:idx val="0"/>
            <c:spPr>
              <a:solidFill>
                <a:srgbClr val="CBD5E1"/>
              </a:solidFill>
            </c:spPr>
          </c:dPt>
          <c:dPt>
            <c:idx val="1"/>
            <c:spPr>
              <a:solidFill>
                <a:srgbClr val="087F78"/>
              </a:solidFill>
            </c:spPr>
          </c:dPt>
          <c:dPt>
            <c:idx val="2"/>
            <c:spPr>
              <a:solidFill>
                <a:srgbClr val="6536A0"/>
              </a:solidFill>
            </c:spPr>
          </c:dPt>
          <c:dPt>
            <c:idx val="3"/>
            <c:spPr>
              <a:solidFill>
                <a:srgbClr val="CBD5E1"/>
              </a:solidFill>
            </c:spPr>
          </c:dPt>
          <c:dPt>
            <c:idx val="4"/>
            <c:spPr>
              <a:solidFill>
                <a:srgbClr val="CBD5E1"/>
              </a:solidFill>
            </c:spPr>
          </c:dPt>
          <c:dPt>
            <c:idx val="5"/>
            <c:spPr>
              <a:solidFill>
                <a:srgbClr val="CBD5E1"/>
              </a:solidFill>
            </c:spPr>
          </c:dPt>
          <c:dPt>
            <c:idx val="6"/>
            <c:spPr>
              <a:solidFill>
                <a:srgbClr val="CBD5E1"/>
              </a:solidFill>
            </c:spPr>
          </c:dPt>
          <c:dPt>
            <c:idx val="7"/>
            <c:spPr>
              <a:solidFill>
                <a:srgbClr val="CBD5E1"/>
              </a:solidFill>
            </c:spPr>
          </c:dPt>
          <c:cat>
            <c:strRef>
              <c:f>Sheet1!$A$2:$A$9</c:f>
              <c:strCache>
                <c:ptCount val="8"/>
                <c:pt idx="0">
                  <c:v>OPT</c:v>
                </c:pt>
                <c:pt idx="1">
                  <c:v>V4</c:v>
                </c:pt>
                <c:pt idx="2">
                  <c:v>V3</c:v>
                </c:pt>
                <c:pt idx="3">
                  <c:v>Random</c:v>
                </c:pt>
                <c:pt idx="4">
                  <c:v>LRU</c:v>
                </c:pt>
                <c:pt idx="5">
                  <c:v>Clock</c:v>
                </c:pt>
                <c:pt idx="6">
                  <c:v>FIFO</c:v>
                </c:pt>
                <c:pt idx="7">
                  <c:v>LFU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16309.8</c:v>
                </c:pt>
                <c:pt idx="1">
                  <c:v>17002.35</c:v>
                </c:pt>
                <c:pt idx="2">
                  <c:v>17100.79333333333</c:v>
                </c:pt>
                <c:pt idx="3">
                  <c:v>23331.371666666666</c:v>
                </c:pt>
                <c:pt idx="4">
                  <c:v>24438.0</c:v>
                </c:pt>
                <c:pt idx="5">
                  <c:v>24470.9</c:v>
                </c:pt>
                <c:pt idx="6">
                  <c:v>25378.35</c:v>
                </c:pt>
                <c:pt idx="7">
                  <c:v>27112.05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建议用时：20 秒</a:t>
            </a:r>
          </a:p>
          <a:p>
            <a:r>
              <a:t>今天介绍一个只看过去的页面替换组合策略。我们在队友 V3 的基础上继续优化，重点是现场能读未知文件并按规定报告五档平均。OPT 只是参照，正式算法不看未来。</a:t>
            </a:r>
          </a:p>
          <a:p>
            <a:r>
              <a:t>数据与实现来源：REPORT.md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建议用时：35 秒</a:t>
            </a:r>
          </a:p>
          <a:p>
            <a:r>
              <a:t>五档各自从空内存开始。一次访问只能命中或者缺页，只有缺页才装入当前页。报告最后一行是五个整数缺页次数相加除以五，不是缺页率平均。</a:t>
            </a:r>
          </a:p>
          <a:p>
            <a:r>
              <a:t>数据与实现来源：REPORT.md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建议用时：35 秒</a:t>
            </a:r>
          </a:p>
          <a:p>
            <a:r>
              <a:t>FIFO、MIN、LRU、Second chance 是要求的四个对照；另外保留 Random 和 LFU。LFU 是当前驻留期间的频次，卸载后重置。V3 已经通过历史复用间隔取得很好的效果，因此新增收益不是从弱基线开始。</a:t>
            </a:r>
          </a:p>
          <a:p>
            <a:r>
              <a:t>数据与实现来源：REPORT.md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建议用时：55 秒</a:t>
            </a:r>
          </a:p>
          <a:p>
            <a:r>
              <a:t>Gap 是每个页面的间隔指数平滑。Replay 匹配过去的相同访问后缀。Frequency 应对稳定热点。新页没有自己的间隔，所以 Cold prior 借用近期复用间隔的统计；Signature 从相同上下文其他页学到间隔。两个新页机制都可能出错，由在线选择器约束。</a:t>
            </a:r>
          </a:p>
          <a:p>
            <a:r>
              <a:t>数据与实现来源：src/context.cpp；REPORT.md §2.1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 秒</a:t>
            </a:r>
          </a:p>
          <a:p>
            <a:r>
              <a:t>七个影子都只处理历史。每次完成请求，把该策略的缺页记成一，命中记成零，累积时衰减旧证据。选专家前只能读上一次的损失。周期检查并要求显著超过门槛，避免循环中一点波动就切换。</a:t>
            </a:r>
          </a:p>
          <a:p>
            <a:r>
              <a:t>数据与实现来源：src/context.cpp: OnlineAdaptive::Impl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</a:t>
            </a:r>
          </a:p>
          <a:p>
            <a:r>
              <a:t>这是最重要的合法性说明。当前页进入影子后，真实缓存若缺页，淘汰它有但影子不保留的某页。只装入当前请求页，逐步接近所选策略。真实命中时不为同步影子而替换。影子模拟开销必须承认，但不能把页号元数据当作多缓存了页面内容。</a:t>
            </a:r>
          </a:p>
          <a:p>
            <a:r>
              <a:t>数据与实现来源：REPORT.md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建议用时：45 秒</a:t>
            </a:r>
          </a:p>
          <a:p>
            <a:r>
              <a:t>这是四条轨迹乘五档页框的等权平均。Random、V3、V4 各使用相同的三十个种子。V4 在二十个配置上十五个更好、五个持平，但它仍比离线最优高约百分之四点二五。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建议用时：60 秒</a:t>
            </a:r>
          </a:p>
          <a:p>
            <a:r>
              <a:t>小页框最容易让 LRU 抖动。mm32 的五十页框从二万一千一百七十九降至一万九千九百零九，新上下文预测起了作用。mm16 的一百页框也改善。qsort 一百页框仍不如 Random 的平均表现，不能只报有利配置。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建议用时：35 秒</a:t>
            </a:r>
          </a:p>
          <a:p>
            <a:r>
              <a:t>窗口因子二在公开课程数据上的平均更低，窗口八反应更慢。历史太短容易遗忘，太长也可能留下旧模式。默认四和十六在额外验证前固定，现场不根据全文件试出最好参数。</a:t>
            </a:r>
          </a:p>
          <a:p>
            <a:r>
              <a:t>数据与实现来源：results/v4/parameters_summary.csv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建议用时：50 秒</a:t>
            </a:r>
          </a:p>
          <a:p>
            <a:r>
              <a:t>新增八类数据是在规则固定后生成并运行的，不能叫老师的隐藏测试。总体约减少百分之一点一一。带噪循环小幅退化，Markov 分块仍略差于 LRU；随机数据上很小的数字差不代表真的能预测随机序列。</a:t>
            </a:r>
          </a:p>
          <a:p>
            <a:r>
              <a:t>数据与实现来源：results/v4/holdout_means.csv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建议用时：45 秒</a:t>
            </a:r>
          </a:p>
          <a:p>
            <a:r>
              <a:t>维护七个影子不是免费开销。我们说明真实缓存和元数据的区别，也报告实测运行时间。百万行流式输入正确完成，数百万项断言及内存和未定义行为检查通过。Windows 入口已提供，但这里的实机验证是 Linux。</a:t>
            </a:r>
          </a:p>
          <a:p>
            <a:r>
              <a:t>数据与实现来源：results/v4/performance.json；tests/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</a:t>
            </a:r>
          </a:p>
          <a:p>
            <a:r>
              <a:t>提前编译并用 mm32 演练，结果应和这一页相同。现场只替换文件路径，不读完整文件后选择策略，不反复挑种子。若老师文件是十进制或字符串标签，用对应格式选项，含义在快速说明中写清楚。</a:t>
            </a:r>
          </a:p>
          <a:p>
            <a:r>
              <a:t>数据与实现来源：QUICKSTART.md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建议用时：20 秒</a:t>
            </a:r>
          </a:p>
          <a:p>
            <a:r>
              <a:t>我们能保证实验过程可复现、在线接口不接收未来数据、真实缓存不超过物理页框数，并如实保留所有结果。我们不能保证对任意未知轨迹第一；优势来自对模式的学习，代价是元数据、计算和切换滞后。谢谢。</a:t>
            </a:r>
          </a:p>
          <a:p>
            <a:r>
              <a:t>数据与实现来源：REPORT.md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>
            <a:r>
              <a:t>所有计数直接来自 course_summary.csv。随机方法为三十个种子的均值；V4 这四条轨迹三十个种子的结果相同。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>
            <a:r>
              <a:t>所有计数直接来自 course_summary.csv。随机方法为三十个种子的均值；V4 这四条轨迹三十个种子的结果相同。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>
            <a:r>
              <a:t>所有计数直接来自 course_summary.csv。随机方法为三十个种子的均值；V4 这四条轨迹三十个种子的结果相同。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>
            <a:r>
              <a:t>所有计数直接来自 course_summary.csv。随机方法为三十个种子的均值；V4 这四条轨迹三十个种子的结果相同。</a:t>
            </a:r>
          </a:p>
          <a:p>
            <a:r>
              <a:t>数据与实现来源：results/v4/course_summary.csv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让历史预测更有用：Adaptive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1069848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22638"/>
                </a:solidFill>
                <a:latin typeface="Droid Sans Fallback"/>
              </a:defRPr>
            </a:pPr>
            <a:r>
              <a:t>更低的缺页次数，完整的在线约束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51560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087F78"/>
                </a:solidFill>
                <a:latin typeface="Droid Sans Fallback"/>
              </a:defRPr>
            </a:pPr>
            <a:r>
              <a:t>课程平均缺页  17,002.35</a:t>
            </a:r>
          </a:p>
          <a:p>
            <a:pPr>
              <a:spcAft>
                <a:spcPts val="1000"/>
              </a:spcAft>
              <a:defRPr sz="2700" b="0">
                <a:solidFill>
                  <a:srgbClr val="087F78"/>
                </a:solidFill>
                <a:latin typeface="Droid Sans Fallback"/>
              </a:defRPr>
            </a:pPr>
            <a:r>
              <a:t>较 LRU 减少  30.43%</a:t>
            </a:r>
          </a:p>
          <a:p>
            <a:pPr>
              <a:spcAft>
                <a:spcPts val="1000"/>
              </a:spcAft>
              <a:defRPr sz="2700" b="0">
                <a:solidFill>
                  <a:srgbClr val="087F78"/>
                </a:solidFill>
                <a:latin typeface="Droid Sans Fallback"/>
              </a:defRPr>
            </a:pPr>
            <a:r>
              <a:t>较 V3 进一步减少  0.576%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4 条课程 trace × 5 档页框 · seed 0–29 · 所有原始数据可复现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任务与评分：只比较实际缺页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881360" cy="38404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输入：每行一个页号；课程数据为十六进制。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页框：5、10、20、50、100；每档独立空内存启动。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缺页且已满：淘汰一页，只装入当前请求页。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评分：五档缺页次数的算术平均，越少越好。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现场入口逐行读入，不把未来序列交给算法。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对照方法与 V3 的起点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30351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规则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淘汰最早装入的页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LRU / Second chance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最近使用顺序 / 环形访问位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Random / LFU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均匀随机 / 驻留期频次，平局按 LRU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MIN / 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读取真实未来，仅作离线下界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Adaptive V3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Random + LRU + 历史间隔预测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七个专家：热页、周期与新页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30351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专家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信息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Random / LRU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随机与最近使用，基础对照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Gap / 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单页复用间隔 / 已发生的相似片段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随时间衰减的频率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Cold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最近 64 个已完成复用间隔的下四分位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Signature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锚点页号 + 相对位置，实际返回后才训练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衰减损失 + 切换门槛，抑制振荡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89920" cy="777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Lⱼ ← (1 − 1/W) Lⱼ + 本次缺页指示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0881360" cy="2560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638"/>
                </a:solidFill>
                <a:latin typeface="Droid Sans Fallback"/>
              </a:defRPr>
            </a:pPr>
            <a:r>
              <a:t>• 默认 W = 2 × max(32, 4F)。</a:t>
            </a:r>
          </a:p>
          <a:p>
            <a:pPr>
              <a:spcAft>
                <a:spcPts val="1000"/>
              </a:spcAft>
              <a:defRPr sz="2200" b="0">
                <a:solidFill>
                  <a:srgbClr val="222638"/>
                </a:solidFill>
                <a:latin typeface="Droid Sans Fallback"/>
              </a:defRPr>
            </a:pPr>
            <a:r>
              <a:t>• 完成 W 次请求后，每 W/4 次检查一次。</a:t>
            </a:r>
          </a:p>
          <a:p>
            <a:pPr>
              <a:spcAft>
                <a:spcPts val="1000"/>
              </a:spcAft>
              <a:defRPr sz="2200" b="0">
                <a:solidFill>
                  <a:srgbClr val="222638"/>
                </a:solidFill>
                <a:latin typeface="Droid Sans Fallback"/>
              </a:defRPr>
            </a:pPr>
            <a:r>
              <a:t>• 新专家必须少超过 max(1, floor(W/20)) 才切换。</a:t>
            </a:r>
          </a:p>
          <a:p>
            <a:pPr>
              <a:spcAft>
                <a:spcPts val="1000"/>
              </a:spcAft>
              <a:defRPr sz="2200" b="0">
                <a:solidFill>
                  <a:srgbClr val="222638"/>
                </a:solidFill>
                <a:latin typeface="Droid Sans Fallback"/>
              </a:defRPr>
            </a:pPr>
            <a:r>
              <a:t>• F ≤ 20 从 Gap 起步，其余从 LRU 起步。</a:t>
            </a:r>
          </a:p>
          <a:p>
            <a:pPr>
              <a:spcAft>
                <a:spcPts val="1000"/>
              </a:spcAft>
              <a:defRPr sz="2200" b="0">
                <a:solidFill>
                  <a:srgbClr val="222638"/>
                </a:solidFill>
                <a:latin typeface="Droid Sans Fallback"/>
              </a:defRPr>
            </a:pPr>
            <a:r>
              <a:t>• 规则按容量统一设定，不看文件名，也不挑现场种子。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影子只有元数据；真实缓存仍是 F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834640" cy="1005840"/>
          </a:xfrm>
          <a:prstGeom prst="roundRect">
            <a:avLst/>
          </a:prstGeom>
          <a:solidFill>
            <a:srgbClr val="F0EAF8"/>
          </a:solidFill>
          <a:ln>
            <a:solidFill>
              <a:srgbClr val="653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65376"/>
            <a:ext cx="26060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536A0"/>
                </a:solidFill>
                <a:latin typeface="Droid Sans Fallback"/>
              </a:defRPr>
            </a:pPr>
            <a:r>
              <a:t>当前页号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00200"/>
            <a:ext cx="2834640" cy="1005840"/>
          </a:xfrm>
          <a:prstGeom prst="roundRect">
            <a:avLst/>
          </a:prstGeom>
          <a:solidFill>
            <a:srgbClr val="F0EAF8"/>
          </a:solidFill>
          <a:ln>
            <a:solidFill>
              <a:srgbClr val="653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65376"/>
            <a:ext cx="26060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536A0"/>
                </a:solidFill>
                <a:latin typeface="Droid Sans Fallback"/>
              </a:defRPr>
            </a:pPr>
            <a:r>
              <a:t>七个影子：页号/统计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00200"/>
            <a:ext cx="2834640" cy="1005840"/>
          </a:xfrm>
          <a:prstGeom prst="roundRect">
            <a:avLst/>
          </a:prstGeom>
          <a:solidFill>
            <a:srgbClr val="F0EAF8"/>
          </a:solidFill>
          <a:ln>
            <a:solidFill>
              <a:srgbClr val="653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865376"/>
            <a:ext cx="260604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536A0"/>
                </a:solidFill>
                <a:latin typeface="Droid Sans Fallback"/>
              </a:defRPr>
            </a:pPr>
            <a:r>
              <a:t>真实 F 个物理页框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83080"/>
            <a:ext cx="457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222638"/>
                </a:solidFill>
                <a:latin typeface="Droid Sans Fallback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57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222638"/>
                </a:solidFill>
                <a:latin typeface="Droid Sans Fallback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46120"/>
            <a:ext cx="1088136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38"/>
                </a:solidFill>
                <a:latin typeface="Droid Sans Fallback"/>
              </a:defRPr>
            </a:pPr>
            <a:r>
              <a:t>• 专家切换不复制影子驻留集合。</a:t>
            </a:r>
          </a:p>
          <a:p>
            <a:pPr>
              <a:spcAft>
                <a:spcPts val="1000"/>
              </a:spcAft>
              <a:defRPr sz="2400" b="0">
                <a:solidFill>
                  <a:srgbClr val="222638"/>
                </a:solidFill>
                <a:latin typeface="Droid Sans Fallback"/>
              </a:defRPr>
            </a:pPr>
            <a:r>
              <a:t>• 真实缺页时，从合法驻留页里选一个淘汰对象。</a:t>
            </a:r>
          </a:p>
          <a:p>
            <a:pPr>
              <a:spcAft>
                <a:spcPts val="1000"/>
              </a:spcAft>
              <a:defRPr sz="2400" b="0">
                <a:solidFill>
                  <a:srgbClr val="222638"/>
                </a:solidFill>
                <a:latin typeface="Droid Sans Fallback"/>
              </a:defRPr>
            </a:pPr>
            <a:r>
              <a:t>• 装入的始终只有当前请求页；命中不移动、不替换。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课程总体：比 V3 再降 0.576%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1088136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88136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87F78"/>
                </a:solidFill>
                <a:latin typeface="Droid Sans Fallback"/>
              </a:defRPr>
            </a:pPr>
            <a:r>
              <a:t>15 个配置改善 · 5 个持平 · 0 个退化（相对 V3 均值）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分轨迹观察：收益取决于局部结构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8</a:t>
            </a:r>
          </a:p>
        </p:txBody>
      </p:sp>
      <p:pic>
        <p:nvPicPr>
          <p:cNvPr id="6" name="Picture 5" descr="cours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15568"/>
            <a:ext cx="106527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参数实验：默认并非每组的最优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9</a:t>
            </a:r>
          </a:p>
        </p:txBody>
      </p:sp>
      <p:pic>
        <p:nvPicPr>
          <p:cNvPr id="6" name="Picture 5" descr="parame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65276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15584"/>
            <a:ext cx="105156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3,000 条参数运行记录；收益与切换稳定性存在取舍。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冻结后 8 类构造测试：保留不利结果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10</a:t>
            </a:r>
          </a:p>
        </p:txBody>
      </p:sp>
      <p:pic>
        <p:nvPicPr>
          <p:cNvPr id="6" name="Picture 5" descr="holdou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6527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开销与验证：省缺页，不是省模拟时间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881360" cy="38404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22638"/>
                </a:solidFill>
                <a:latin typeface="Droid Sans Fallback"/>
              </a:defRPr>
            </a:pPr>
            <a:r>
              <a:t>• mm32 五档运行：V3 157 ms，V4 1015 ms（本机中位数）。</a:t>
            </a:r>
          </a:p>
          <a:p>
            <a:pPr>
              <a:spcAft>
                <a:spcPts val="1000"/>
              </a:spcAft>
              <a:defRPr sz="2100" b="0">
                <a:solidFill>
                  <a:srgbClr val="222638"/>
                </a:solidFill>
                <a:latin typeface="Droid Sans Fallback"/>
              </a:defRPr>
            </a:pPr>
            <a:r>
              <a:t>• 百万次纯扫描：平均缺页 1,000,000，耗时 15.50 秒。</a:t>
            </a:r>
          </a:p>
          <a:p>
            <a:pPr>
              <a:spcAft>
                <a:spcPts val="1000"/>
              </a:spcAft>
              <a:defRPr sz="2100" b="0">
                <a:solidFill>
                  <a:srgbClr val="222638"/>
                </a:solidFill>
                <a:latin typeface="Droid Sans Fallback"/>
              </a:defRPr>
            </a:pPr>
            <a:r>
              <a:t>• 算法元数据 O(F)，时间期望 O(NF)；token 字符串映射另占 O(U)。</a:t>
            </a:r>
          </a:p>
          <a:p>
            <a:pPr>
              <a:spcAft>
                <a:spcPts val="1000"/>
              </a:spcAft>
              <a:defRPr sz="2100" b="0">
                <a:solidFill>
                  <a:srgbClr val="222638"/>
                </a:solidFill>
                <a:latin typeface="Droid Sans Fallback"/>
              </a:defRPr>
            </a:pPr>
            <a:r>
              <a:t>• 250 万余项断言；Release、ASan、UBSan 全部通过。</a:t>
            </a:r>
          </a:p>
          <a:p>
            <a:pPr>
              <a:spcAft>
                <a:spcPts val="1000"/>
              </a:spcAft>
              <a:defRPr sz="2100" b="0">
                <a:solidFill>
                  <a:srgbClr val="222638"/>
                </a:solidFill>
                <a:latin typeface="Droid Sans Fallback"/>
              </a:defRPr>
            </a:pPr>
            <a:r>
              <a:t>• 逐步检查容量、事件、OPT 下界、未来前缀不变与页号重命名。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现场只换文件路径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6536A0"/>
                </a:solidFill>
                <a:latin typeface="Droid Sans Fallback"/>
              </a:defRPr>
            </a:pPr>
            <a:r>
              <a:t>bash run.sh "老师给的文件.txt"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51560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5 / 10 / 20 / 50 / 100 页框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自动输出每档缺页数、缺页率和最后的平均缺页次数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1051560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87F78"/>
                </a:solidFill>
                <a:latin typeface="Droid Sans Fallback"/>
              </a:defRPr>
            </a:pPr>
            <a:r>
              <a:t>mm32 演练：55,006 · 49,256 · 39,016 · 19,909 · 19,604</a:t>
            </a:r>
          </a:p>
          <a:p>
            <a:pPr>
              <a:spcAft>
                <a:spcPts val="1000"/>
              </a:spcAft>
              <a:defRPr sz="2000" b="0">
                <a:solidFill>
                  <a:srgbClr val="087F78"/>
                </a:solidFill>
                <a:latin typeface="Droid Sans Fallback"/>
              </a:defRPr>
            </a:pPr>
            <a:r>
              <a:t>Average page faults (5 capacities): 36558.20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可以保证的，和仍有局限的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881360" cy="384047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保证：真实 demand paging、固定规则、完整原始记录。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实测：课程相对 V3 再降低 0.576%，相对 LRU 降低 30.43%。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代价：更多元数据、计算和学习时间。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局限：预测可能失准；未知轨迹没有必胜保证。</a:t>
            </a:r>
          </a:p>
          <a:p>
            <a:pPr>
              <a:spcAft>
                <a:spcPts val="1000"/>
              </a:spcAft>
              <a:defRPr sz="2300" b="0">
                <a:solidFill>
                  <a:srgbClr val="222638"/>
                </a:solidFill>
                <a:latin typeface="Droid Sans Fallback"/>
              </a:defRPr>
            </a:pPr>
            <a:r>
              <a:t>• 代码、说明、数据、报告、讲稿和 PPT 均可本地复现。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附录：qsort 完整缺页计数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53035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Frames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OPT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LFU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LRU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Clock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523.10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490.17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487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438.37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389.83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524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337.23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217.67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196.30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199.00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来源：30 个固定种子，原始整数与校验值保存在 results/v4/。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附录：lu 完整缺页计数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53035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Frames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OPT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LFU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LRU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Clock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41,708.40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34,076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34,422.93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34,418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40,317.50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29,702.90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29,698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36,796.50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26,922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41,832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28,222.87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28,208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30,923.23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32,073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21,880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34,653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23,324.00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23,123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23,802.27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27,864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14,869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32,969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26,497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26,483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17,452.00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17,452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来源：30 个固定种子，原始整数与校验值保存在 results/v4/。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附录：mm16 完整缺页计数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53035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Frames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OPT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LFU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LRU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Clock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9,046.63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7,407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7,552.77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7,548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8,625.40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6,234.77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6,922.07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3,426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9,075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3,679.40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3,597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4,292.07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6,642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2,963.97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3,487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1,657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6,077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2,714.17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2,373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来源：30 个固定种子，原始整数与校验值保存在 results/v4/。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1124712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6536A0"/>
                </a:solidFill>
                <a:latin typeface="Droid Sans Fallback"/>
              </a:defRPr>
            </a:pPr>
            <a:r>
              <a:t>附录：mm32 完整缺页计数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914400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Adaptive V4  ·  Online demand paging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37960"/>
            <a:ext cx="548640" cy="21945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37083"/>
                </a:solidFill>
                <a:latin typeface="Droid Sans Fallback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53035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Frames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FIFO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OPT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LFU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LRU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Clock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Droid Sans Fallback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6536A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67,071.20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54,807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55,009.90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55,006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65,301.03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48,109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49,263.47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49,256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59,191.53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37,682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67,235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39,025.93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39,016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39,745.63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55,136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53,805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51,860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51,865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21,179.00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28,090.60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28,421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17,514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51,699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19,604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19,947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19,604.00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638"/>
                          </a:solidFill>
                          <a:latin typeface="Droid Sans Fallback"/>
                        </a:defRPr>
                      </a:pPr>
                      <a:r>
                        <a:t>19,604</a:t>
                      </a:r>
                    </a:p>
                  </a:txBody>
                  <a:tcPr>
                    <a:solidFill>
                      <a:srgbClr val="F6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37083"/>
                </a:solidFill>
                <a:latin typeface="Droid Sans Fallback"/>
              </a:defRPr>
            </a:pPr>
            <a:r>
              <a:t>来源：30 个固定种子，原始整数与校验值保存在 results/v4/。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