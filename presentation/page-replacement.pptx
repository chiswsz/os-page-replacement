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xlsx" ContentType="application/vnd.openxmlformats-officedocument.spreadsheetml.sheet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Relationships xmlns="http://schemas.openxmlformats.org/package/2006/relationships"><Relationship Id="rIdChartSnapshot1" Type="http://schemas.openxmlformats.org/officeDocument/2006/relationships/package" Target="../embeddings/chart-data-snapshot-001.xlsx"/></Relationships>
</file>

<file path=ppt/charts/_rels/chart2.xml.rels><Relationships xmlns="http://schemas.openxmlformats.org/package/2006/relationships"><Relationship Id="rIdChartSnapshot1" Type="http://schemas.openxmlformats.org/officeDocument/2006/relationships/package" Target="../embeddings/chart-data-snapshot-002.xlsx"/></Relationships>
</file>

<file path=ppt/charts/_rels/chart3.xml.rels><Relationships xmlns="http://schemas.openxmlformats.org/package/2006/relationships"><Relationship Id="rIdChartSnapshot1" Type="http://schemas.openxmlformats.org/officeDocument/2006/relationships/package" Target="../embeddings/chart-data-snapshot-003.xlsx"/></Relationships>
</file>

<file path=ppt/charts/_rels/chart4.xml.rels><Relationships xmlns="http://schemas.openxmlformats.org/package/2006/relationships"><Relationship Id="rIdChartSnapshot1" Type="http://schemas.openxmlformats.org/officeDocument/2006/relationships/package" Target="../embeddings/chart-data-snapshot-004.xlsx"/></Relationships>
</file>

<file path=ppt/charts/_rels/chart5.xml.rels><Relationships xmlns="http://schemas.openxmlformats.org/package/2006/relationships"><Relationship Id="rIdChartSnapshot1" Type="http://schemas.openxmlformats.org/officeDocument/2006/relationships/package" Target="../embeddings/chart-data-snapshot-005.xlsx"/></Relationships>
</file>

<file path=ppt/charts/_rels/chart6.xml.rels><Relationships xmlns="http://schemas.openxmlformats.org/package/2006/relationships"><Relationship Id="rIdChartSnapshot1" Type="http://schemas.openxmlformats.org/officeDocument/2006/relationships/package" Target="../embeddings/chart-data-snapshot-006.xlsx"/></Relationships>
</file>

<file path=ppt/charts/_rels/chart7.xml.rels><Relationships xmlns="http://schemas.openxmlformats.org/package/2006/relationships"><Relationship Id="rIdChartSnapshot1" Type="http://schemas.openxmlformats.org/officeDocument/2006/relationships/package" Target="../embeddings/chart-data-snapshot-007.xlsx"/></Relationships>
</file>

<file path=ppt/charts/_rels/chart8.xml.rels><Relationships xmlns="http://schemas.openxmlformats.org/package/2006/relationships"><Relationship Id="rIdChartSnapshot1" Type="http://schemas.openxmlformats.org/officeDocument/2006/relationships/package" Target="../embeddings/chart-data-snapshot-008.xlsx"/></Relationships>
</file>

<file path=ppt/charts/_rels/chart9.xml.rels><Relationships xmlns="http://schemas.openxmlformats.org/package/2006/relationships"><Relationship Id="rIdChartSnapshot1" Type="http://schemas.openxmlformats.org/officeDocument/2006/relationships/package" Target="../embeddings/chart-data-snapshot-009.xlsx"/></Relationships>
</file>

<file path=ppt/charts/_rels/chart10.xml.rels><Relationships xmlns="http://schemas.openxmlformats.org/package/2006/relationships"><Relationship Id="rIdChartSnapshot1" Type="http://schemas.openxmlformats.org/officeDocument/2006/relationships/package" Target="../embeddings/chart-data-snapshot-010.xlsx"/></Relationships>
</file>

<file path=ppt/charts/_rels/chart11.xml.rels><Relationships xmlns="http://schemas.openxmlformats.org/package/2006/relationships"><Relationship Id="rIdChartSnapshot1" Type="http://schemas.openxmlformats.org/officeDocument/2006/relationships/package" Target="../embeddings/chart-data-snapshot-0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LRU 缺页率</c:v>
          </c:tx>
          <c:spPr>
            <a:solidFill>
              <a:srgbClr val="A7ADB4"/>
            </a:solidFill>
            <a:ln w="0">
              <a:noFill/>
            </a:ln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75">
                    <a:solidFill>
                      <a:srgbClr val="29203A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qsort</c:v>
                </c:pt>
                <c:pt idx="1">
                  <c:v>lu</c:v>
                </c:pt>
                <c:pt idx="2">
                  <c:v>mm16</c:v>
                </c:pt>
                <c:pt idx="3">
                  <c:v>mm32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B5-4281-ACC7-BD7D41B77E07}"/>
            </c:ext>
          </c:extLst>
        </c:ser>
        <c:ser>
          <c:idx val="1"/>
          <c:order val="1"/>
          <c:tx>
            <c:v>Adaptive V2 缺页率</c:v>
          </c:tx>
          <c:spPr>
            <a:solidFill>
              <a:srgbClr val="6B4A82"/>
            </a:solidFill>
            <a:ln w="0">
              <a:noFill/>
            </a:ln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75">
                    <a:solidFill>
                      <a:srgbClr val="29203A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qsort</c:v>
                </c:pt>
                <c:pt idx="1">
                  <c:v>lu</c:v>
                </c:pt>
                <c:pt idx="2">
                  <c:v>mm16</c:v>
                </c:pt>
                <c:pt idx="3">
                  <c:v>mm32</c:v>
                </c:pt>
              </c:strCache>
            </c:strRef>
          </c:cat>
          <c:val>
            <c:numRef>
              <c:f>'Chart Data'!$D$2:$D$5</c:f>
              <c:numCache>
                <c:formatCode>0%</c:formatCode>
                <c:ptCount val="4"/>
                <c:pt idx="0">
                  <c:v>0.6351145</c:v>
                </c:pt>
                <c:pt idx="1">
                  <c:v>0.67753873</c:v>
                </c:pt>
                <c:pt idx="2">
                  <c:v>0.40855831</c:v>
                </c:pt>
                <c:pt idx="3">
                  <c:v>0.59251779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B5-4281-ACC7-BD7D41B77E0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EC6D8"/>
            </a:solidFill>
          </a:ln>
        </c:spPr>
        <c:txPr>
          <a:bodyPr anchorCtr="1"/>
          <a:lstStyle/>
          <a:p>
            <a:pPr>
              <a:defRPr sz="1575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1000000000000001"/>
          <c:min val="0"/>
        </c:scaling>
        <c:delete val="0"/>
        <c:axPos val="l"/>
        <c:majorGridlines>
          <c:spPr>
            <a:ln w="9525">
              <a:solidFill>
                <a:srgbClr val="E8E3EF"/>
              </a:solidFill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575">
              <a:solidFill>
                <a:srgbClr val="29203A"/>
              </a:solidFill>
              <a:latin typeface="Microsoft YaHei"/>
              <a:ea typeface="Microsoft YaHei"/>
              <a:cs typeface="Microsoft YaHei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平均缺页次数</c:v>
          </c:tx>
          <c:spPr>
            <a:solidFill>
              <a:srgbClr val="6B4A82"/>
            </a:solidFill>
            <a:ln w="0"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69717A"/>
              </a:solidFill>
            </c:spPr>
            <c:extLst>
              <c:ext xmlns:c16="http://schemas.microsoft.com/office/drawing/2014/chart" uri="{C3380CC4-5D6E-409C-BE32-E72D297353CC}">
                <c16:uniqueId val="{00000001-C52F-4506-9D68-0341549A9120}"/>
              </c:ext>
            </c:extLst>
          </c:dPt>
          <c:dPt>
            <c:idx val="1"/>
            <c:invertIfNegative val="0"/>
            <c:bubble3D val="0"/>
            <c:spPr>
              <a:solidFill>
                <a:srgbClr val="B39945"/>
              </a:solidFill>
            </c:spPr>
            <c:extLst>
              <c:ext xmlns:c16="http://schemas.microsoft.com/office/drawing/2014/chart" uri="{C3380CC4-5D6E-409C-BE32-E72D297353CC}">
                <c16:uniqueId val="{00000003-C52F-4506-9D68-0341549A9120}"/>
              </c:ext>
            </c:extLst>
          </c:dPt>
          <c:dPt>
            <c:idx val="2"/>
            <c:invertIfNegative val="0"/>
            <c:bubble3D val="0"/>
            <c:spPr>
              <a:solidFill>
                <a:srgbClr val="238A91"/>
              </a:solidFill>
            </c:spPr>
            <c:extLst>
              <c:ext xmlns:c16="http://schemas.microsoft.com/office/drawing/2014/chart" uri="{C3380CC4-5D6E-409C-BE32-E72D297353CC}">
                <c16:uniqueId val="{00000005-C52F-4506-9D68-0341549A9120}"/>
              </c:ext>
            </c:extLst>
          </c:dPt>
          <c:dPt>
            <c:idx val="3"/>
            <c:invertIfNegative val="0"/>
            <c:bubble3D val="0"/>
            <c:spPr>
              <a:solidFill>
                <a:srgbClr val="D0634F"/>
              </a:solidFill>
            </c:spPr>
            <c:extLst>
              <c:ext xmlns:c16="http://schemas.microsoft.com/office/drawing/2014/chart" uri="{C3380CC4-5D6E-409C-BE32-E72D297353CC}">
                <c16:uniqueId val="{00000007-C52F-4506-9D68-0341549A9120}"/>
              </c:ext>
            </c:extLst>
          </c:dPt>
          <c:dPt>
            <c:idx val="4"/>
            <c:invertIfNegative val="0"/>
            <c:bubble3D val="0"/>
            <c:spPr>
              <a:solidFill>
                <a:srgbClr val="376D9A"/>
              </a:solidFill>
            </c:spPr>
            <c:extLst>
              <c:ext xmlns:c16="http://schemas.microsoft.com/office/drawing/2014/chart" uri="{C3380CC4-5D6E-409C-BE32-E72D297353CC}">
                <c16:uniqueId val="{00000009-C52F-4506-9D68-0341549A9120}"/>
              </c:ext>
            </c:extLst>
          </c:dPt>
          <c:dPt>
            <c:idx val="5"/>
            <c:invertIfNegative val="0"/>
            <c:bubble3D val="0"/>
            <c:spPr>
              <a:solidFill>
                <a:srgbClr val="AAA0BA"/>
              </a:solidFill>
            </c:spPr>
            <c:extLst>
              <c:ext xmlns:c16="http://schemas.microsoft.com/office/drawing/2014/chart" uri="{C3380CC4-5D6E-409C-BE32-E72D297353CC}">
                <c16:uniqueId val="{0000000B-C52F-4506-9D68-0341549A9120}"/>
              </c:ext>
            </c:extLst>
          </c:dPt>
          <c:dPt>
            <c:idx val="6"/>
            <c:invertIfNegative val="0"/>
            <c:bubble3D val="0"/>
            <c:spPr>
              <a:solidFill>
                <a:srgbClr val="6B4A82"/>
              </a:solidFill>
            </c:spPr>
            <c:extLst>
              <c:ext xmlns:c16="http://schemas.microsoft.com/office/drawing/2014/chart" uri="{C3380CC4-5D6E-409C-BE32-E72D297353CC}">
                <c16:uniqueId val="{0000000D-C52F-4506-9D68-0341549A912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>
                    <a:solidFill>
                      <a:srgbClr val="29203A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Data'!$A$2:$A$8</c:f>
              <c:strCache>
                <c:ptCount val="7"/>
                <c:pt idx="0">
                  <c:v>Random</c:v>
                </c:pt>
                <c:pt idx="1">
                  <c:v>FIFO</c:v>
                </c:pt>
                <c:pt idx="2">
                  <c:v>OPT</c:v>
                </c:pt>
                <c:pt idx="3">
                  <c:v>LFU</c:v>
                </c:pt>
                <c:pt idx="4">
                  <c:v>LRU</c:v>
                </c:pt>
                <c:pt idx="5">
                  <c:v>Clock</c:v>
                </c:pt>
                <c:pt idx="6">
                  <c:v>Adaptive V2</c:v>
                </c:pt>
              </c:strCache>
            </c:strRef>
          </c:cat>
          <c:val>
            <c:numRef>
              <c:f>'Chart Data'!$B$2:$B$8</c:f>
              <c:numCache>
                <c:formatCode>#,##0</c:formatCode>
                <c:ptCount val="7"/>
                <c:pt idx="0">
                  <c:v>23331.37166667</c:v>
                </c:pt>
                <c:pt idx="1">
                  <c:v>25378.35</c:v>
                </c:pt>
                <c:pt idx="2">
                  <c:v>16309.8</c:v>
                </c:pt>
                <c:pt idx="3">
                  <c:v>27112.05</c:v>
                </c:pt>
                <c:pt idx="4">
                  <c:v>24438</c:v>
                </c:pt>
                <c:pt idx="5">
                  <c:v>24470.9</c:v>
                </c:pt>
                <c:pt idx="6">
                  <c:v>17354.63333333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52F-4506-9D68-0341549A912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EC6D8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8E3EF"/>
              </a:solidFill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sz="1875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qsort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Random</c:v>
          </c:tx>
          <c:spPr>
            <a:solidFill>
              <a:srgbClr val="69717A"/>
            </a:solidFill>
            <a:ln w="0">
              <a:noFill/>
            </a:ln>
          </c:spPr>
          <c:invertIfNegative val="0"/>
          <c:cat>
            <c:numRef>
              <c:f>'Chart Data'!$A$2:$A$6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523.1</c:v>
                </c:pt>
                <c:pt idx="1">
                  <c:v>502.5</c:v>
                </c:pt>
                <c:pt idx="2">
                  <c:v>389.83333333</c:v>
                </c:pt>
                <c:pt idx="3">
                  <c:v>217.66666667</c:v>
                </c:pt>
                <c:pt idx="4">
                  <c:v>196.3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2A-417F-AC34-BB7DB0D8D626}"/>
            </c:ext>
          </c:extLst>
        </c:ser>
        <c:ser>
          <c:idx val="1"/>
          <c:order val="1"/>
          <c:tx>
            <c:v>FIFO</c:v>
          </c:tx>
          <c:spPr>
            <a:solidFill>
              <a:srgbClr val="B39945"/>
            </a:solidFill>
            <a:ln w="0">
              <a:noFill/>
            </a:ln>
          </c:spPr>
          <c:invertIfNegative val="0"/>
          <c:cat>
            <c:numRef>
              <c:f>'Chart Data'!$C$2:$C$6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Data'!$D$2:$D$6</c:f>
              <c:numCache>
                <c:formatCode>#,##0</c:formatCode>
                <c:ptCount val="5"/>
                <c:pt idx="0">
                  <c:v>524</c:v>
                </c:pt>
                <c:pt idx="1">
                  <c:v>524</c:v>
                </c:pt>
                <c:pt idx="2">
                  <c:v>524</c:v>
                </c:pt>
                <c:pt idx="3">
                  <c:v>209</c:v>
                </c:pt>
                <c:pt idx="4">
                  <c:v>199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52A-417F-AC34-BB7DB0D8D626}"/>
            </c:ext>
          </c:extLst>
        </c:ser>
        <c:ser>
          <c:idx val="2"/>
          <c:order val="2"/>
          <c:tx>
            <c:v>OPT</c:v>
          </c:tx>
          <c:spPr>
            <a:solidFill>
              <a:srgbClr val="238A91"/>
            </a:solidFill>
            <a:ln w="0">
              <a:noFill/>
            </a:ln>
          </c:spPr>
          <c:invertIfNegative val="0"/>
          <c:cat>
            <c:numRef>
              <c:f>'Chart Data'!$E$2:$E$6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Data'!$F$2:$F$6</c:f>
              <c:numCache>
                <c:formatCode>#,##0</c:formatCode>
                <c:ptCount val="5"/>
                <c:pt idx="0">
                  <c:v>463</c:v>
                </c:pt>
                <c:pt idx="1">
                  <c:v>389</c:v>
                </c:pt>
                <c:pt idx="2">
                  <c:v>274</c:v>
                </c:pt>
                <c:pt idx="3">
                  <c:v>192</c:v>
                </c:pt>
                <c:pt idx="4">
                  <c:v>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52A-417F-AC34-BB7DB0D8D626}"/>
            </c:ext>
          </c:extLst>
        </c:ser>
        <c:ser>
          <c:idx val="3"/>
          <c:order val="3"/>
          <c:tx>
            <c:v>LFU</c:v>
          </c:tx>
          <c:spPr>
            <a:solidFill>
              <a:srgbClr val="D0634F"/>
            </a:solidFill>
            <a:ln w="0">
              <a:noFill/>
            </a:ln>
          </c:spPr>
          <c:invertIfNegative val="0"/>
          <c:cat>
            <c:numRef>
              <c:f>'Chart Data'!$G$2:$G$6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Data'!$H$2:$H$6</c:f>
              <c:numCache>
                <c:formatCode>#,##0</c:formatCode>
                <c:ptCount val="5"/>
                <c:pt idx="0">
                  <c:v>524</c:v>
                </c:pt>
                <c:pt idx="1">
                  <c:v>524</c:v>
                </c:pt>
                <c:pt idx="2">
                  <c:v>524</c:v>
                </c:pt>
                <c:pt idx="3">
                  <c:v>199</c:v>
                </c:pt>
                <c:pt idx="4">
                  <c:v>199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52A-417F-AC34-BB7DB0D8D626}"/>
            </c:ext>
          </c:extLst>
        </c:ser>
        <c:ser>
          <c:idx val="4"/>
          <c:order val="4"/>
          <c:tx>
            <c:v>LRU</c:v>
          </c:tx>
          <c:spPr>
            <a:solidFill>
              <a:srgbClr val="376D9A"/>
            </a:solidFill>
            <a:ln w="0">
              <a:noFill/>
            </a:ln>
          </c:spPr>
          <c:invertIfNegative val="0"/>
          <c:cat>
            <c:numRef>
              <c:f>'Chart Data'!$I$2:$I$6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Data'!$J$2:$J$6</c:f>
              <c:numCache>
                <c:formatCode>#,##0</c:formatCode>
                <c:ptCount val="5"/>
                <c:pt idx="0">
                  <c:v>524</c:v>
                </c:pt>
                <c:pt idx="1">
                  <c:v>524</c:v>
                </c:pt>
                <c:pt idx="2">
                  <c:v>524</c:v>
                </c:pt>
                <c:pt idx="3">
                  <c:v>199</c:v>
                </c:pt>
                <c:pt idx="4">
                  <c:v>199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52A-417F-AC34-BB7DB0D8D626}"/>
            </c:ext>
          </c:extLst>
        </c:ser>
        <c:ser>
          <c:idx val="5"/>
          <c:order val="5"/>
          <c:tx>
            <c:v>Clock</c:v>
          </c:tx>
          <c:spPr>
            <a:solidFill>
              <a:srgbClr val="AAA0BA"/>
            </a:solidFill>
            <a:ln w="0">
              <a:noFill/>
            </a:ln>
          </c:spPr>
          <c:invertIfNegative val="0"/>
          <c:cat>
            <c:numRef>
              <c:f>'Chart Data'!$K$2:$K$6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Data'!$L$2:$L$6</c:f>
              <c:numCache>
                <c:formatCode>#,##0</c:formatCode>
                <c:ptCount val="5"/>
                <c:pt idx="0">
                  <c:v>524</c:v>
                </c:pt>
                <c:pt idx="1">
                  <c:v>524</c:v>
                </c:pt>
                <c:pt idx="2">
                  <c:v>524</c:v>
                </c:pt>
                <c:pt idx="3">
                  <c:v>203</c:v>
                </c:pt>
                <c:pt idx="4">
                  <c:v>199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52A-417F-AC34-BB7DB0D8D626}"/>
            </c:ext>
          </c:extLst>
        </c:ser>
        <c:ser>
          <c:idx val="6"/>
          <c:order val="6"/>
          <c:tx>
            <c:v>Adaptive V2</c:v>
          </c:tx>
          <c:spPr>
            <a:solidFill>
              <a:srgbClr val="6B4A82"/>
            </a:solidFill>
            <a:ln w="0">
              <a:noFill/>
            </a:ln>
          </c:spPr>
          <c:invertIfNegative val="0"/>
          <c:cat>
            <c:numRef>
              <c:f>'Chart Data'!$M$2:$M$6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Data'!$N$2:$N$6</c:f>
              <c:numCache>
                <c:formatCode>#,##0</c:formatCode>
                <c:ptCount val="5"/>
                <c:pt idx="0">
                  <c:v>489.16666667</c:v>
                </c:pt>
                <c:pt idx="1">
                  <c:v>436.73333333</c:v>
                </c:pt>
                <c:pt idx="2">
                  <c:v>332.8</c:v>
                </c:pt>
                <c:pt idx="3">
                  <c:v>199</c:v>
                </c:pt>
                <c:pt idx="4">
                  <c:v>199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52A-417F-AC34-BB7DB0D8D6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EC6D8"/>
            </a:solidFill>
          </a:ln>
        </c:spPr>
        <c:txPr>
          <a:bodyPr anchorCtr="1"/>
          <a:lstStyle/>
          <a:p>
            <a:pPr>
              <a:defRPr sz="1275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8E3EF"/>
              </a:solidFill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275">
              <a:solidFill>
                <a:srgbClr val="29203A"/>
              </a:solidFill>
              <a:latin typeface="Microsoft YaHei"/>
              <a:ea typeface="Microsoft YaHei"/>
              <a:cs typeface="Microsoft YaHei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sz="1875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lu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Random</c:v>
          </c:tx>
          <c:spPr>
            <a:solidFill>
              <a:srgbClr val="69717A"/>
            </a:solidFill>
            <a:ln w="0">
              <a:noFill/>
            </a:ln>
          </c:spPr>
          <c:invertIfNegative val="0"/>
          <c:cat>
            <c:numRef>
              <c:f>'Chart Data'!$A$2:$A$6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41708.4</c:v>
                </c:pt>
                <c:pt idx="1">
                  <c:v>40317.5</c:v>
                </c:pt>
                <c:pt idx="2">
                  <c:v>36796.5</c:v>
                </c:pt>
                <c:pt idx="3">
                  <c:v>30923.23333333</c:v>
                </c:pt>
                <c:pt idx="4">
                  <c:v>23802.26666667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32-49C4-9EC4-9DCAC94C12A2}"/>
            </c:ext>
          </c:extLst>
        </c:ser>
        <c:ser>
          <c:idx val="1"/>
          <c:order val="1"/>
          <c:tx>
            <c:v>FIFO</c:v>
          </c:tx>
          <c:spPr>
            <a:solidFill>
              <a:srgbClr val="B39945"/>
            </a:solidFill>
            <a:ln w="0">
              <a:noFill/>
            </a:ln>
          </c:spPr>
          <c:invertIfNegative val="0"/>
          <c:cat>
            <c:numRef>
              <c:f>'Chart Data'!$C$2:$C$6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Data'!$D$2:$D$6</c:f>
              <c:numCache>
                <c:formatCode>#,##0</c:formatCode>
                <c:ptCount val="5"/>
                <c:pt idx="0">
                  <c:v>41832</c:v>
                </c:pt>
                <c:pt idx="1">
                  <c:v>41832</c:v>
                </c:pt>
                <c:pt idx="2">
                  <c:v>41832</c:v>
                </c:pt>
                <c:pt idx="3">
                  <c:v>32073</c:v>
                </c:pt>
                <c:pt idx="4">
                  <c:v>27864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32-49C4-9EC4-9DCAC94C12A2}"/>
            </c:ext>
          </c:extLst>
        </c:ser>
        <c:ser>
          <c:idx val="2"/>
          <c:order val="2"/>
          <c:tx>
            <c:v>OPT</c:v>
          </c:tx>
          <c:spPr>
            <a:solidFill>
              <a:srgbClr val="238A91"/>
            </a:solidFill>
            <a:ln w="0">
              <a:noFill/>
            </a:ln>
          </c:spPr>
          <c:invertIfNegative val="0"/>
          <c:cat>
            <c:numRef>
              <c:f>'Chart Data'!$E$2:$E$6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Data'!$F$2:$F$6</c:f>
              <c:numCache>
                <c:formatCode>#,##0</c:formatCode>
                <c:ptCount val="5"/>
                <c:pt idx="0">
                  <c:v>34076</c:v>
                </c:pt>
                <c:pt idx="1">
                  <c:v>28722</c:v>
                </c:pt>
                <c:pt idx="2">
                  <c:v>26922</c:v>
                </c:pt>
                <c:pt idx="3">
                  <c:v>21880</c:v>
                </c:pt>
                <c:pt idx="4">
                  <c:v>14869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A32-49C4-9EC4-9DCAC94C12A2}"/>
            </c:ext>
          </c:extLst>
        </c:ser>
        <c:ser>
          <c:idx val="3"/>
          <c:order val="3"/>
          <c:tx>
            <c:v>LFU</c:v>
          </c:tx>
          <c:spPr>
            <a:solidFill>
              <a:srgbClr val="D0634F"/>
            </a:solidFill>
            <a:ln w="0">
              <a:noFill/>
            </a:ln>
          </c:spPr>
          <c:invertIfNegative val="0"/>
          <c:cat>
            <c:numRef>
              <c:f>'Chart Data'!$G$2:$G$6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Data'!$H$2:$H$6</c:f>
              <c:numCache>
                <c:formatCode>#,##0</c:formatCode>
                <c:ptCount val="5"/>
                <c:pt idx="0">
                  <c:v>41832</c:v>
                </c:pt>
                <c:pt idx="1">
                  <c:v>41832</c:v>
                </c:pt>
                <c:pt idx="2">
                  <c:v>41832</c:v>
                </c:pt>
                <c:pt idx="3">
                  <c:v>34653</c:v>
                </c:pt>
                <c:pt idx="4">
                  <c:v>32969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A32-49C4-9EC4-9DCAC94C12A2}"/>
            </c:ext>
          </c:extLst>
        </c:ser>
        <c:ser>
          <c:idx val="4"/>
          <c:order val="4"/>
          <c:tx>
            <c:v>LRU</c:v>
          </c:tx>
          <c:spPr>
            <a:solidFill>
              <a:srgbClr val="376D9A"/>
            </a:solidFill>
            <a:ln w="0">
              <a:noFill/>
            </a:ln>
          </c:spPr>
          <c:invertIfNegative val="0"/>
          <c:cat>
            <c:numRef>
              <c:f>'Chart Data'!$I$2:$I$6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Data'!$J$2:$J$6</c:f>
              <c:numCache>
                <c:formatCode>#,##0</c:formatCode>
                <c:ptCount val="5"/>
                <c:pt idx="0">
                  <c:v>41832</c:v>
                </c:pt>
                <c:pt idx="1">
                  <c:v>41832</c:v>
                </c:pt>
                <c:pt idx="2">
                  <c:v>41832</c:v>
                </c:pt>
                <c:pt idx="3">
                  <c:v>28475</c:v>
                </c:pt>
                <c:pt idx="4">
                  <c:v>26497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A32-49C4-9EC4-9DCAC94C12A2}"/>
            </c:ext>
          </c:extLst>
        </c:ser>
        <c:ser>
          <c:idx val="5"/>
          <c:order val="5"/>
          <c:tx>
            <c:v>Clock</c:v>
          </c:tx>
          <c:spPr>
            <a:solidFill>
              <a:srgbClr val="AAA0BA"/>
            </a:solidFill>
            <a:ln w="0">
              <a:noFill/>
            </a:ln>
          </c:spPr>
          <c:invertIfNegative val="0"/>
          <c:cat>
            <c:numRef>
              <c:f>'Chart Data'!$K$2:$K$6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Data'!$L$2:$L$6</c:f>
              <c:numCache>
                <c:formatCode>#,##0</c:formatCode>
                <c:ptCount val="5"/>
                <c:pt idx="0">
                  <c:v>41832</c:v>
                </c:pt>
                <c:pt idx="1">
                  <c:v>41832</c:v>
                </c:pt>
                <c:pt idx="2">
                  <c:v>41832</c:v>
                </c:pt>
                <c:pt idx="3">
                  <c:v>28736</c:v>
                </c:pt>
                <c:pt idx="4">
                  <c:v>26483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A32-49C4-9EC4-9DCAC94C12A2}"/>
            </c:ext>
          </c:extLst>
        </c:ser>
        <c:ser>
          <c:idx val="6"/>
          <c:order val="6"/>
          <c:tx>
            <c:v>Adaptive V2</c:v>
          </c:tx>
          <c:spPr>
            <a:solidFill>
              <a:srgbClr val="6B4A82"/>
            </a:solidFill>
            <a:ln w="0">
              <a:noFill/>
            </a:ln>
          </c:spPr>
          <c:invertIfNegative val="0"/>
          <c:cat>
            <c:numRef>
              <c:f>'Chart Data'!$M$2:$M$6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Data'!$N$2:$N$6</c:f>
              <c:numCache>
                <c:formatCode>#,##0</c:formatCode>
                <c:ptCount val="5"/>
                <c:pt idx="0">
                  <c:v>34365.76666667</c:v>
                </c:pt>
                <c:pt idx="1">
                  <c:v>29995.9</c:v>
                </c:pt>
                <c:pt idx="2">
                  <c:v>28342.8</c:v>
                </c:pt>
                <c:pt idx="3">
                  <c:v>25377</c:v>
                </c:pt>
                <c:pt idx="4">
                  <c:v>18584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A32-49C4-9EC4-9DCAC94C12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EC6D8"/>
            </a:solidFill>
          </a:ln>
        </c:spPr>
        <c:txPr>
          <a:bodyPr anchorCtr="1"/>
          <a:lstStyle/>
          <a:p>
            <a:pPr>
              <a:defRPr sz="1275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8E3EF"/>
              </a:solidFill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275">
              <a:solidFill>
                <a:srgbClr val="29203A"/>
              </a:solidFill>
              <a:latin typeface="Microsoft YaHei"/>
              <a:ea typeface="Microsoft YaHei"/>
              <a:cs typeface="Microsoft YaHei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sz="1875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mm16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Random</c:v>
          </c:tx>
          <c:spPr>
            <a:solidFill>
              <a:srgbClr val="69717A"/>
            </a:solidFill>
            <a:ln w="0">
              <a:noFill/>
            </a:ln>
          </c:spPr>
          <c:invertIfNegative val="0"/>
          <c:cat>
            <c:numRef>
              <c:f>'Chart Data'!$A$2:$A$6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9046.63333333</c:v>
                </c:pt>
                <c:pt idx="1">
                  <c:v>8625.4</c:v>
                </c:pt>
                <c:pt idx="2">
                  <c:v>6922.06666667</c:v>
                </c:pt>
                <c:pt idx="3">
                  <c:v>4292.06666667</c:v>
                </c:pt>
                <c:pt idx="4">
                  <c:v>2963.96666667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C2-41C0-98D2-178C7487F2D3}"/>
            </c:ext>
          </c:extLst>
        </c:ser>
        <c:ser>
          <c:idx val="1"/>
          <c:order val="1"/>
          <c:tx>
            <c:v>FIFO</c:v>
          </c:tx>
          <c:spPr>
            <a:solidFill>
              <a:srgbClr val="B39945"/>
            </a:solidFill>
            <a:ln w="0">
              <a:noFill/>
            </a:ln>
          </c:spPr>
          <c:invertIfNegative val="0"/>
          <c:cat>
            <c:numRef>
              <c:f>'Chart Data'!$C$2:$C$6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Data'!$D$2:$D$6</c:f>
              <c:numCache>
                <c:formatCode>#,##0</c:formatCode>
                <c:ptCount val="5"/>
                <c:pt idx="0">
                  <c:v>9075</c:v>
                </c:pt>
                <c:pt idx="1">
                  <c:v>9075</c:v>
                </c:pt>
                <c:pt idx="2">
                  <c:v>9075</c:v>
                </c:pt>
                <c:pt idx="3">
                  <c:v>4180</c:v>
                </c:pt>
                <c:pt idx="4">
                  <c:v>3487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2C2-41C0-98D2-178C7487F2D3}"/>
            </c:ext>
          </c:extLst>
        </c:ser>
        <c:ser>
          <c:idx val="2"/>
          <c:order val="2"/>
          <c:tx>
            <c:v>OPT</c:v>
          </c:tx>
          <c:spPr>
            <a:solidFill>
              <a:srgbClr val="238A91"/>
            </a:solidFill>
            <a:ln w="0">
              <a:noFill/>
            </a:ln>
          </c:spPr>
          <c:invertIfNegative val="0"/>
          <c:cat>
            <c:numRef>
              <c:f>'Chart Data'!$E$2:$E$6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Data'!$F$2:$F$6</c:f>
              <c:numCache>
                <c:formatCode>#,##0</c:formatCode>
                <c:ptCount val="5"/>
                <c:pt idx="0">
                  <c:v>7407</c:v>
                </c:pt>
                <c:pt idx="1">
                  <c:v>5990</c:v>
                </c:pt>
                <c:pt idx="2">
                  <c:v>3426</c:v>
                </c:pt>
                <c:pt idx="3">
                  <c:v>2461</c:v>
                </c:pt>
                <c:pt idx="4">
                  <c:v>1657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2C2-41C0-98D2-178C7487F2D3}"/>
            </c:ext>
          </c:extLst>
        </c:ser>
        <c:ser>
          <c:idx val="3"/>
          <c:order val="3"/>
          <c:tx>
            <c:v>LFU</c:v>
          </c:tx>
          <c:spPr>
            <a:solidFill>
              <a:srgbClr val="D0634F"/>
            </a:solidFill>
            <a:ln w="0">
              <a:noFill/>
            </a:ln>
          </c:spPr>
          <c:invertIfNegative val="0"/>
          <c:cat>
            <c:numRef>
              <c:f>'Chart Data'!$G$2:$G$6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Data'!$H$2:$H$6</c:f>
              <c:numCache>
                <c:formatCode>#,##0</c:formatCode>
                <c:ptCount val="5"/>
                <c:pt idx="0">
                  <c:v>9075</c:v>
                </c:pt>
                <c:pt idx="1">
                  <c:v>9075</c:v>
                </c:pt>
                <c:pt idx="2">
                  <c:v>9075</c:v>
                </c:pt>
                <c:pt idx="3">
                  <c:v>6642</c:v>
                </c:pt>
                <c:pt idx="4">
                  <c:v>6077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2C2-41C0-98D2-178C7487F2D3}"/>
            </c:ext>
          </c:extLst>
        </c:ser>
        <c:ser>
          <c:idx val="4"/>
          <c:order val="4"/>
          <c:tx>
            <c:v>LRU</c:v>
          </c:tx>
          <c:spPr>
            <a:solidFill>
              <a:srgbClr val="376D9A"/>
            </a:solidFill>
            <a:ln w="0">
              <a:noFill/>
            </a:ln>
          </c:spPr>
          <c:invertIfNegative val="0"/>
          <c:cat>
            <c:numRef>
              <c:f>'Chart Data'!$I$2:$I$6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Data'!$J$2:$J$6</c:f>
              <c:numCache>
                <c:formatCode>#,##0</c:formatCode>
                <c:ptCount val="5"/>
                <c:pt idx="0">
                  <c:v>9075</c:v>
                </c:pt>
                <c:pt idx="1">
                  <c:v>9075</c:v>
                </c:pt>
                <c:pt idx="2">
                  <c:v>9075</c:v>
                </c:pt>
                <c:pt idx="3">
                  <c:v>2964</c:v>
                </c:pt>
                <c:pt idx="4">
                  <c:v>2964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2C2-41C0-98D2-178C7487F2D3}"/>
            </c:ext>
          </c:extLst>
        </c:ser>
        <c:ser>
          <c:idx val="5"/>
          <c:order val="5"/>
          <c:tx>
            <c:v>Clock</c:v>
          </c:tx>
          <c:spPr>
            <a:solidFill>
              <a:srgbClr val="AAA0BA"/>
            </a:solidFill>
            <a:ln w="0">
              <a:noFill/>
            </a:ln>
          </c:spPr>
          <c:invertIfNegative val="0"/>
          <c:cat>
            <c:numRef>
              <c:f>'Chart Data'!$K$2:$K$6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Data'!$L$2:$L$6</c:f>
              <c:numCache>
                <c:formatCode>#,##0</c:formatCode>
                <c:ptCount val="5"/>
                <c:pt idx="0">
                  <c:v>9075</c:v>
                </c:pt>
                <c:pt idx="1">
                  <c:v>9075</c:v>
                </c:pt>
                <c:pt idx="2">
                  <c:v>9075</c:v>
                </c:pt>
                <c:pt idx="3">
                  <c:v>3023</c:v>
                </c:pt>
                <c:pt idx="4">
                  <c:v>2964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2C2-41C0-98D2-178C7487F2D3}"/>
            </c:ext>
          </c:extLst>
        </c:ser>
        <c:ser>
          <c:idx val="6"/>
          <c:order val="6"/>
          <c:tx>
            <c:v>Adaptive V2</c:v>
          </c:tx>
          <c:spPr>
            <a:solidFill>
              <a:srgbClr val="6B4A82"/>
            </a:solidFill>
            <a:ln w="0">
              <a:noFill/>
            </a:ln>
          </c:spPr>
          <c:invertIfNegative val="0"/>
          <c:cat>
            <c:numRef>
              <c:f>'Chart Data'!$M$2:$M$6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Data'!$N$2:$N$6</c:f>
              <c:numCache>
                <c:formatCode>#,##0</c:formatCode>
                <c:ptCount val="5"/>
                <c:pt idx="0">
                  <c:v>7552.76666667</c:v>
                </c:pt>
                <c:pt idx="1">
                  <c:v>6237.76666667</c:v>
                </c:pt>
                <c:pt idx="2">
                  <c:v>3707.66666667</c:v>
                </c:pt>
                <c:pt idx="3">
                  <c:v>2964</c:v>
                </c:pt>
                <c:pt idx="4">
                  <c:v>2964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2C2-41C0-98D2-178C7487F2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EC6D8"/>
            </a:solidFill>
          </a:ln>
        </c:spPr>
        <c:txPr>
          <a:bodyPr anchorCtr="1"/>
          <a:lstStyle/>
          <a:p>
            <a:pPr>
              <a:defRPr sz="1275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8E3EF"/>
              </a:solidFill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275">
              <a:solidFill>
                <a:srgbClr val="29203A"/>
              </a:solidFill>
              <a:latin typeface="Microsoft YaHei"/>
              <a:ea typeface="Microsoft YaHei"/>
              <a:cs typeface="Microsoft YaHei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sz="1875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mm32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Random</c:v>
          </c:tx>
          <c:spPr>
            <a:solidFill>
              <a:srgbClr val="69717A"/>
            </a:solidFill>
            <a:ln w="0">
              <a:noFill/>
            </a:ln>
          </c:spPr>
          <c:invertIfNegative val="0"/>
          <c:cat>
            <c:numRef>
              <c:f>'Chart Data'!$A$2:$A$6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67071.2</c:v>
                </c:pt>
                <c:pt idx="1">
                  <c:v>65301.03333333</c:v>
                </c:pt>
                <c:pt idx="2">
                  <c:v>59191.53333333</c:v>
                </c:pt>
                <c:pt idx="3">
                  <c:v>39745.63333333</c:v>
                </c:pt>
                <c:pt idx="4">
                  <c:v>28090.6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B4-45DD-8A5D-12D1C78659B3}"/>
            </c:ext>
          </c:extLst>
        </c:ser>
        <c:ser>
          <c:idx val="1"/>
          <c:order val="1"/>
          <c:tx>
            <c:v>FIFO</c:v>
          </c:tx>
          <c:spPr>
            <a:solidFill>
              <a:srgbClr val="B39945"/>
            </a:solidFill>
            <a:ln w="0">
              <a:noFill/>
            </a:ln>
          </c:spPr>
          <c:invertIfNegative val="0"/>
          <c:cat>
            <c:numRef>
              <c:f>'Chart Data'!$C$2:$C$6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Data'!$D$2:$D$6</c:f>
              <c:numCache>
                <c:formatCode>#,##0</c:formatCode>
                <c:ptCount val="5"/>
                <c:pt idx="0">
                  <c:v>67235</c:v>
                </c:pt>
                <c:pt idx="1">
                  <c:v>67235</c:v>
                </c:pt>
                <c:pt idx="2">
                  <c:v>67235</c:v>
                </c:pt>
                <c:pt idx="3">
                  <c:v>55136</c:v>
                </c:pt>
                <c:pt idx="4">
                  <c:v>28421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5B4-45DD-8A5D-12D1C78659B3}"/>
            </c:ext>
          </c:extLst>
        </c:ser>
        <c:ser>
          <c:idx val="2"/>
          <c:order val="2"/>
          <c:tx>
            <c:v>OPT</c:v>
          </c:tx>
          <c:spPr>
            <a:solidFill>
              <a:srgbClr val="238A91"/>
            </a:solidFill>
            <a:ln w="0">
              <a:noFill/>
            </a:ln>
          </c:spPr>
          <c:invertIfNegative val="0"/>
          <c:cat>
            <c:numRef>
              <c:f>'Chart Data'!$E$2:$E$6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Data'!$F$2:$F$6</c:f>
              <c:numCache>
                <c:formatCode>#,##0</c:formatCode>
                <c:ptCount val="5"/>
                <c:pt idx="0">
                  <c:v>54807</c:v>
                </c:pt>
                <c:pt idx="1">
                  <c:v>48109</c:v>
                </c:pt>
                <c:pt idx="2">
                  <c:v>37682</c:v>
                </c:pt>
                <c:pt idx="3">
                  <c:v>19164</c:v>
                </c:pt>
                <c:pt idx="4">
                  <c:v>17514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5B4-45DD-8A5D-12D1C78659B3}"/>
            </c:ext>
          </c:extLst>
        </c:ser>
        <c:ser>
          <c:idx val="3"/>
          <c:order val="3"/>
          <c:tx>
            <c:v>LFU</c:v>
          </c:tx>
          <c:spPr>
            <a:solidFill>
              <a:srgbClr val="D0634F"/>
            </a:solidFill>
            <a:ln w="0">
              <a:noFill/>
            </a:ln>
          </c:spPr>
          <c:invertIfNegative val="0"/>
          <c:cat>
            <c:numRef>
              <c:f>'Chart Data'!$G$2:$G$6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Data'!$H$2:$H$6</c:f>
              <c:numCache>
                <c:formatCode>#,##0</c:formatCode>
                <c:ptCount val="5"/>
                <c:pt idx="0">
                  <c:v>67235</c:v>
                </c:pt>
                <c:pt idx="1">
                  <c:v>67235</c:v>
                </c:pt>
                <c:pt idx="2">
                  <c:v>67235</c:v>
                </c:pt>
                <c:pt idx="3">
                  <c:v>53805</c:v>
                </c:pt>
                <c:pt idx="4">
                  <c:v>51699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5B4-45DD-8A5D-12D1C78659B3}"/>
            </c:ext>
          </c:extLst>
        </c:ser>
        <c:ser>
          <c:idx val="4"/>
          <c:order val="4"/>
          <c:tx>
            <c:v>LRU</c:v>
          </c:tx>
          <c:spPr>
            <a:solidFill>
              <a:srgbClr val="376D9A"/>
            </a:solidFill>
            <a:ln w="0">
              <a:noFill/>
            </a:ln>
          </c:spPr>
          <c:invertIfNegative val="0"/>
          <c:cat>
            <c:numRef>
              <c:f>'Chart Data'!$I$2:$I$6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Data'!$J$2:$J$6</c:f>
              <c:numCache>
                <c:formatCode>#,##0</c:formatCode>
                <c:ptCount val="5"/>
                <c:pt idx="0">
                  <c:v>67235</c:v>
                </c:pt>
                <c:pt idx="1">
                  <c:v>67235</c:v>
                </c:pt>
                <c:pt idx="2">
                  <c:v>67235</c:v>
                </c:pt>
                <c:pt idx="3">
                  <c:v>51860</c:v>
                </c:pt>
                <c:pt idx="4">
                  <c:v>19604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5B4-45DD-8A5D-12D1C78659B3}"/>
            </c:ext>
          </c:extLst>
        </c:ser>
        <c:ser>
          <c:idx val="5"/>
          <c:order val="5"/>
          <c:tx>
            <c:v>Clock</c:v>
          </c:tx>
          <c:spPr>
            <a:solidFill>
              <a:srgbClr val="AAA0BA"/>
            </a:solidFill>
            <a:ln w="0">
              <a:noFill/>
            </a:ln>
          </c:spPr>
          <c:invertIfNegative val="0"/>
          <c:cat>
            <c:numRef>
              <c:f>'Chart Data'!$K$2:$K$6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Data'!$L$2:$L$6</c:f>
              <c:numCache>
                <c:formatCode>#,##0</c:formatCode>
                <c:ptCount val="5"/>
                <c:pt idx="0">
                  <c:v>67235</c:v>
                </c:pt>
                <c:pt idx="1">
                  <c:v>67235</c:v>
                </c:pt>
                <c:pt idx="2">
                  <c:v>67235</c:v>
                </c:pt>
                <c:pt idx="3">
                  <c:v>51865</c:v>
                </c:pt>
                <c:pt idx="4">
                  <c:v>19947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5B4-45DD-8A5D-12D1C78659B3}"/>
            </c:ext>
          </c:extLst>
        </c:ser>
        <c:ser>
          <c:idx val="6"/>
          <c:order val="6"/>
          <c:tx>
            <c:v>Adaptive V2</c:v>
          </c:tx>
          <c:spPr>
            <a:solidFill>
              <a:srgbClr val="6B4A82"/>
            </a:solidFill>
            <a:ln w="0">
              <a:noFill/>
            </a:ln>
          </c:spPr>
          <c:invertIfNegative val="0"/>
          <c:cat>
            <c:numRef>
              <c:f>'Chart Data'!$M$2:$M$6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Data'!$N$2:$N$6</c:f>
              <c:numCache>
                <c:formatCode>#,##0</c:formatCode>
                <c:ptCount val="5"/>
                <c:pt idx="0">
                  <c:v>55009.9</c:v>
                </c:pt>
                <c:pt idx="1">
                  <c:v>49259.46666667</c:v>
                </c:pt>
                <c:pt idx="2">
                  <c:v>39837.93333333</c:v>
                </c:pt>
                <c:pt idx="3">
                  <c:v>21633</c:v>
                </c:pt>
                <c:pt idx="4">
                  <c:v>19604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5B4-45DD-8A5D-12D1C78659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EC6D8"/>
            </a:solidFill>
          </a:ln>
        </c:spPr>
        <c:txPr>
          <a:bodyPr anchorCtr="1"/>
          <a:lstStyle/>
          <a:p>
            <a:pPr>
              <a:defRPr sz="1275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8E3EF"/>
              </a:solidFill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275">
              <a:solidFill>
                <a:srgbClr val="29203A"/>
              </a:solidFill>
              <a:latin typeface="Microsoft YaHei"/>
              <a:ea typeface="Microsoft YaHei"/>
              <a:cs typeface="Microsoft YaHei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sz="1875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qsort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LRU</c:v>
          </c:tx>
          <c:spPr>
            <a:solidFill>
              <a:srgbClr val="A7ADB4"/>
            </a:solidFill>
            <a:ln w="0">
              <a:noFill/>
            </a:ln>
          </c:spPr>
          <c:invertIfNegative val="0"/>
          <c:dLbls>
            <c:delete val="1"/>
          </c:dLbls>
          <c:cat>
            <c:numRef>
              <c:f>'Chart Data'!$A$2:$A$6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8E-40D0-B1D8-2DB65FDDE0E2}"/>
            </c:ext>
          </c:extLst>
        </c:ser>
        <c:ser>
          <c:idx val="1"/>
          <c:order val="1"/>
          <c:tx>
            <c:v>Adaptive V2</c:v>
          </c:tx>
          <c:spPr>
            <a:solidFill>
              <a:srgbClr val="6B4A82"/>
            </a:solidFill>
            <a:ln w="0">
              <a:noFill/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29203A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Data'!$C$2:$C$6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Data'!$D$2:$D$6</c:f>
              <c:numCache>
                <c:formatCode>0.00</c:formatCode>
                <c:ptCount val="5"/>
                <c:pt idx="0">
                  <c:v>0.93352417</c:v>
                </c:pt>
                <c:pt idx="1">
                  <c:v>0.83346056</c:v>
                </c:pt>
                <c:pt idx="2">
                  <c:v>0.6351145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28E-40D0-B1D8-2DB65FDDE0E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EC6D8"/>
            </a:solidFill>
          </a:ln>
        </c:spPr>
        <c:txPr>
          <a:bodyPr anchorCtr="1"/>
          <a:lstStyle/>
          <a:p>
            <a:pPr>
              <a:defRPr sz="1125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2"/>
          <c:min val="0"/>
        </c:scaling>
        <c:delete val="0"/>
        <c:axPos val="l"/>
        <c:majorGridlines>
          <c:spPr>
            <a:ln w="9525">
              <a:solidFill>
                <a:srgbClr val="E8E3EF"/>
              </a:solidFill>
            </a:ln>
          </c:spPr>
        </c:majorGridlines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29203A"/>
              </a:solidFill>
              <a:latin typeface="Microsoft YaHei"/>
              <a:ea typeface="Microsoft YaHei"/>
              <a:cs typeface="Microsoft YaHei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sz="1875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lu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LRU</c:v>
          </c:tx>
          <c:spPr>
            <a:solidFill>
              <a:srgbClr val="A7ADB4"/>
            </a:solidFill>
            <a:ln w="0">
              <a:noFill/>
            </a:ln>
          </c:spPr>
          <c:invertIfNegative val="0"/>
          <c:dLbls>
            <c:delete val="1"/>
          </c:dLbls>
          <c:cat>
            <c:numRef>
              <c:f>'Chart Data'!$A$2:$A$6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C0-4FCD-B146-1AE5109FC250}"/>
            </c:ext>
          </c:extLst>
        </c:ser>
        <c:ser>
          <c:idx val="1"/>
          <c:order val="1"/>
          <c:tx>
            <c:v>Adaptive V2</c:v>
          </c:tx>
          <c:spPr>
            <a:solidFill>
              <a:srgbClr val="6B4A82"/>
            </a:solidFill>
            <a:ln w="0">
              <a:noFill/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29203A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Data'!$C$2:$C$6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Data'!$D$2:$D$6</c:f>
              <c:numCache>
                <c:formatCode>0.00</c:formatCode>
                <c:ptCount val="5"/>
                <c:pt idx="0">
                  <c:v>0.82151861</c:v>
                </c:pt>
                <c:pt idx="1">
                  <c:v>0.71705632</c:v>
                </c:pt>
                <c:pt idx="2">
                  <c:v>0.67753873</c:v>
                </c:pt>
                <c:pt idx="3">
                  <c:v>0.89120281</c:v>
                </c:pt>
                <c:pt idx="4">
                  <c:v>0.70136242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FC0-4FCD-B146-1AE5109FC25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EC6D8"/>
            </a:solidFill>
          </a:ln>
        </c:spPr>
        <c:txPr>
          <a:bodyPr anchorCtr="1"/>
          <a:lstStyle/>
          <a:p>
            <a:pPr>
              <a:defRPr sz="1125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2"/>
          <c:min val="0"/>
        </c:scaling>
        <c:delete val="0"/>
        <c:axPos val="l"/>
        <c:majorGridlines>
          <c:spPr>
            <a:ln w="9525">
              <a:solidFill>
                <a:srgbClr val="E8E3EF"/>
              </a:solidFill>
            </a:ln>
          </c:spPr>
        </c:majorGridlines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29203A"/>
              </a:solidFill>
              <a:latin typeface="Microsoft YaHei"/>
              <a:ea typeface="Microsoft YaHei"/>
              <a:cs typeface="Microsoft YaHei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sz="1875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mm16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LRU</c:v>
          </c:tx>
          <c:spPr>
            <a:solidFill>
              <a:srgbClr val="A7ADB4"/>
            </a:solidFill>
            <a:ln w="0">
              <a:noFill/>
            </a:ln>
          </c:spPr>
          <c:invertIfNegative val="0"/>
          <c:dLbls>
            <c:delete val="1"/>
          </c:dLbls>
          <c:cat>
            <c:numRef>
              <c:f>'Chart Data'!$A$2:$A$6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89-45BF-94EC-60842A014054}"/>
            </c:ext>
          </c:extLst>
        </c:ser>
        <c:ser>
          <c:idx val="1"/>
          <c:order val="1"/>
          <c:tx>
            <c:v>Adaptive V2</c:v>
          </c:tx>
          <c:spPr>
            <a:solidFill>
              <a:srgbClr val="6B4A82"/>
            </a:solidFill>
            <a:ln w="0">
              <a:noFill/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29203A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Data'!$C$2:$C$6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Data'!$D$2:$D$6</c:f>
              <c:numCache>
                <c:formatCode>0.00</c:formatCode>
                <c:ptCount val="5"/>
                <c:pt idx="0">
                  <c:v>0.83226079</c:v>
                </c:pt>
                <c:pt idx="1">
                  <c:v>0.68735721</c:v>
                </c:pt>
                <c:pt idx="2">
                  <c:v>0.40855831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89-45BF-94EC-60842A01405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EC6D8"/>
            </a:solidFill>
          </a:ln>
        </c:spPr>
        <c:txPr>
          <a:bodyPr anchorCtr="1"/>
          <a:lstStyle/>
          <a:p>
            <a:pPr>
              <a:defRPr sz="1125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2"/>
          <c:min val="0"/>
        </c:scaling>
        <c:delete val="0"/>
        <c:axPos val="l"/>
        <c:majorGridlines>
          <c:spPr>
            <a:ln w="9525">
              <a:solidFill>
                <a:srgbClr val="E8E3EF"/>
              </a:solidFill>
            </a:ln>
          </c:spPr>
        </c:majorGridlines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29203A"/>
              </a:solidFill>
              <a:latin typeface="Microsoft YaHei"/>
              <a:ea typeface="Microsoft YaHei"/>
              <a:cs typeface="Microsoft YaHei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sz="1875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mm32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LRU</c:v>
          </c:tx>
          <c:spPr>
            <a:solidFill>
              <a:srgbClr val="A7ADB4"/>
            </a:solidFill>
            <a:ln w="0">
              <a:noFill/>
            </a:ln>
          </c:spPr>
          <c:invertIfNegative val="0"/>
          <c:dLbls>
            <c:delete val="1"/>
          </c:dLbls>
          <c:cat>
            <c:numRef>
              <c:f>'Chart Data'!$A$2:$A$6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00-4337-8242-7A80242D8E89}"/>
            </c:ext>
          </c:extLst>
        </c:ser>
        <c:ser>
          <c:idx val="1"/>
          <c:order val="1"/>
          <c:tx>
            <c:v>Adaptive V2</c:v>
          </c:tx>
          <c:spPr>
            <a:solidFill>
              <a:srgbClr val="6B4A82"/>
            </a:solidFill>
            <a:ln w="0">
              <a:noFill/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29203A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Data'!$C$2:$C$6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'Chart Data'!$D$2:$D$6</c:f>
              <c:numCache>
                <c:formatCode>0.00</c:formatCode>
                <c:ptCount val="5"/>
                <c:pt idx="0">
                  <c:v>0.81817357</c:v>
                </c:pt>
                <c:pt idx="1">
                  <c:v>0.73264619</c:v>
                </c:pt>
                <c:pt idx="2">
                  <c:v>0.59251779</c:v>
                </c:pt>
                <c:pt idx="3">
                  <c:v>0.41714231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800-4337-8242-7A80242D8E8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EC6D8"/>
            </a:solidFill>
          </a:ln>
        </c:spPr>
        <c:txPr>
          <a:bodyPr anchorCtr="1"/>
          <a:lstStyle/>
          <a:p>
            <a:pPr>
              <a:defRPr sz="1125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2"/>
          <c:min val="0"/>
        </c:scaling>
        <c:delete val="0"/>
        <c:axPos val="l"/>
        <c:majorGridlines>
          <c:spPr>
            <a:ln w="9525">
              <a:solidFill>
                <a:srgbClr val="E8E3EF"/>
              </a:solidFill>
            </a:ln>
          </c:spPr>
        </c:majorGridlines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29203A"/>
              </a:solidFill>
              <a:latin typeface="Microsoft YaHei"/>
              <a:ea typeface="Microsoft YaHei"/>
              <a:cs typeface="Microsoft YaHei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LRU = 1</c:v>
          </c:tx>
          <c:spPr>
            <a:solidFill>
              <a:srgbClr val="A7ADB4"/>
            </a:solidFill>
            <a:ln w="0">
              <a:noFill/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solidFill>
                      <a:srgbClr val="29203A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Data'!$A$2:$A$7</c:f>
              <c:strCache>
                <c:ptCount val="6"/>
                <c:pt idx="0">
                  <c:v>顺序扫描</c:v>
                </c:pt>
                <c:pt idx="1">
                  <c:v>73 页循环</c:v>
                </c:pt>
                <c:pt idx="2">
                  <c:v>149 页循环</c:v>
                </c:pt>
                <c:pt idx="3">
                  <c:v>热点 + 扫描</c:v>
                </c:pt>
                <c:pt idx="4">
                  <c:v>阶段切换</c:v>
                </c:pt>
                <c:pt idx="5">
                  <c:v>均匀随机</c:v>
                </c:pt>
              </c:strCache>
            </c:strRef>
          </c:cat>
          <c:val>
            <c:numRef>
              <c:f>'Chart Data'!$B$2:$B$7</c:f>
              <c:numCache>
                <c:formatCode>0.00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D1-4C0F-8BF7-88BC18783D15}"/>
            </c:ext>
          </c:extLst>
        </c:ser>
        <c:ser>
          <c:idx val="1"/>
          <c:order val="1"/>
          <c:tx>
            <c:v>Adaptive / LRU</c:v>
          </c:tx>
          <c:spPr>
            <a:solidFill>
              <a:srgbClr val="6B4A82"/>
            </a:solidFill>
            <a:ln w="0">
              <a:noFill/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solidFill>
                      <a:srgbClr val="29203A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Data'!$C$2:$C$7</c:f>
              <c:strCache>
                <c:ptCount val="6"/>
                <c:pt idx="0">
                  <c:v>顺序扫描</c:v>
                </c:pt>
                <c:pt idx="1">
                  <c:v>73 页循环</c:v>
                </c:pt>
                <c:pt idx="2">
                  <c:v>149 页循环</c:v>
                </c:pt>
                <c:pt idx="3">
                  <c:v>热点 + 扫描</c:v>
                </c:pt>
                <c:pt idx="4">
                  <c:v>阶段切换</c:v>
                </c:pt>
                <c:pt idx="5">
                  <c:v>均匀随机</c:v>
                </c:pt>
              </c:strCache>
            </c:strRef>
          </c:cat>
          <c:val>
            <c:numRef>
              <c:f>'Chart Data'!$D$2:$D$7</c:f>
              <c:numCache>
                <c:formatCode>0.00</c:formatCode>
                <c:ptCount val="6"/>
                <c:pt idx="0">
                  <c:v>1</c:v>
                </c:pt>
                <c:pt idx="1">
                  <c:v>0.73411291</c:v>
                </c:pt>
                <c:pt idx="2">
                  <c:v>0.78778778</c:v>
                </c:pt>
                <c:pt idx="3">
                  <c:v>0.90373211</c:v>
                </c:pt>
                <c:pt idx="4">
                  <c:v>0.70038044</c:v>
                </c:pt>
                <c:pt idx="5">
                  <c:v>1.00137841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6D1-4C0F-8BF7-88BC18783D1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EC6D8"/>
            </a:solidFill>
          </a:ln>
        </c:spPr>
        <c:txPr>
          <a:bodyPr anchorCtr="1"/>
          <a:lstStyle/>
          <a:p>
            <a:pPr>
              <a:defRPr sz="165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2"/>
          <c:min val="0"/>
        </c:scaling>
        <c:delete val="0"/>
        <c:axPos val="l"/>
        <c:majorGridlines>
          <c:spPr>
            <a:ln w="9525">
              <a:solidFill>
                <a:srgbClr val="E8E3EF"/>
              </a:solidFill>
            </a:ln>
          </c:spPr>
        </c:majorGridlines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29203A"/>
              </a:solidFill>
              <a:latin typeface="Microsoft YaHei"/>
              <a:ea typeface="Microsoft YaHei"/>
              <a:cs typeface="Microsoft YaHei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开场约 20 秒。我们实现六种参照算法，并设计只使用过去访问的 Adaptive。重点解释如何利用访问特征，以及这轮优化修复了什么问题。</a:t>
            </a:r>
            <a:endParaRPr sz="1200" b="0">
              <a:solidFill>
                <a:srgbClr val="29203A"/>
              </a:solidFill>
              <a:latin typeface="Microsoft YaHei"/>
              <a:ea typeface="Microsoft YaHei"/>
              <a:cs typeface="Microsoft YaHei"/>
            </a:endParaRPr>
          </a:p>
          <a:p>
            <a:endParaRPr sz="1200" b="0">
              <a:solidFill>
                <a:srgbClr val="29203A"/>
              </a:solidFill>
              <a:latin typeface="Microsoft YaHei"/>
              <a:ea typeface="Microsoft YaHei"/>
              <a:cs typeface="Microsoft YaHei"/>
            </a:endParaRPr>
          </a:p>
          <a:p>
            <a:r>
              <a:t>数据与实现来源： https://github.com/CHiSwsz/os-page-replacement</a:t>
            </a:r>
            <a:endParaRPr sz="1200" b="0">
              <a:solidFill>
                <a:srgbClr val="29203A"/>
              </a:solidFill>
              <a:latin typeface="Microsoft YaHei"/>
              <a:ea typeface="Microsoft YaHei"/>
              <a:cs typeface="Microsoft YaHei"/>
            </a:endParaRPr>
          </a:p>
          <a:p>
            <a:r>
              <a:t>results/summary.csv</a:t>
            </a:r>
            <a:endParaRPr sz="1200" b="0">
              <a:solidFill>
                <a:srgbClr val="29203A"/>
              </a:solidFill>
              <a:latin typeface="Microsoft YaHei"/>
              <a:ea typeface="Microsoft YaHei"/>
              <a:cs typeface="Microsoft YaHei"/>
            </a:endParaRPr>
          </a:p>
          <a:p>
            <a:r>
              <a:t>课件要求：OS-页面替换-更新.pptx，第 8 页图例。</a:t>
            </a:r>
            <a:endParaRPr sz="1200" b="0">
              <a:solidFill>
                <a:srgbClr val="2920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约 35 秒。trace 里的数字已经是虚拟页号，无需再除以页大小。每个 frame 存一页，缺页时只能装入当前访问页。这里以一个统一虚拟页号空间建模，忽略 TLB、脏页写回和多进程调度。OPT 单独作为允许读取未来的离线参照。</a:t>
            </a:r>
          </a:p>
          <a:p>
            <a:endParaRPr sz="1200" b="0">
              <a:solidFill>
                <a:srgbClr val="29203A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数据与实现来源： https://github.com/CHiSwsz/os-page-replacement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data/manifest.json; src/main.cpp; src/paging.cpp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课件要求：OS-页面替换-更新.pptx，第 8 页图例。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约 45 秒。程序名提示来源，但设计依据是实际测得的复用，而不是文件名。qsort 很短，冷启动占比较大；lu 的远距离重用多；两种矩阵轨迹表现出明显容量阈值。四条轨迹都没有小于 20 的重用距离，因此 LRU 在 5、10、20 页框时全部缺页。</a:t>
            </a:r>
          </a:p>
          <a:p>
            <a:endParaRPr sz="1200" b="0">
              <a:solidFill>
                <a:srgbClr val="29203A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数据与实现来源： https://github.com/CHiSwsz/os-page-replacement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results/trace_diagnostics.json; data/manifest.json; results/summary.csv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课件要求：OS-页面替换-更新.pptx，第 8 页图例。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约 40 秒。这里取 20 个页框。重复访问发生得比缓存能保留的范围更晚，LRU 会产生循环淘汰。随机替换有机会留下部分页面，历史间隔预测还能尝试辨别哪些页更快重用。这是引入多策略的动机，不能推出所有新轨迹也有这种规律。</a:t>
            </a:r>
          </a:p>
          <a:p>
            <a:endParaRPr sz="1200" b="0">
              <a:solidFill>
                <a:srgbClr val="29203A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数据与实现来源： https://github.com/CHiSwsz/os-page-replacement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results/summary.csv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课件要求：OS-页面替换-更新.pptx，第 8 页图例。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约 35 秒。五种基础算法是 Random、FIFO、OPT、LFU、LRU，我们额外补齐课件里的 Second chance。OPT 在相同模型下给出理论最少缺页数。它与在线算法的信息条件不同，作为下界而非可部署竞争者。</a:t>
            </a:r>
          </a:p>
          <a:p>
            <a:endParaRPr sz="1200" b="0">
              <a:solidFill>
                <a:srgbClr val="29203A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数据与实现来源： https://github.com/CHiSwsz/os-page-replacement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include/paging.hpp; src/paging.cpp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课件要求：OS-页面替换-更新.pptx，第 8 页图例。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约 45 秒。影子缓存只是反事实的元数据模拟，用已发生的访问比较三个候选。切换只改变今后的淘汰依据，真实内存中的驻留页不会凭空变化。一个程序以 F 为参数，不依赖轨迹文件名、具体页号或预先知道的最优策略。</a:t>
            </a:r>
          </a:p>
          <a:p>
            <a:endParaRPr sz="1200" b="0">
              <a:solidFill>
                <a:srgbClr val="29203A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数据与实现来源： https://github.com/CHiSwsz/os-page-replacement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src/adaptive.cpp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课件要求：OS-页面替换-更新.pptx，第 8 页图例。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约 50 秒。第一次观察到重复时直接设置间隔，之后进行指数平滑。波动较大的页面预测更保守。逾期页面失去保护，避免过去的热点被永久保留。没有重复历史时评分为无穷大，并列按 LRU。最多保留 H=max(32,16F) 个最近页号。预测由过去估计，不能像 OPT 一样看到未来。</a:t>
            </a:r>
          </a:p>
          <a:p>
            <a:endParaRPr sz="1200" b="0">
              <a:solidFill>
                <a:srgbClr val="29203A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数据与实现来源： https://github.com/CHiSwsz/os-page-replacement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src/adaptive.cpp: History::observe and History::delay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课件要求：OS-页面替换-更新.pptx，第 8 页图例。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约 55 秒。频繁重置会伤害小容量的长程预测收益，探索后保留小容量原规则。大容量延长窗口、提高切换门槛，并每 W 次让三种影子策略从实际页号状态出发。复制方向是实际到影子，不会把假想页面装入真实内存。周期内部仍可能发生状态偏离，因此只能减少问题，不能消除所有切换代价。</a:t>
            </a:r>
          </a:p>
          <a:p>
            <a:endParaRPr sz="1200" b="0">
              <a:solidFill>
                <a:srgbClr val="29203A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数据与实现来源： https://github.com/CHiSwsz/os-page-replacement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src/adaptive.cpp; results/optimization_search_raw.csv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课件要求：OS-页面替换-更新.pptx，第 8 页图例。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约 40 秒。共 140 组配置，保存 1,300 次正式运行。先平均同配置的 30 个种子，再对 20 个配置等权平均缺页次数。长轨迹数值更大，所以另报告宏平均缺页率：V2 为 58.83%。OPT 平均 16,309.80，V2 仍比它多约 6.41%。均值小数不表示一次运行有小数次缺页。</a:t>
            </a:r>
          </a:p>
          <a:p>
            <a:endParaRPr sz="1200" b="0">
              <a:solidFill>
                <a:srgbClr val="29203A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数据与实现来源： https://github.com/CHiSwsz/os-page-replacement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results/raw.csv; results/overall.csv; results/metadata.json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课件要求：OS-页面替换-更新.pptx，第 8 页图例。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约 35 秒。qsort 只有 524 次访问，大容量提升空间小，50 和 100 页框都停在 199。lu 在所有容量下均优于所测在线基线，尤其 50 页框本轮进一步改善。</a:t>
            </a:r>
          </a:p>
          <a:p>
            <a:endParaRPr sz="1200" b="0">
              <a:solidFill>
                <a:srgbClr val="29203A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数据与实现来源： https://github.com/CHiSwsz/os-page-replacement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results/summary.csv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课件要求：OS-页面替换-更新.pptx，第 8 页图例。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约 40 秒。mm16 在 50 和 100 页框已与 LRU 持平。mm32 在 50 页框，LRU 为 51,860，V2 为 21,633，收益最明显；100 页框时 LRU 已很好，V2 保持相同缺页次数。</a:t>
            </a:r>
          </a:p>
          <a:p>
            <a:endParaRPr sz="1200" b="0">
              <a:solidFill>
                <a:srgbClr val="29203A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数据与实现来源： https://github.com/CHiSwsz/os-page-replacement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results/summary.csv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课件要求：OS-页面替换-更新.pptx，第 8 页图例。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约 35 秒。每个柱子是同一轨迹、同一容量下，Adaptive 缺页数除以 LRU 缺页数。灰柱固定为 1，与课件示例一致。比 LRU 好并不等于比所有算法都好，例如 qsort/100 的 Random 均值更低。</a:t>
            </a:r>
          </a:p>
          <a:p>
            <a:endParaRPr sz="1200" b="0">
              <a:solidFill>
                <a:srgbClr val="29203A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数据与实现来源： https://github.com/CHiSwsz/os-page-replacement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results/summary.csv; OS-页面替换-更新.pptx 第 8 页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课件要求：OS-页面替换-更新.pptx，第 8 页图例。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约 45 秒。最明显的是 lu/50，少 1,407 次；mm16/100 少 267.33 次，消除了相对 LRU 的退化。全部小容量逐步决策与旧版一致。这是一组权衡，mm32/50 多 27.37 次，因此不能声称每个配置都改善。</a:t>
            </a:r>
          </a:p>
          <a:p>
            <a:endParaRPr sz="1200" b="0">
              <a:solidFill>
                <a:srgbClr val="29203A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数据与实现来源： https://github.com/CHiSwsz/os-page-replacement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results/versions_raw.csv; results/version_comparison.csv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课件要求：OS-页面替换-更新.pptx，第 8 页图例。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约 35 秒。先对五档容量平均缺页次数，再与 LRU 相除。顺序扫描没有任何可复用页面，算法只能全部缺页。循环能预测；均匀随机缺乏稳定规律，预测策略可能略差。这六类轨迹是旧版已经评估过的回归集，V2 固定后重新运行，不能叫未见验证集。</a:t>
            </a:r>
          </a:p>
          <a:p>
            <a:endParaRPr sz="1200" b="0">
              <a:solidFill>
                <a:srgbClr val="29203A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数据与实现来源： https://github.com/CHiSwsz/os-page-replacement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results/synthetic_summary.csv; scripts/supplementary_experiments.py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课件要求：OS-页面替换-更新.pptx，第 8 页图例。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约 40 秒。缺页更少不代表模拟器运行更快。耗时是同环境 10 次端到端进程测量的中位数，包含启动、输入解析和模拟，并非真实 OS 缺页延迟。落后于 Random 的两项是 qsort/100：199 对 196.30，和 mm16/100：2964 对 2963.97，后者只差约 0.03 次。优势来自已知轨迹规律，没有任意输入上胜过全部在线算法的保证。参数选择使用了课程轨迹，所以课堂新数据是后续真正需要验证的对象。到此正文约 10 分钟。</a:t>
            </a:r>
          </a:p>
          <a:p>
            <a:endParaRPr sz="1200" b="0">
              <a:solidFill>
                <a:srgbClr val="29203A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数据与实现来源： https://github.com/CHiSwsz/os-page-replacement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results/timing_summary.csv; REPORT.md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课件要求：OS-页面替换-更新.pptx，第 8 页图例。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附录，答疑时使用。强调随机算法列为均值，小数只是统计结果。所有数据由 CSV 直接导入，没有人工录入缺页次数。</a:t>
            </a:r>
          </a:p>
          <a:p>
            <a:endParaRPr sz="1200" b="0">
              <a:solidFill>
                <a:srgbClr val="29203A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数据与实现来源： https://github.com/CHiSwsz/os-page-replacement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results/summary.csv; results/raw.csv; results/fault_counts_seed0.csv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课件要求：OS-页面替换-更新.pptx，第 8 页图例。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附录，答疑时使用。强调随机算法列为均值，小数只是统计结果。所有数据由 CSV 直接导入，没有人工录入缺页次数。</a:t>
            </a:r>
          </a:p>
          <a:p>
            <a:endParaRPr sz="1200" b="0">
              <a:solidFill>
                <a:srgbClr val="29203A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数据与实现来源： https://github.com/CHiSwsz/os-page-replacement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results/summary.csv; results/raw.csv; results/fault_counts_seed0.csv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课件要求：OS-页面替换-更新.pptx，第 8 页图例。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附录，答疑时使用。强调随机算法列为均值，小数只是统计结果。所有数据由 CSV 直接导入，没有人工录入缺页次数。</a:t>
            </a:r>
          </a:p>
          <a:p>
            <a:endParaRPr sz="1200" b="0">
              <a:solidFill>
                <a:srgbClr val="29203A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数据与实现来源： https://github.com/CHiSwsz/os-page-replacement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results/summary.csv; results/raw.csv; results/fault_counts_seed0.csv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课件要求：OS-页面替换-更新.pptx，第 8 页图例。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附录，答疑时使用。强调随机算法列为均值，小数只是统计结果。所有数据由 CSV 直接导入，没有人工录入缺页次数。</a:t>
            </a:r>
          </a:p>
          <a:p>
            <a:endParaRPr sz="1200" b="0">
              <a:solidFill>
                <a:srgbClr val="29203A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数据与实现来源： https://github.com/CHiSwsz/os-page-replacement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results/summary.csv; results/raw.csv; results/fault_counts_seed0.csv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课件要求：OS-页面替换-更新.pptx，第 8 页图例。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附录。每个数据集先平均五档容量，再对四条轨迹等权平均。参数研究共有 3,000 条原始记录，默认配置的 600 条复用正式结果。更长历史并非越好，也可能保留过时信息。</a:t>
            </a:r>
          </a:p>
          <a:p>
            <a:endParaRPr sz="1200" b="0">
              <a:solidFill>
                <a:srgbClr val="29203A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数据与实现来源： https://github.com/CHiSwsz/os-page-replacement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results/parameters_summary.csv; results/parameters_raw.csv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课件要求：OS-页面替换-更新.pptx，第 8 页图例。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附录。实际运行将示例命令的两行合并成一行，或在 shell 使用续行。默认 Adaptive 版本为 2。代码和实验通过 PR #2 维护，用户审阅后合并。模板来源为用户指定的第三讲_反向传播_修订版_v22.pptx，沿用其布局、字体、配色与页脚。</a:t>
            </a:r>
          </a:p>
          <a:p>
            <a:endParaRPr sz="1200" b="0">
              <a:solidFill>
                <a:srgbClr val="29203A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数据与实现来源： https://github.com/CHiSwsz/os-page-replacement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README.md; results/metadata.json; tests/test_paging.cpp; tests/test_cli.py</a:t>
            </a:r>
          </a:p>
          <a:p>
            <a:r>
              <a:rPr sz="12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课件要求：OS-页面替换-更新.pptx，第 8 页图例。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0751091-6EF8-4B90-B7DB-72A9F33C06AB}"/>
              </a:ext>
            </a:extLst>
          </p:cNvPr>
          <p:cNvSpPr>
            <a:spLocks noGrp="1"/>
          </p:cNvSpPr>
          <p:nvPr/>
        </p:nvSpPr>
        <p:spPr>
          <a:xfrm>
            <a:off x="0" y="247650"/>
            <a:ext cx="228600" cy="504825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62D31E-4047-438A-8334-A1B6B3FE4389}"/>
              </a:ext>
            </a:extLst>
          </p:cNvPr>
          <p:cNvSpPr>
            <a:spLocks noGrp="1"/>
          </p:cNvSpPr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991B45-9D74-4816-8985-007508C42577}"/>
              </a:ext>
            </a:extLst>
          </p:cNvPr>
          <p:cNvSpPr>
            <a:spLocks noGrp="1"/>
          </p:cNvSpPr>
          <p:nvPr/>
        </p:nvSpPr>
        <p:spPr>
          <a:xfrm>
            <a:off x="333375" y="6629400"/>
            <a:ext cx="5429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操作系统课程实验  自适应页面替换</a:t>
            </a:r>
            <a:endParaRPr sz="8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E25E9F-6D4E-4A37-95B2-FA1FDA921195}"/>
              </a:ext>
            </a:extLst>
          </p:cNvPr>
          <p:cNvSpPr>
            <a:spLocks noGrp="1"/>
          </p:cNvSpPr>
          <p:nvPr/>
        </p:nvSpPr>
        <p:spPr>
          <a:xfrm>
            <a:off x="11534775" y="662940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sz="800"/>
          </a:p>
        </p:txBody>
      </p:sp>
      <p:sp>
        <p:nvSpPr>
          <p:cNvPr id="100" name="Text 100">
            <a:extLst>
              <a:ext uri="{FF2B5EF4-FFF2-40B4-BE49-F238E27FC236}">
                <a16:creationId xmlns:a16="http://schemas.microsoft.com/office/drawing/2014/main" id="{0B491C37-DF16-4BE1-8439-A883050B80E7}"/>
              </a:ext>
            </a:extLst>
          </p:cNvPr>
          <p:cNvSpPr>
            <a:spLocks noGrp="1"/>
          </p:cNvSpPr>
          <p:nvPr/>
        </p:nvSpPr>
        <p:spPr>
          <a:xfrm>
            <a:off x="863600" y="2209800"/>
            <a:ext cx="104648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sz="44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自适应页面替换算法</a:t>
            </a:r>
            <a:endParaRPr sz="4400"/>
          </a:p>
        </p:txBody>
      </p:sp>
      <p:sp>
        <p:nvSpPr>
          <p:cNvPr id="101" name="Text 101">
            <a:extLst>
              <a:ext uri="{FF2B5EF4-FFF2-40B4-BE49-F238E27FC236}">
                <a16:creationId xmlns:a16="http://schemas.microsoft.com/office/drawing/2014/main" id="{0D6CCE1F-94B5-4560-B19E-E89CCF1562A1}"/>
              </a:ext>
            </a:extLst>
          </p:cNvPr>
          <p:cNvSpPr>
            <a:spLocks noGrp="1"/>
          </p:cNvSpPr>
          <p:nvPr/>
        </p:nvSpPr>
        <p:spPr>
          <a:xfrm>
            <a:off x="901700" y="3606800"/>
            <a:ext cx="104648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sz="240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40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rPr>
              <a:t>容量与历史访问驱动的策略选择</a:t>
            </a:r>
            <a:endParaRPr sz="2500"/>
          </a:p>
        </p:txBody>
      </p:sp>
      <p:sp>
        <p:nvSpPr>
          <p:cNvPr id="102" name="算法设计、优化与实验">
            <a:extLst>
              <a:ext uri="{FF2B5EF4-FFF2-40B4-BE49-F238E27FC236}">
                <a16:creationId xmlns:a16="http://schemas.microsoft.com/office/drawing/2014/main" id="{40F818FF-A084-4319-971E-286D1B07C4EF}"/>
              </a:ext>
            </a:extLst>
          </p:cNvPr>
          <p:cNvSpPr>
            <a:spLocks noGrp="1"/>
          </p:cNvSpPr>
          <p:nvPr/>
        </p:nvSpPr>
        <p:spPr>
          <a:xfrm>
            <a:off x="904875" y="4572000"/>
            <a:ext cx="9525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rPr>
              <a:t>算法设计、优化与实验</a:t>
            </a:r>
          </a:p>
        </p:txBody>
      </p:sp>
    </p:spTree>
    <p:extLst>
      <p:ext uri="{BB962C8B-B14F-4D97-AF65-F5344CB8AC3E}">
        <p14:creationId xmlns:p14="http://schemas.microsoft.com/office/powerpoint/2010/main" val="261166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0751091-6EF8-4B90-B7DB-72A9F33C06AB}"/>
              </a:ext>
            </a:extLst>
          </p:cNvPr>
          <p:cNvSpPr>
            <a:spLocks noGrp="1"/>
          </p:cNvSpPr>
          <p:nvPr/>
        </p:nvSpPr>
        <p:spPr>
          <a:xfrm>
            <a:off x="0" y="247650"/>
            <a:ext cx="228600" cy="504825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807739D-16F6-4963-8FBA-7F6947F51433}"/>
              </a:ext>
            </a:extLst>
          </p:cNvPr>
          <p:cNvSpPr>
            <a:spLocks noGrp="1"/>
          </p:cNvSpPr>
          <p:nvPr/>
        </p:nvSpPr>
        <p:spPr>
          <a:xfrm>
            <a:off x="361950" y="238125"/>
            <a:ext cx="11334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任务：固定容量下，尽量减少缺页</a:t>
            </a:r>
            <a:endParaRPr sz="2775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62D31E-4047-438A-8334-A1B6B3FE4389}"/>
              </a:ext>
            </a:extLst>
          </p:cNvPr>
          <p:cNvSpPr>
            <a:spLocks noGrp="1"/>
          </p:cNvSpPr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991B45-9D74-4816-8985-007508C42577}"/>
              </a:ext>
            </a:extLst>
          </p:cNvPr>
          <p:cNvSpPr>
            <a:spLocks noGrp="1"/>
          </p:cNvSpPr>
          <p:nvPr/>
        </p:nvSpPr>
        <p:spPr>
          <a:xfrm>
            <a:off x="333375" y="6629400"/>
            <a:ext cx="5429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操作系统课程实验  自适应页面替换</a:t>
            </a:r>
            <a:endParaRPr sz="8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E25E9F-6D4E-4A37-95B2-FA1FDA921195}"/>
              </a:ext>
            </a:extLst>
          </p:cNvPr>
          <p:cNvSpPr>
            <a:spLocks noGrp="1"/>
          </p:cNvSpPr>
          <p:nvPr/>
        </p:nvSpPr>
        <p:spPr>
          <a:xfrm>
            <a:off x="11534775" y="662940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sz="800"/>
          </a:p>
        </p:txBody>
      </p:sp>
      <p:sp>
        <p:nvSpPr>
          <p:cNvPr id="14" name="Demand paging：访问时才装入页面">
            <a:extLst>
              <a:ext uri="{FF2B5EF4-FFF2-40B4-BE49-F238E27FC236}">
                <a16:creationId xmlns:a16="http://schemas.microsoft.com/office/drawing/2014/main" id="{1229D56A-C82D-4374-A0EC-332A57CA81E0}"/>
              </a:ext>
            </a:extLst>
          </p:cNvPr>
          <p:cNvSpPr>
            <a:spLocks noGrp="1"/>
          </p:cNvSpPr>
          <p:nvPr/>
        </p:nvSpPr>
        <p:spPr>
          <a:xfrm>
            <a:off x="857250" y="1285875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55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55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Demand paging：访问时才装入页面</a:t>
            </a:r>
          </a:p>
        </p:txBody>
      </p:sp>
      <p:sp>
        <p:nvSpPr>
          <p:cNvPr id="15" name="命中：继续使用驻留页。&#10;缺页：使用空页框，或淘汰一个页后装入当前页。">
            <a:extLst>
              <a:ext uri="{FF2B5EF4-FFF2-40B4-BE49-F238E27FC236}">
                <a16:creationId xmlns:a16="http://schemas.microsoft.com/office/drawing/2014/main" id="{4CFDD5D8-DD2E-4309-B86F-18321B370134}"/>
              </a:ext>
            </a:extLst>
          </p:cNvPr>
          <p:cNvSpPr>
            <a:spLocks noGrp="1"/>
          </p:cNvSpPr>
          <p:nvPr/>
        </p:nvSpPr>
        <p:spPr>
          <a:xfrm>
            <a:off x="857250" y="2047875"/>
            <a:ext cx="10477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命中：继续使用驻留页。</a:t>
            </a:r>
          </a:p>
          <a:p>
            <a: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缺页：使用空页框，或淘汰一个页后装入当前页。</a:t>
            </a: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42FF13C2-0096-4A8E-93E8-E7A3AA782BC4}"/>
              </a:ext>
            </a:extLst>
          </p:cNvPr>
          <p:cNvGraphicFramePr/>
          <p:nvPr/>
        </p:nvGraphicFramePr>
        <p:xfrm>
          <a:off x="857250" y="3429000"/>
          <a:ext cx="10477500" cy="1333500"/>
        </p:xfrm>
        <a:graphic>
          <a:graphicData uri="http://schemas.openxmlformats.org/drawingml/2006/table">
            <a:tbl>
              <a:tblPr/>
              <a:tblGrid>
                <a:gridCol w="438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内存容量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评价指标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十六进制虚拟页号序列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5、10、20、50、100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缺页次数，越少越好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统一虚拟地址空间，空内存启动，不预取。自设算法只使用已发生的访问。">
            <a:extLst>
              <a:ext uri="{FF2B5EF4-FFF2-40B4-BE49-F238E27FC236}">
                <a16:creationId xmlns:a16="http://schemas.microsoft.com/office/drawing/2014/main" id="{4E3E57F9-5675-4C50-B495-4F74BF274025}"/>
              </a:ext>
            </a:extLst>
          </p:cNvPr>
          <p:cNvSpPr>
            <a:spLocks noGrp="1"/>
          </p:cNvSpPr>
          <p:nvPr/>
        </p:nvSpPr>
        <p:spPr>
          <a:xfrm>
            <a:off x="857250" y="5476875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rPr>
              <a:t>统一虚拟地址空间，空内存启动，不预取。自设算法只使用已发生的访问。</a:t>
            </a:r>
          </a:p>
        </p:txBody>
      </p:sp>
    </p:spTree>
    <p:extLst>
      <p:ext uri="{BB962C8B-B14F-4D97-AF65-F5344CB8AC3E}">
        <p14:creationId xmlns:p14="http://schemas.microsoft.com/office/powerpoint/2010/main" val="261166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0751091-6EF8-4B90-B7DB-72A9F33C06AB}"/>
              </a:ext>
            </a:extLst>
          </p:cNvPr>
          <p:cNvSpPr>
            <a:spLocks noGrp="1"/>
          </p:cNvSpPr>
          <p:nvPr/>
        </p:nvSpPr>
        <p:spPr>
          <a:xfrm>
            <a:off x="0" y="247650"/>
            <a:ext cx="228600" cy="504825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807739D-16F6-4963-8FBA-7F6947F51433}"/>
              </a:ext>
            </a:extLst>
          </p:cNvPr>
          <p:cNvSpPr>
            <a:spLocks noGrp="1"/>
          </p:cNvSpPr>
          <p:nvPr/>
        </p:nvSpPr>
        <p:spPr>
          <a:xfrm>
            <a:off x="361950" y="238125"/>
            <a:ext cx="11334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四条轨迹的规模和访问特点</a:t>
            </a:r>
            <a:endParaRPr sz="2775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62D31E-4047-438A-8334-A1B6B3FE4389}"/>
              </a:ext>
            </a:extLst>
          </p:cNvPr>
          <p:cNvSpPr>
            <a:spLocks noGrp="1"/>
          </p:cNvSpPr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991B45-9D74-4816-8985-007508C42577}"/>
              </a:ext>
            </a:extLst>
          </p:cNvPr>
          <p:cNvSpPr>
            <a:spLocks noGrp="1"/>
          </p:cNvSpPr>
          <p:nvPr/>
        </p:nvSpPr>
        <p:spPr>
          <a:xfrm>
            <a:off x="333375" y="6629400"/>
            <a:ext cx="5429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操作系统课程实验  自适应页面替换</a:t>
            </a:r>
            <a:endParaRPr sz="8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E25E9F-6D4E-4A37-95B2-FA1FDA921195}"/>
              </a:ext>
            </a:extLst>
          </p:cNvPr>
          <p:cNvSpPr>
            <a:spLocks noGrp="1"/>
          </p:cNvSpPr>
          <p:nvPr/>
        </p:nvSpPr>
        <p:spPr>
          <a:xfrm>
            <a:off x="11534775" y="662940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sz="800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4667EFC8-68D3-4FA0-9633-0661109997C1}"/>
              </a:ext>
            </a:extLst>
          </p:cNvPr>
          <p:cNvGraphicFramePr/>
          <p:nvPr/>
        </p:nvGraphicFramePr>
        <p:xfrm>
          <a:off x="857250" y="1381125"/>
          <a:ext cx="10477500" cy="3429000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1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轨迹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访问次数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不同页数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实测特点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qsort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192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短轨迹；50 页框后 LRU 为 199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lu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41,832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531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较长复用距离多，100 页框仍缺页多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mm16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9,075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515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LRU 在 50 / 100 页框均为 2,964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mm32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67,235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1,667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 到 100 页框，LRU 从 51,860 降至 19,604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共同点：重复访问的最小重用距离为 20。">
            <a:extLst>
              <a:ext uri="{FF2B5EF4-FFF2-40B4-BE49-F238E27FC236}">
                <a16:creationId xmlns:a16="http://schemas.microsoft.com/office/drawing/2014/main" id="{783DAAB5-C082-4D57-B717-ABF828A56851}"/>
              </a:ext>
            </a:extLst>
          </p:cNvPr>
          <p:cNvSpPr>
            <a:spLocks noGrp="1"/>
          </p:cNvSpPr>
          <p:nvPr/>
        </p:nvSpPr>
        <p:spPr>
          <a:xfrm>
            <a:off x="857250" y="5286375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325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rPr>
              <a:t>共同点：重复访问的最小重用距离为 20。</a:t>
            </a:r>
          </a:p>
        </p:txBody>
      </p:sp>
      <p:sp>
        <p:nvSpPr>
          <p:cNvPr id="16" name="重用距离 = 同一页两次访问之间出现的不同页数。">
            <a:extLst>
              <a:ext uri="{FF2B5EF4-FFF2-40B4-BE49-F238E27FC236}">
                <a16:creationId xmlns:a16="http://schemas.microsoft.com/office/drawing/2014/main" id="{7614A2D0-C0DE-4644-83A7-A832667DAFE9}"/>
              </a:ext>
            </a:extLst>
          </p:cNvPr>
          <p:cNvSpPr>
            <a:spLocks noGrp="1"/>
          </p:cNvSpPr>
          <p:nvPr/>
        </p:nvSpPr>
        <p:spPr>
          <a:xfrm>
            <a:off x="857250" y="5876925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rPr>
              <a:t>重用距离 = 同一页两次访问之间出现的不同页数。</a:t>
            </a:r>
          </a:p>
        </p:txBody>
      </p:sp>
    </p:spTree>
    <p:extLst>
      <p:ext uri="{BB962C8B-B14F-4D97-AF65-F5344CB8AC3E}">
        <p14:creationId xmlns:p14="http://schemas.microsoft.com/office/powerpoint/2010/main" val="261166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0751091-6EF8-4B90-B7DB-72A9F33C06AB}"/>
              </a:ext>
            </a:extLst>
          </p:cNvPr>
          <p:cNvSpPr>
            <a:spLocks noGrp="1"/>
          </p:cNvSpPr>
          <p:nvPr/>
        </p:nvSpPr>
        <p:spPr>
          <a:xfrm>
            <a:off x="0" y="247650"/>
            <a:ext cx="228600" cy="504825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807739D-16F6-4963-8FBA-7F6947F51433}"/>
              </a:ext>
            </a:extLst>
          </p:cNvPr>
          <p:cNvSpPr>
            <a:spLocks noGrp="1"/>
          </p:cNvSpPr>
          <p:nvPr/>
        </p:nvSpPr>
        <p:spPr>
          <a:xfrm>
            <a:off x="361950" y="238125"/>
            <a:ext cx="11334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小容量下，最近使用不等于很快再用</a:t>
            </a:r>
            <a:endParaRPr sz="2775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62D31E-4047-438A-8334-A1B6B3FE4389}"/>
              </a:ext>
            </a:extLst>
          </p:cNvPr>
          <p:cNvSpPr>
            <a:spLocks noGrp="1"/>
          </p:cNvSpPr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991B45-9D74-4816-8985-007508C42577}"/>
              </a:ext>
            </a:extLst>
          </p:cNvPr>
          <p:cNvSpPr>
            <a:spLocks noGrp="1"/>
          </p:cNvSpPr>
          <p:nvPr/>
        </p:nvSpPr>
        <p:spPr>
          <a:xfrm>
            <a:off x="333375" y="6629400"/>
            <a:ext cx="5429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操作系统课程实验  自适应页面替换</a:t>
            </a:r>
            <a:endParaRPr sz="8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E25E9F-6D4E-4A37-95B2-FA1FDA921195}"/>
              </a:ext>
            </a:extLst>
          </p:cNvPr>
          <p:cNvSpPr>
            <a:spLocks noGrp="1"/>
          </p:cNvSpPr>
          <p:nvPr/>
        </p:nvSpPr>
        <p:spPr>
          <a:xfrm>
            <a:off x="11534775" y="662940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800"/>
          </a:p>
        </p:txBody>
      </p:sp>
      <p:sp>
        <p:nvSpPr>
          <p:cNvPr id="14" name="当重用距离 ≥ F，LRU 在再次访问前已经淘汰该页。">
            <a:extLst>
              <a:ext uri="{FF2B5EF4-FFF2-40B4-BE49-F238E27FC236}">
                <a16:creationId xmlns:a16="http://schemas.microsoft.com/office/drawing/2014/main" id="{4651EFF5-7FDA-4585-9F86-A02DCEADB916}"/>
              </a:ext>
            </a:extLst>
          </p:cNvPr>
          <p:cNvSpPr>
            <a:spLocks noGrp="1"/>
          </p:cNvSpPr>
          <p:nvPr/>
        </p:nvSpPr>
        <p:spPr>
          <a:xfrm>
            <a:off x="857250" y="1285875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当重用距离 ≥ F，LRU 在再次访问前已经淘汰该页。</a:t>
            </a:r>
          </a:p>
        </p:txBody>
      </p:sp>
      <p:graphicFrame>
        <p:nvGraphicFramePr>
          <p:cNvPr id="15" name="Chart">
            <a:extLst>
              <a:ext uri="{FF2B5EF4-FFF2-40B4-BE49-F238E27FC236}">
                <a16:creationId xmlns:a16="http://schemas.microsoft.com/office/drawing/2014/main" id="{BD7D81C2-37B3-4FE6-9E67-D3C26D4335D0}"/>
              </a:ext>
            </a:extLst>
          </p:cNvPr>
          <p:cNvGraphicFramePr/>
          <p:nvPr/>
        </p:nvGraphicFramePr>
        <p:xfrm>
          <a:off x="857250" y="2047875"/>
          <a:ext cx="10477500" cy="3286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例：20 页框时，四条轨迹的 LRU 缺页率均为 100%。">
            <a:extLst>
              <a:ext uri="{FF2B5EF4-FFF2-40B4-BE49-F238E27FC236}">
                <a16:creationId xmlns:a16="http://schemas.microsoft.com/office/drawing/2014/main" id="{BDAC7304-7633-4A2C-9618-67057BF3C88F}"/>
              </a:ext>
            </a:extLst>
          </p:cNvPr>
          <p:cNvSpPr>
            <a:spLocks noGrp="1"/>
          </p:cNvSpPr>
          <p:nvPr/>
        </p:nvSpPr>
        <p:spPr>
          <a:xfrm>
            <a:off x="857250" y="581025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rPr>
              <a:t>例：20 页框时，四条轨迹的 LRU 缺页率均为 100%。</a:t>
            </a:r>
          </a:p>
        </p:txBody>
      </p:sp>
    </p:spTree>
    <p:extLst>
      <p:ext uri="{BB962C8B-B14F-4D97-AF65-F5344CB8AC3E}">
        <p14:creationId xmlns:p14="http://schemas.microsoft.com/office/powerpoint/2010/main" val="261166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0751091-6EF8-4B90-B7DB-72A9F33C06AB}"/>
              </a:ext>
            </a:extLst>
          </p:cNvPr>
          <p:cNvSpPr>
            <a:spLocks noGrp="1"/>
          </p:cNvSpPr>
          <p:nvPr/>
        </p:nvSpPr>
        <p:spPr>
          <a:xfrm>
            <a:off x="0" y="247650"/>
            <a:ext cx="228600" cy="504825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807739D-16F6-4963-8FBA-7F6947F51433}"/>
              </a:ext>
            </a:extLst>
          </p:cNvPr>
          <p:cNvSpPr>
            <a:spLocks noGrp="1"/>
          </p:cNvSpPr>
          <p:nvPr/>
        </p:nvSpPr>
        <p:spPr>
          <a:xfrm>
            <a:off x="361950" y="238125"/>
            <a:ext cx="11334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六种参照算法分别利用什么信息</a:t>
            </a:r>
            <a:endParaRPr sz="2775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62D31E-4047-438A-8334-A1B6B3FE4389}"/>
              </a:ext>
            </a:extLst>
          </p:cNvPr>
          <p:cNvSpPr>
            <a:spLocks noGrp="1"/>
          </p:cNvSpPr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991B45-9D74-4816-8985-007508C42577}"/>
              </a:ext>
            </a:extLst>
          </p:cNvPr>
          <p:cNvSpPr>
            <a:spLocks noGrp="1"/>
          </p:cNvSpPr>
          <p:nvPr/>
        </p:nvSpPr>
        <p:spPr>
          <a:xfrm>
            <a:off x="333375" y="6629400"/>
            <a:ext cx="5429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操作系统课程实验  自适应页面替换</a:t>
            </a:r>
            <a:endParaRPr sz="8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E25E9F-6D4E-4A37-95B2-FA1FDA921195}"/>
              </a:ext>
            </a:extLst>
          </p:cNvPr>
          <p:cNvSpPr>
            <a:spLocks noGrp="1"/>
          </p:cNvSpPr>
          <p:nvPr/>
        </p:nvSpPr>
        <p:spPr>
          <a:xfrm>
            <a:off x="11534775" y="662940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5</a:t>
            </a:r>
            <a:endParaRPr sz="800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E7ECAD01-A297-42DF-A60D-7529B8DE1301}"/>
              </a:ext>
            </a:extLst>
          </p:cNvPr>
          <p:cNvGraphicFramePr/>
          <p:nvPr/>
        </p:nvGraphicFramePr>
        <p:xfrm>
          <a:off x="857250" y="1238250"/>
          <a:ext cx="10477500" cy="4476750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9536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淘汰依据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主要局限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536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Random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均匀随机选驻留页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不利用访问规律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536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FIFO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最早装入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命中不更新顺序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536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OPT / MIN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下一次访问最远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需要未来轨迹，只作下界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536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LFU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驻留期间频次最低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历史热度可能过时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9536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LRU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最近一次访问最早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长循环容易全部缺页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9536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Second chance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Clock 指针 + 访问位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只粗略近似最近性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LFU 重载后频次归 1，并列按 LRU；Clock 新装入与命中均置">
            <a:extLst>
              <a:ext uri="{FF2B5EF4-FFF2-40B4-BE49-F238E27FC236}">
                <a16:creationId xmlns:a16="http://schemas.microsoft.com/office/drawing/2014/main" id="{8AE10EF4-115B-4231-A80C-916DCE83F03E}"/>
              </a:ext>
            </a:extLst>
          </p:cNvPr>
          <p:cNvSpPr>
            <a:spLocks noGrp="1"/>
          </p:cNvSpPr>
          <p:nvPr/>
        </p:nvSpPr>
        <p:spPr>
          <a:xfrm>
            <a:off x="857250" y="5972175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5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65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rPr>
              <a:t>LFU 重载后频次归 1，并列按 LRU；Clock 新装入与命中均置访问位为 1。</a:t>
            </a:r>
          </a:p>
        </p:txBody>
      </p:sp>
    </p:spTree>
    <p:extLst>
      <p:ext uri="{BB962C8B-B14F-4D97-AF65-F5344CB8AC3E}">
        <p14:creationId xmlns:p14="http://schemas.microsoft.com/office/powerpoint/2010/main" val="261166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0751091-6EF8-4B90-B7DB-72A9F33C06AB}"/>
              </a:ext>
            </a:extLst>
          </p:cNvPr>
          <p:cNvSpPr>
            <a:spLocks noGrp="1"/>
          </p:cNvSpPr>
          <p:nvPr/>
        </p:nvSpPr>
        <p:spPr>
          <a:xfrm>
            <a:off x="0" y="247650"/>
            <a:ext cx="228600" cy="504825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807739D-16F6-4963-8FBA-7F6947F51433}"/>
              </a:ext>
            </a:extLst>
          </p:cNvPr>
          <p:cNvSpPr>
            <a:spLocks noGrp="1"/>
          </p:cNvSpPr>
          <p:nvPr/>
        </p:nvSpPr>
        <p:spPr>
          <a:xfrm>
            <a:off x="361950" y="238125"/>
            <a:ext cx="11334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Adaptive：用过去的表现选择策略</a:t>
            </a:r>
            <a:endParaRPr sz="2775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62D31E-4047-438A-8334-A1B6B3FE4389}"/>
              </a:ext>
            </a:extLst>
          </p:cNvPr>
          <p:cNvSpPr>
            <a:spLocks noGrp="1"/>
          </p:cNvSpPr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991B45-9D74-4816-8985-007508C42577}"/>
              </a:ext>
            </a:extLst>
          </p:cNvPr>
          <p:cNvSpPr>
            <a:spLocks noGrp="1"/>
          </p:cNvSpPr>
          <p:nvPr/>
        </p:nvSpPr>
        <p:spPr>
          <a:xfrm>
            <a:off x="333375" y="6629400"/>
            <a:ext cx="5429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操作系统课程实验  自适应页面替换</a:t>
            </a:r>
            <a:endParaRPr sz="8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E25E9F-6D4E-4A37-95B2-FA1FDA921195}"/>
              </a:ext>
            </a:extLst>
          </p:cNvPr>
          <p:cNvSpPr>
            <a:spLocks noGrp="1"/>
          </p:cNvSpPr>
          <p:nvPr/>
        </p:nvSpPr>
        <p:spPr>
          <a:xfrm>
            <a:off x="11534775" y="662940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6</a:t>
            </a:r>
            <a:endParaRPr sz="800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FDA1EFCB-9D49-4CBA-B327-CA7EC2E8F1BF}"/>
              </a:ext>
            </a:extLst>
          </p:cNvPr>
          <p:cNvGraphicFramePr/>
          <p:nvPr/>
        </p:nvGraphicFramePr>
        <p:xfrm>
          <a:off x="857250" y="1381125"/>
          <a:ext cx="10477500" cy="2619375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候选策略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适合利用的特征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Random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弱局部性、循环淘汰时保留部分页面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LRU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近期访问集中，近期页还会被访问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历史间隔预测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重复访问存在相对稳定的间隔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三个影子模拟器记录页号和缺页数，真实缓存只执行当前选中的策略。">
            <a:extLst>
              <a:ext uri="{FF2B5EF4-FFF2-40B4-BE49-F238E27FC236}">
                <a16:creationId xmlns:a16="http://schemas.microsoft.com/office/drawing/2014/main" id="{28B65201-2938-4D60-8162-3EC38C1B3910}"/>
              </a:ext>
            </a:extLst>
          </p:cNvPr>
          <p:cNvSpPr>
            <a:spLocks noGrp="1"/>
          </p:cNvSpPr>
          <p:nvPr/>
        </p:nvSpPr>
        <p:spPr>
          <a:xfrm>
            <a:off x="857250" y="4429125"/>
            <a:ext cx="104775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三个影子模拟器记录页号和缺页数，真实缓存只执行当前选中的策略。</a:t>
            </a:r>
          </a:p>
        </p:txBody>
      </p:sp>
      <p:sp>
        <p:nvSpPr>
          <p:cNvPr id="16" name="F ≤ 20 从 Random 起步；F &gt; 20 从 LRU 起步，">
            <a:extLst>
              <a:ext uri="{FF2B5EF4-FFF2-40B4-BE49-F238E27FC236}">
                <a16:creationId xmlns:a16="http://schemas.microsoft.com/office/drawing/2014/main" id="{BBD6B1E6-8F84-4D94-969C-533B01B9A027}"/>
              </a:ext>
            </a:extLst>
          </p:cNvPr>
          <p:cNvSpPr>
            <a:spLocks noGrp="1"/>
          </p:cNvSpPr>
          <p:nvPr/>
        </p:nvSpPr>
        <p:spPr>
          <a:xfrm>
            <a:off x="857250" y="5619750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02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rPr>
              <a:t>F ≤ 20 从 Random 起步；F &gt; 20 从 LRU 起步，随后在线调整。</a:t>
            </a:r>
          </a:p>
        </p:txBody>
      </p:sp>
    </p:spTree>
    <p:extLst>
      <p:ext uri="{BB962C8B-B14F-4D97-AF65-F5344CB8AC3E}">
        <p14:creationId xmlns:p14="http://schemas.microsoft.com/office/powerpoint/2010/main" val="261166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0751091-6EF8-4B90-B7DB-72A9F33C06AB}"/>
              </a:ext>
            </a:extLst>
          </p:cNvPr>
          <p:cNvSpPr>
            <a:spLocks noGrp="1"/>
          </p:cNvSpPr>
          <p:nvPr/>
        </p:nvSpPr>
        <p:spPr>
          <a:xfrm>
            <a:off x="0" y="247650"/>
            <a:ext cx="228600" cy="504825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807739D-16F6-4963-8FBA-7F6947F51433}"/>
              </a:ext>
            </a:extLst>
          </p:cNvPr>
          <p:cNvSpPr>
            <a:spLocks noGrp="1"/>
          </p:cNvSpPr>
          <p:nvPr/>
        </p:nvSpPr>
        <p:spPr>
          <a:xfrm>
            <a:off x="361950" y="238125"/>
            <a:ext cx="11334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历史间隔预测：估计下一次复用</a:t>
            </a:r>
            <a:endParaRPr sz="2775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62D31E-4047-438A-8334-A1B6B3FE4389}"/>
              </a:ext>
            </a:extLst>
          </p:cNvPr>
          <p:cNvSpPr>
            <a:spLocks noGrp="1"/>
          </p:cNvSpPr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991B45-9D74-4816-8985-007508C42577}"/>
              </a:ext>
            </a:extLst>
          </p:cNvPr>
          <p:cNvSpPr>
            <a:spLocks noGrp="1"/>
          </p:cNvSpPr>
          <p:nvPr/>
        </p:nvSpPr>
        <p:spPr>
          <a:xfrm>
            <a:off x="333375" y="6629400"/>
            <a:ext cx="5429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操作系统课程实验  自适应页面替换</a:t>
            </a:r>
            <a:endParaRPr sz="8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E25E9F-6D4E-4A37-95B2-FA1FDA921195}"/>
              </a:ext>
            </a:extLst>
          </p:cNvPr>
          <p:cNvSpPr>
            <a:spLocks noGrp="1"/>
          </p:cNvSpPr>
          <p:nvPr/>
        </p:nvSpPr>
        <p:spPr>
          <a:xfrm>
            <a:off x="11534775" y="662940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7</a:t>
            </a:r>
            <a:endParaRPr sz="800"/>
          </a:p>
        </p:txBody>
      </p:sp>
      <p:sp>
        <p:nvSpPr>
          <p:cNvPr id="14" name="每页保留：上次访问位置、平滑间隔 g、间隔波动 v。">
            <a:extLst>
              <a:ext uri="{FF2B5EF4-FFF2-40B4-BE49-F238E27FC236}">
                <a16:creationId xmlns:a16="http://schemas.microsoft.com/office/drawing/2014/main" id="{E89E0B6B-4870-45AF-B93C-A7FE73DE60BB}"/>
              </a:ext>
            </a:extLst>
          </p:cNvPr>
          <p:cNvSpPr>
            <a:spLocks noGrp="1"/>
          </p:cNvSpPr>
          <p:nvPr/>
        </p:nvSpPr>
        <p:spPr>
          <a:xfrm>
            <a:off x="857250" y="123825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7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每页保留：上次访问位置、平滑间隔 g、间隔波动 v。</a:t>
            </a:r>
          </a:p>
        </p:txBody>
      </p:sp>
      <p:sp>
        <p:nvSpPr>
          <p:cNvPr id="15" name="Δ 表示本次与上次访问之间的间隔。">
            <a:extLst>
              <a:ext uri="{FF2B5EF4-FFF2-40B4-BE49-F238E27FC236}">
                <a16:creationId xmlns:a16="http://schemas.microsoft.com/office/drawing/2014/main" id="{277D0547-CB91-4CB3-8866-58624C425691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0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0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rPr>
              <a:t>Δ 表示本次与上次访问之间的间隔。</a:t>
            </a:r>
          </a:p>
        </p:txBody>
      </p:sp>
      <p:sp>
        <p:nvSpPr>
          <p:cNvPr id="16" name="g ← 0.75g + 0.25Δ&#10;v ← 0.75v + 0.25|">
            <a:extLst>
              <a:ext uri="{FF2B5EF4-FFF2-40B4-BE49-F238E27FC236}">
                <a16:creationId xmlns:a16="http://schemas.microsoft.com/office/drawing/2014/main" id="{7EA33157-A608-4A20-9C35-06A98B937265}"/>
              </a:ext>
            </a:extLst>
          </p:cNvPr>
          <p:cNvSpPr>
            <a:spLocks noGrp="1"/>
          </p:cNvSpPr>
          <p:nvPr/>
        </p:nvSpPr>
        <p:spPr>
          <a:xfrm>
            <a:off x="1095375" y="2095500"/>
            <a:ext cx="100012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775" b="0">
                <a:solidFill>
                  <a:srgbClr val="6B4A82"/>
                </a:solidFill>
                <a:latin typeface="Consolas"/>
                <a:ea typeface="Consolas"/>
                <a:cs typeface="Consolas"/>
              </a:defRPr>
            </a:defPPr>
            <a:lvl1pPr>
              <a:defRPr sz="2775" b="0">
                <a:solidFill>
                  <a:srgbClr val="6B4A82"/>
                </a:solidFill>
                <a:latin typeface="Consolas"/>
                <a:ea typeface="Consolas"/>
                <a:cs typeface="Consolas"/>
              </a:defRPr>
            </a:lvl1pPr>
            <a:lvl2pPr>
              <a:defRPr sz="2775" b="0">
                <a:solidFill>
                  <a:srgbClr val="6B4A82"/>
                </a:solidFill>
                <a:latin typeface="Consolas"/>
                <a:ea typeface="Consolas"/>
                <a:cs typeface="Consolas"/>
              </a:defRPr>
            </a:lvl2pPr>
            <a:lvl3pPr>
              <a:defRPr sz="2775" b="0">
                <a:solidFill>
                  <a:srgbClr val="6B4A82"/>
                </a:solidFill>
                <a:latin typeface="Consolas"/>
                <a:ea typeface="Consolas"/>
                <a:cs typeface="Consolas"/>
              </a:defRPr>
            </a:lvl3pPr>
            <a:lvl4pPr>
              <a:defRPr sz="2775" b="0">
                <a:solidFill>
                  <a:srgbClr val="6B4A82"/>
                </a:solidFill>
                <a:latin typeface="Consolas"/>
                <a:ea typeface="Consolas"/>
                <a:cs typeface="Consolas"/>
              </a:defRPr>
            </a:lvl4pPr>
            <a:lvl5pPr>
              <a:defRPr sz="2775" b="0">
                <a:solidFill>
                  <a:srgbClr val="6B4A82"/>
                </a:solidFill>
                <a:latin typeface="Consolas"/>
                <a:ea typeface="Consolas"/>
                <a:cs typeface="Consolas"/>
              </a:defRPr>
            </a:lvl5pPr>
            <a:lvl6pPr>
              <a:defRPr sz="2775" b="0">
                <a:solidFill>
                  <a:srgbClr val="6B4A82"/>
                </a:solidFill>
                <a:latin typeface="Consolas"/>
                <a:ea typeface="Consolas"/>
                <a:cs typeface="Consolas"/>
              </a:defRPr>
            </a:lvl6pPr>
            <a:lvl7pPr>
              <a:defRPr sz="2775" b="0">
                <a:solidFill>
                  <a:srgbClr val="6B4A82"/>
                </a:solidFill>
                <a:latin typeface="Consolas"/>
                <a:ea typeface="Consolas"/>
                <a:cs typeface="Consolas"/>
              </a:defRPr>
            </a:lvl7pPr>
            <a:lvl8pPr>
              <a:defRPr sz="2775" b="0">
                <a:solidFill>
                  <a:srgbClr val="6B4A82"/>
                </a:solidFill>
                <a:latin typeface="Consolas"/>
                <a:ea typeface="Consolas"/>
                <a:cs typeface="Consolas"/>
              </a:defRPr>
            </a:lvl8pPr>
            <a:lvl9pPr>
              <a:defRPr sz="2775" b="0">
                <a:solidFill>
                  <a:srgbClr val="6B4A82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2775" b="0">
                <a:solidFill>
                  <a:srgbClr val="6B4A82"/>
                </a:solidFill>
                <a:latin typeface="Consolas"/>
                <a:ea typeface="Consolas"/>
                <a:cs typeface="Consolas"/>
              </a:defRPr>
            </a:pPr>
            <a:r>
              <a:rPr sz="2775" b="0">
                <a:solidFill>
                  <a:srgbClr val="6B4A82"/>
                </a:solidFill>
                <a:latin typeface="Consolas"/>
                <a:ea typeface="Consolas"/>
                <a:cs typeface="Consolas"/>
              </a:rPr>
              <a:t>g ← 0.75g + 0.25Δ</a:t>
            </a:r>
          </a:p>
          <a:p>
            <a:pPr>
              <a:defRPr sz="2775" b="0">
                <a:solidFill>
                  <a:srgbClr val="6B4A82"/>
                </a:solidFill>
                <a:latin typeface="Consolas"/>
                <a:ea typeface="Consolas"/>
                <a:cs typeface="Consolas"/>
              </a:defRPr>
            </a:pPr>
            <a:r>
              <a:rPr sz="2775" b="0">
                <a:solidFill>
                  <a:srgbClr val="6B4A82"/>
                </a:solidFill>
                <a:latin typeface="Consolas"/>
                <a:ea typeface="Consolas"/>
                <a:cs typeface="Consolas"/>
              </a:rPr>
              <a:t>v ← 0.75v + 0.25|Δ − g旧|</a:t>
            </a:r>
          </a:p>
        </p:txBody>
      </p:sp>
      <p:sp>
        <p:nvSpPr>
          <p:cNvPr id="17" name="参考间隔为 g + v。未到预计时刻时，评分 = 参考间隔 − 已等待">
            <a:extLst>
              <a:ext uri="{FF2B5EF4-FFF2-40B4-BE49-F238E27FC236}">
                <a16:creationId xmlns:a16="http://schemas.microsoft.com/office/drawing/2014/main" id="{092B351C-9DF1-410F-B561-A2A0E165DAA3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1047750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参考间隔为 g + v。未到预计时刻时，评分 = 参考间隔 − 已等待时间。</a:t>
            </a:r>
          </a:p>
          <a:p>
            <a:pPr>
              <a:defRPr sz="21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已经逾期时，评分 = 已等待时间。淘汰评分最大者。</a:t>
            </a:r>
          </a:p>
        </p:txBody>
      </p:sp>
      <p:sp>
        <p:nvSpPr>
          <p:cNvPr id="18" name="例：参考间隔为 20，已等待 15，预计剩余 5；只出现过一次的页优先">
            <a:extLst>
              <a:ext uri="{FF2B5EF4-FFF2-40B4-BE49-F238E27FC236}">
                <a16:creationId xmlns:a16="http://schemas.microsoft.com/office/drawing/2014/main" id="{5066AA89-6337-4305-BA83-EB26DA0A83EA}"/>
              </a:ext>
            </a:extLst>
          </p:cNvPr>
          <p:cNvSpPr>
            <a:spLocks noGrp="1"/>
          </p:cNvSpPr>
          <p:nvPr/>
        </p:nvSpPr>
        <p:spPr>
          <a:xfrm>
            <a:off x="857250" y="5286375"/>
            <a:ext cx="10477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02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rPr>
              <a:t>例：参考间隔为 20，已等待 15，预计剩余 5；只出现过一次的页优先淘汰。</a:t>
            </a:r>
          </a:p>
        </p:txBody>
      </p:sp>
    </p:spTree>
    <p:extLst>
      <p:ext uri="{BB962C8B-B14F-4D97-AF65-F5344CB8AC3E}">
        <p14:creationId xmlns:p14="http://schemas.microsoft.com/office/powerpoint/2010/main" val="261166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0751091-6EF8-4B90-B7DB-72A9F33C06AB}"/>
              </a:ext>
            </a:extLst>
          </p:cNvPr>
          <p:cNvSpPr>
            <a:spLocks noGrp="1"/>
          </p:cNvSpPr>
          <p:nvPr/>
        </p:nvSpPr>
        <p:spPr>
          <a:xfrm>
            <a:off x="0" y="247650"/>
            <a:ext cx="228600" cy="504825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807739D-16F6-4963-8FBA-7F6947F51433}"/>
              </a:ext>
            </a:extLst>
          </p:cNvPr>
          <p:cNvSpPr>
            <a:spLocks noGrp="1"/>
          </p:cNvSpPr>
          <p:nvPr/>
        </p:nvSpPr>
        <p:spPr>
          <a:xfrm>
            <a:off x="361950" y="238125"/>
            <a:ext cx="11334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本轮优化：减少影子与真实状态的偏差</a:t>
            </a:r>
            <a:endParaRPr sz="2775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62D31E-4047-438A-8334-A1B6B3FE4389}"/>
              </a:ext>
            </a:extLst>
          </p:cNvPr>
          <p:cNvSpPr>
            <a:spLocks noGrp="1"/>
          </p:cNvSpPr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991B45-9D74-4816-8985-007508C42577}"/>
              </a:ext>
            </a:extLst>
          </p:cNvPr>
          <p:cNvSpPr>
            <a:spLocks noGrp="1"/>
          </p:cNvSpPr>
          <p:nvPr/>
        </p:nvSpPr>
        <p:spPr>
          <a:xfrm>
            <a:off x="333375" y="6629400"/>
            <a:ext cx="5429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操作系统课程实验  自适应页面替换</a:t>
            </a:r>
            <a:endParaRPr sz="8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E25E9F-6D4E-4A37-95B2-FA1FDA921195}"/>
              </a:ext>
            </a:extLst>
          </p:cNvPr>
          <p:cNvSpPr>
            <a:spLocks noGrp="1"/>
          </p:cNvSpPr>
          <p:nvPr/>
        </p:nvSpPr>
        <p:spPr>
          <a:xfrm>
            <a:off x="11534775" y="662940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8</a:t>
            </a:r>
            <a:endParaRPr sz="800"/>
          </a:p>
        </p:txBody>
      </p:sp>
      <p:sp>
        <p:nvSpPr>
          <p:cNvPr id="14" name="旧版问题：影子策略在自己的驻留集合上表现更好，切换后未必兑现。">
            <a:extLst>
              <a:ext uri="{FF2B5EF4-FFF2-40B4-BE49-F238E27FC236}">
                <a16:creationId xmlns:a16="http://schemas.microsoft.com/office/drawing/2014/main" id="{7459C22E-0276-49ED-8619-3BA917AC7AD8}"/>
              </a:ext>
            </a:extLst>
          </p:cNvPr>
          <p:cNvSpPr>
            <a:spLocks noGrp="1"/>
          </p:cNvSpPr>
          <p:nvPr/>
        </p:nvSpPr>
        <p:spPr>
          <a:xfrm>
            <a:off x="857250" y="1238250"/>
            <a:ext cx="10477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旧版问题：影子策略在自己的驻留集合上表现更好，切换后未必兑现。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896102EC-A3E9-42D0-A1D8-67FC68B413A6}"/>
              </a:ext>
            </a:extLst>
          </p:cNvPr>
          <p:cNvGraphicFramePr/>
          <p:nvPr/>
        </p:nvGraphicFramePr>
        <p:xfrm>
          <a:off x="857250" y="2571750"/>
          <a:ext cx="10477500" cy="2000250"/>
        </p:xfrm>
        <a:graphic>
          <a:graphicData uri="http://schemas.openxmlformats.org/drawingml/2006/table">
            <a:tbl>
              <a:tblPr/>
              <a:tblGrid>
                <a:gridCol w="176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5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容量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窗口 W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切换门槛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影子状态重置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 ≤ 20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max(32,4F)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超过 max(1,⌊W/50⌋)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沿用旧版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 &gt; 20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× max(32,4F)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超过 max(1,⌊W/20⌋)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W 次从实际状态复制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复制的是实际缓存的页号、最近访问位置和随机数状态。">
            <a:extLst>
              <a:ext uri="{FF2B5EF4-FFF2-40B4-BE49-F238E27FC236}">
                <a16:creationId xmlns:a16="http://schemas.microsoft.com/office/drawing/2014/main" id="{5BEB8791-1F67-4F89-BA54-D483B8CC3A46}"/>
              </a:ext>
            </a:extLst>
          </p:cNvPr>
          <p:cNvSpPr>
            <a:spLocks noGrp="1"/>
          </p:cNvSpPr>
          <p:nvPr/>
        </p:nvSpPr>
        <p:spPr>
          <a:xfrm>
            <a:off x="857250" y="5095875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00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00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rPr>
              <a:t>复制的是实际缓存的页号、最近访问位置和随机数状态。</a:t>
            </a:r>
          </a:p>
        </p:txBody>
      </p:sp>
      <p:sp>
        <p:nvSpPr>
          <p:cNvPr id="17" name="每 W/4 次比较一次，只使用已完成的访问；真实物理页框始终为 F 个">
            <a:extLst>
              <a:ext uri="{FF2B5EF4-FFF2-40B4-BE49-F238E27FC236}">
                <a16:creationId xmlns:a16="http://schemas.microsoft.com/office/drawing/2014/main" id="{21973958-A857-4A34-B9F1-EFF9B791C106}"/>
              </a:ext>
            </a:extLst>
          </p:cNvPr>
          <p:cNvSpPr>
            <a:spLocks noGrp="1"/>
          </p:cNvSpPr>
          <p:nvPr/>
        </p:nvSpPr>
        <p:spPr>
          <a:xfrm>
            <a:off x="857250" y="5762625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rPr>
              <a:t>每 W/4 次比较一次，只使用已完成的访问；真实物理页框始终为 F 个。</a:t>
            </a:r>
          </a:p>
        </p:txBody>
      </p:sp>
    </p:spTree>
    <p:extLst>
      <p:ext uri="{BB962C8B-B14F-4D97-AF65-F5344CB8AC3E}">
        <p14:creationId xmlns:p14="http://schemas.microsoft.com/office/powerpoint/2010/main" val="261166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0751091-6EF8-4B90-B7DB-72A9F33C06AB}"/>
              </a:ext>
            </a:extLst>
          </p:cNvPr>
          <p:cNvSpPr>
            <a:spLocks noGrp="1"/>
          </p:cNvSpPr>
          <p:nvPr/>
        </p:nvSpPr>
        <p:spPr>
          <a:xfrm>
            <a:off x="0" y="247650"/>
            <a:ext cx="228600" cy="504825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807739D-16F6-4963-8FBA-7F6947F51433}"/>
              </a:ext>
            </a:extLst>
          </p:cNvPr>
          <p:cNvSpPr>
            <a:spLocks noGrp="1"/>
          </p:cNvSpPr>
          <p:nvPr/>
        </p:nvSpPr>
        <p:spPr>
          <a:xfrm>
            <a:off x="361950" y="238125"/>
            <a:ext cx="11334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实验设置与总体缺页次数</a:t>
            </a:r>
            <a:endParaRPr sz="2775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62D31E-4047-438A-8334-A1B6B3FE4389}"/>
              </a:ext>
            </a:extLst>
          </p:cNvPr>
          <p:cNvSpPr>
            <a:spLocks noGrp="1"/>
          </p:cNvSpPr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991B45-9D74-4816-8985-007508C42577}"/>
              </a:ext>
            </a:extLst>
          </p:cNvPr>
          <p:cNvSpPr>
            <a:spLocks noGrp="1"/>
          </p:cNvSpPr>
          <p:nvPr/>
        </p:nvSpPr>
        <p:spPr>
          <a:xfrm>
            <a:off x="333375" y="6629400"/>
            <a:ext cx="5429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操作系统课程实验  自适应页面替换</a:t>
            </a:r>
            <a:endParaRPr sz="8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E25E9F-6D4E-4A37-95B2-FA1FDA921195}"/>
              </a:ext>
            </a:extLst>
          </p:cNvPr>
          <p:cNvSpPr>
            <a:spLocks noGrp="1"/>
          </p:cNvSpPr>
          <p:nvPr/>
        </p:nvSpPr>
        <p:spPr>
          <a:xfrm>
            <a:off x="11534775" y="662940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9</a:t>
            </a:r>
            <a:endParaRPr sz="800"/>
          </a:p>
        </p:txBody>
      </p:sp>
      <p:graphicFrame>
        <p:nvGraphicFramePr>
          <p:cNvPr id="14" name="Chart">
            <a:extLst>
              <a:ext uri="{FF2B5EF4-FFF2-40B4-BE49-F238E27FC236}">
                <a16:creationId xmlns:a16="http://schemas.microsoft.com/office/drawing/2014/main" id="{5C95B094-DFC1-4196-8281-FE023A16E19A}"/>
              </a:ext>
            </a:extLst>
          </p:cNvPr>
          <p:cNvGraphicFramePr/>
          <p:nvPr/>
        </p:nvGraphicFramePr>
        <p:xfrm>
          <a:off x="857250" y="1381125"/>
          <a:ext cx="104775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Adaptive V2：17,354.63，比 Random 少 25">
            <a:extLst>
              <a:ext uri="{FF2B5EF4-FFF2-40B4-BE49-F238E27FC236}">
                <a16:creationId xmlns:a16="http://schemas.microsoft.com/office/drawing/2014/main" id="{098E60F7-CA70-479A-B748-8F918C65A73F}"/>
              </a:ext>
            </a:extLst>
          </p:cNvPr>
          <p:cNvSpPr>
            <a:spLocks noGrp="1"/>
          </p:cNvSpPr>
          <p:nvPr/>
        </p:nvSpPr>
        <p:spPr>
          <a:xfrm>
            <a:off x="857250" y="5381625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025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rPr>
              <a:t>Adaptive V2：17,354.63，比 Random 少 25.62%，比 LRU 少 28.99%。</a:t>
            </a:r>
          </a:p>
        </p:txBody>
      </p:sp>
      <p:sp>
        <p:nvSpPr>
          <p:cNvPr id="16" name="4 条轨迹 × 5 档容量；Random / Adaptive 用种子">
            <a:extLst>
              <a:ext uri="{FF2B5EF4-FFF2-40B4-BE49-F238E27FC236}">
                <a16:creationId xmlns:a16="http://schemas.microsoft.com/office/drawing/2014/main" id="{CD1F3673-5B44-4E8E-BFE9-5F3DA085E3FA}"/>
              </a:ext>
            </a:extLst>
          </p:cNvPr>
          <p:cNvSpPr>
            <a:spLocks noGrp="1"/>
          </p:cNvSpPr>
          <p:nvPr/>
        </p:nvSpPr>
        <p:spPr>
          <a:xfrm>
            <a:off x="857250" y="60007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rPr>
              <a:t>4 条轨迹 × 5 档容量；Random / Adaptive 用种子 0～29，其余方法确定性运行。</a:t>
            </a:r>
          </a:p>
        </p:txBody>
      </p:sp>
    </p:spTree>
    <p:extLst>
      <p:ext uri="{BB962C8B-B14F-4D97-AF65-F5344CB8AC3E}">
        <p14:creationId xmlns:p14="http://schemas.microsoft.com/office/powerpoint/2010/main" val="261166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0751091-6EF8-4B90-B7DB-72A9F33C06AB}"/>
              </a:ext>
            </a:extLst>
          </p:cNvPr>
          <p:cNvSpPr>
            <a:spLocks noGrp="1"/>
          </p:cNvSpPr>
          <p:nvPr/>
        </p:nvSpPr>
        <p:spPr>
          <a:xfrm>
            <a:off x="0" y="247650"/>
            <a:ext cx="228600" cy="504825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807739D-16F6-4963-8FBA-7F6947F51433}"/>
              </a:ext>
            </a:extLst>
          </p:cNvPr>
          <p:cNvSpPr>
            <a:spLocks noGrp="1"/>
          </p:cNvSpPr>
          <p:nvPr/>
        </p:nvSpPr>
        <p:spPr>
          <a:xfrm>
            <a:off x="361950" y="238125"/>
            <a:ext cx="11334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qsort 与 lu：不同容量下的缺页次数</a:t>
            </a:r>
            <a:endParaRPr sz="2775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62D31E-4047-438A-8334-A1B6B3FE4389}"/>
              </a:ext>
            </a:extLst>
          </p:cNvPr>
          <p:cNvSpPr>
            <a:spLocks noGrp="1"/>
          </p:cNvSpPr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991B45-9D74-4816-8985-007508C42577}"/>
              </a:ext>
            </a:extLst>
          </p:cNvPr>
          <p:cNvSpPr>
            <a:spLocks noGrp="1"/>
          </p:cNvSpPr>
          <p:nvPr/>
        </p:nvSpPr>
        <p:spPr>
          <a:xfrm>
            <a:off x="333375" y="6629400"/>
            <a:ext cx="5429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操作系统课程实验  自适应页面替换</a:t>
            </a:r>
            <a:endParaRPr sz="8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E25E9F-6D4E-4A37-95B2-FA1FDA921195}"/>
              </a:ext>
            </a:extLst>
          </p:cNvPr>
          <p:cNvSpPr>
            <a:spLocks noGrp="1"/>
          </p:cNvSpPr>
          <p:nvPr/>
        </p:nvSpPr>
        <p:spPr>
          <a:xfrm>
            <a:off x="11534775" y="662940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10</a:t>
            </a:r>
            <a:endParaRPr sz="800"/>
          </a:p>
        </p:txBody>
      </p:sp>
      <p:graphicFrame>
        <p:nvGraphicFramePr>
          <p:cNvPr id="14" name="Chart">
            <a:extLst>
              <a:ext uri="{FF2B5EF4-FFF2-40B4-BE49-F238E27FC236}">
                <a16:creationId xmlns:a16="http://schemas.microsoft.com/office/drawing/2014/main" id="{F6B51C1C-3120-4D4B-AFDA-52C425FC099E}"/>
              </a:ext>
            </a:extLst>
          </p:cNvPr>
          <p:cNvGraphicFramePr/>
          <p:nvPr/>
        </p:nvGraphicFramePr>
        <p:xfrm>
          <a:off x="523875" y="1428750"/>
          <a:ext cx="5619750" cy="409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Chart">
            <a:extLst>
              <a:ext uri="{FF2B5EF4-FFF2-40B4-BE49-F238E27FC236}">
                <a16:creationId xmlns:a16="http://schemas.microsoft.com/office/drawing/2014/main" id="{5B58502C-0571-4023-A7DA-6FCA27FE80CD}"/>
              </a:ext>
            </a:extLst>
          </p:cNvPr>
          <p:cNvGraphicFramePr/>
          <p:nvPr/>
        </p:nvGraphicFramePr>
        <p:xfrm>
          <a:off x="6429375" y="1428750"/>
          <a:ext cx="5619750" cy="409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横轴：页框数   纵轴：缺页次数。随机算法显示 30 次均值，完整整数">
            <a:extLst>
              <a:ext uri="{FF2B5EF4-FFF2-40B4-BE49-F238E27FC236}">
                <a16:creationId xmlns:a16="http://schemas.microsoft.com/office/drawing/2014/main" id="{9A3E849C-6FC2-4F0B-AC40-73BEC7C69160}"/>
              </a:ext>
            </a:extLst>
          </p:cNvPr>
          <p:cNvSpPr>
            <a:spLocks noGrp="1"/>
          </p:cNvSpPr>
          <p:nvPr/>
        </p:nvSpPr>
        <p:spPr>
          <a:xfrm>
            <a:off x="857250" y="5953125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rPr>
              <a:t>横轴：页框数   纵轴：缺页次数。随机算法显示 30 次均值，完整整数与波动见原始表。</a:t>
            </a:r>
          </a:p>
        </p:txBody>
      </p:sp>
    </p:spTree>
    <p:extLst>
      <p:ext uri="{BB962C8B-B14F-4D97-AF65-F5344CB8AC3E}">
        <p14:creationId xmlns:p14="http://schemas.microsoft.com/office/powerpoint/2010/main" val="261166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0751091-6EF8-4B90-B7DB-72A9F33C06AB}"/>
              </a:ext>
            </a:extLst>
          </p:cNvPr>
          <p:cNvSpPr>
            <a:spLocks noGrp="1"/>
          </p:cNvSpPr>
          <p:nvPr/>
        </p:nvSpPr>
        <p:spPr>
          <a:xfrm>
            <a:off x="0" y="247650"/>
            <a:ext cx="228600" cy="504825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807739D-16F6-4963-8FBA-7F6947F51433}"/>
              </a:ext>
            </a:extLst>
          </p:cNvPr>
          <p:cNvSpPr>
            <a:spLocks noGrp="1"/>
          </p:cNvSpPr>
          <p:nvPr/>
        </p:nvSpPr>
        <p:spPr>
          <a:xfrm>
            <a:off x="361950" y="238125"/>
            <a:ext cx="11334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mm16 与 mm32：不同容量下的缺页次数</a:t>
            </a:r>
            <a:endParaRPr sz="2775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62D31E-4047-438A-8334-A1B6B3FE4389}"/>
              </a:ext>
            </a:extLst>
          </p:cNvPr>
          <p:cNvSpPr>
            <a:spLocks noGrp="1"/>
          </p:cNvSpPr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991B45-9D74-4816-8985-007508C42577}"/>
              </a:ext>
            </a:extLst>
          </p:cNvPr>
          <p:cNvSpPr>
            <a:spLocks noGrp="1"/>
          </p:cNvSpPr>
          <p:nvPr/>
        </p:nvSpPr>
        <p:spPr>
          <a:xfrm>
            <a:off x="333375" y="6629400"/>
            <a:ext cx="5429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操作系统课程实验  自适应页面替换</a:t>
            </a:r>
            <a:endParaRPr sz="8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E25E9F-6D4E-4A37-95B2-FA1FDA921195}"/>
              </a:ext>
            </a:extLst>
          </p:cNvPr>
          <p:cNvSpPr>
            <a:spLocks noGrp="1"/>
          </p:cNvSpPr>
          <p:nvPr/>
        </p:nvSpPr>
        <p:spPr>
          <a:xfrm>
            <a:off x="11534775" y="662940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800"/>
          </a:p>
        </p:txBody>
      </p:sp>
      <p:graphicFrame>
        <p:nvGraphicFramePr>
          <p:cNvPr id="14" name="Chart">
            <a:extLst>
              <a:ext uri="{FF2B5EF4-FFF2-40B4-BE49-F238E27FC236}">
                <a16:creationId xmlns:a16="http://schemas.microsoft.com/office/drawing/2014/main" id="{30020DEF-0FB6-450E-BDA4-D54661190B48}"/>
              </a:ext>
            </a:extLst>
          </p:cNvPr>
          <p:cNvGraphicFramePr/>
          <p:nvPr/>
        </p:nvGraphicFramePr>
        <p:xfrm>
          <a:off x="523875" y="1428750"/>
          <a:ext cx="5619750" cy="409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Chart">
            <a:extLst>
              <a:ext uri="{FF2B5EF4-FFF2-40B4-BE49-F238E27FC236}">
                <a16:creationId xmlns:a16="http://schemas.microsoft.com/office/drawing/2014/main" id="{194D7C63-8EF8-4FE3-9E1C-84EA0760C0BE}"/>
              </a:ext>
            </a:extLst>
          </p:cNvPr>
          <p:cNvGraphicFramePr/>
          <p:nvPr/>
        </p:nvGraphicFramePr>
        <p:xfrm>
          <a:off x="6429375" y="1428750"/>
          <a:ext cx="5619750" cy="409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横轴：页框数   纵轴：缺页次数。随机算法显示 30 次均值，完整整数">
            <a:extLst>
              <a:ext uri="{FF2B5EF4-FFF2-40B4-BE49-F238E27FC236}">
                <a16:creationId xmlns:a16="http://schemas.microsoft.com/office/drawing/2014/main" id="{CE3CDFE5-DAFE-4CAB-AD86-DCC801902DB5}"/>
              </a:ext>
            </a:extLst>
          </p:cNvPr>
          <p:cNvSpPr>
            <a:spLocks noGrp="1"/>
          </p:cNvSpPr>
          <p:nvPr/>
        </p:nvSpPr>
        <p:spPr>
          <a:xfrm>
            <a:off x="857250" y="5953125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rPr>
              <a:t>横轴：页框数   纵轴：缺页次数。随机算法显示 30 次均值，完整整数与波动见原始表。</a:t>
            </a:r>
          </a:p>
        </p:txBody>
      </p:sp>
    </p:spTree>
    <p:extLst>
      <p:ext uri="{BB962C8B-B14F-4D97-AF65-F5344CB8AC3E}">
        <p14:creationId xmlns:p14="http://schemas.microsoft.com/office/powerpoint/2010/main" val="261166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0751091-6EF8-4B90-B7DB-72A9F33C06AB}"/>
              </a:ext>
            </a:extLst>
          </p:cNvPr>
          <p:cNvSpPr>
            <a:spLocks noGrp="1"/>
          </p:cNvSpPr>
          <p:nvPr/>
        </p:nvSpPr>
        <p:spPr>
          <a:xfrm>
            <a:off x="0" y="247650"/>
            <a:ext cx="228600" cy="504825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807739D-16F6-4963-8FBA-7F6947F51433}"/>
              </a:ext>
            </a:extLst>
          </p:cNvPr>
          <p:cNvSpPr>
            <a:spLocks noGrp="1"/>
          </p:cNvSpPr>
          <p:nvPr/>
        </p:nvSpPr>
        <p:spPr>
          <a:xfrm>
            <a:off x="361950" y="238125"/>
            <a:ext cx="11334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按课件示例归一化：LRU = 1</a:t>
            </a:r>
            <a:endParaRPr sz="2775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62D31E-4047-438A-8334-A1B6B3FE4389}"/>
              </a:ext>
            </a:extLst>
          </p:cNvPr>
          <p:cNvSpPr>
            <a:spLocks noGrp="1"/>
          </p:cNvSpPr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991B45-9D74-4816-8985-007508C42577}"/>
              </a:ext>
            </a:extLst>
          </p:cNvPr>
          <p:cNvSpPr>
            <a:spLocks noGrp="1"/>
          </p:cNvSpPr>
          <p:nvPr/>
        </p:nvSpPr>
        <p:spPr>
          <a:xfrm>
            <a:off x="333375" y="6629400"/>
            <a:ext cx="5429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操作系统课程实验  自适应页面替换</a:t>
            </a:r>
            <a:endParaRPr sz="8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E25E9F-6D4E-4A37-95B2-FA1FDA921195}"/>
              </a:ext>
            </a:extLst>
          </p:cNvPr>
          <p:cNvSpPr>
            <a:spLocks noGrp="1"/>
          </p:cNvSpPr>
          <p:nvPr/>
        </p:nvSpPr>
        <p:spPr>
          <a:xfrm>
            <a:off x="11534775" y="662940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sz="800"/>
          </a:p>
        </p:txBody>
      </p:sp>
      <p:graphicFrame>
        <p:nvGraphicFramePr>
          <p:cNvPr id="14" name="Chart">
            <a:extLst>
              <a:ext uri="{FF2B5EF4-FFF2-40B4-BE49-F238E27FC236}">
                <a16:creationId xmlns:a16="http://schemas.microsoft.com/office/drawing/2014/main" id="{CB3E8AE6-7AD3-4727-A3F3-840F48972247}"/>
              </a:ext>
            </a:extLst>
          </p:cNvPr>
          <p:cNvGraphicFramePr/>
          <p:nvPr/>
        </p:nvGraphicFramePr>
        <p:xfrm>
          <a:off x="619125" y="1143000"/>
          <a:ext cx="5476875" cy="2400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Chart">
            <a:extLst>
              <a:ext uri="{FF2B5EF4-FFF2-40B4-BE49-F238E27FC236}">
                <a16:creationId xmlns:a16="http://schemas.microsoft.com/office/drawing/2014/main" id="{623B5163-CEFF-4B27-A500-9CAD56F0F618}"/>
              </a:ext>
            </a:extLst>
          </p:cNvPr>
          <p:cNvGraphicFramePr/>
          <p:nvPr/>
        </p:nvGraphicFramePr>
        <p:xfrm>
          <a:off x="6429375" y="1143000"/>
          <a:ext cx="5476875" cy="2400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Chart">
            <a:extLst>
              <a:ext uri="{FF2B5EF4-FFF2-40B4-BE49-F238E27FC236}">
                <a16:creationId xmlns:a16="http://schemas.microsoft.com/office/drawing/2014/main" id="{CB2A914B-4A30-4FC9-BE88-04C948E5219E}"/>
              </a:ext>
            </a:extLst>
          </p:cNvPr>
          <p:cNvGraphicFramePr/>
          <p:nvPr/>
        </p:nvGraphicFramePr>
        <p:xfrm>
          <a:off x="619125" y="3648075"/>
          <a:ext cx="5476875" cy="2400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7" name="Chart">
            <a:extLst>
              <a:ext uri="{FF2B5EF4-FFF2-40B4-BE49-F238E27FC236}">
                <a16:creationId xmlns:a16="http://schemas.microsoft.com/office/drawing/2014/main" id="{B05719BA-A6C8-4417-8765-BCE069C3020C}"/>
              </a:ext>
            </a:extLst>
          </p:cNvPr>
          <p:cNvGraphicFramePr/>
          <p:nvPr/>
        </p:nvGraphicFramePr>
        <p:xfrm>
          <a:off x="6429375" y="3648075"/>
          <a:ext cx="5476875" cy="2400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8" name="低于 1 表示缺页更少。此次 20 个配置均不差于 LRU；未知轨迹仍">
            <a:extLst>
              <a:ext uri="{FF2B5EF4-FFF2-40B4-BE49-F238E27FC236}">
                <a16:creationId xmlns:a16="http://schemas.microsoft.com/office/drawing/2014/main" id="{DC1574B3-60DF-48C4-B7B9-68792A9BAB95}"/>
              </a:ext>
            </a:extLst>
          </p:cNvPr>
          <p:cNvSpPr>
            <a:spLocks noGrp="1"/>
          </p:cNvSpPr>
          <p:nvPr/>
        </p:nvSpPr>
        <p:spPr>
          <a:xfrm>
            <a:off x="857250" y="62674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7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57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rPr>
              <a:t>低于 1 表示缺页更少。此次 20 个配置均不差于 LRU；未知轨迹仍需验证。</a:t>
            </a:r>
          </a:p>
        </p:txBody>
      </p:sp>
    </p:spTree>
    <p:extLst>
      <p:ext uri="{BB962C8B-B14F-4D97-AF65-F5344CB8AC3E}">
        <p14:creationId xmlns:p14="http://schemas.microsoft.com/office/powerpoint/2010/main" val="261166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0751091-6EF8-4B90-B7DB-72A9F33C06AB}"/>
              </a:ext>
            </a:extLst>
          </p:cNvPr>
          <p:cNvSpPr>
            <a:spLocks noGrp="1"/>
          </p:cNvSpPr>
          <p:nvPr/>
        </p:nvSpPr>
        <p:spPr>
          <a:xfrm>
            <a:off x="0" y="247650"/>
            <a:ext cx="228600" cy="504825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807739D-16F6-4963-8FBA-7F6947F51433}"/>
              </a:ext>
            </a:extLst>
          </p:cNvPr>
          <p:cNvSpPr>
            <a:spLocks noGrp="1"/>
          </p:cNvSpPr>
          <p:nvPr/>
        </p:nvSpPr>
        <p:spPr>
          <a:xfrm>
            <a:off x="361950" y="238125"/>
            <a:ext cx="11334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优化前后：5 个改善，14 个不变，1 个退化</a:t>
            </a:r>
            <a:endParaRPr sz="2775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62D31E-4047-438A-8334-A1B6B3FE4389}"/>
              </a:ext>
            </a:extLst>
          </p:cNvPr>
          <p:cNvSpPr>
            <a:spLocks noGrp="1"/>
          </p:cNvSpPr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991B45-9D74-4816-8985-007508C42577}"/>
              </a:ext>
            </a:extLst>
          </p:cNvPr>
          <p:cNvSpPr>
            <a:spLocks noGrp="1"/>
          </p:cNvSpPr>
          <p:nvPr/>
        </p:nvSpPr>
        <p:spPr>
          <a:xfrm>
            <a:off x="333375" y="6629400"/>
            <a:ext cx="5429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操作系统课程实验  自适应页面替换</a:t>
            </a:r>
            <a:endParaRPr sz="8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E25E9F-6D4E-4A37-95B2-FA1FDA921195}"/>
              </a:ext>
            </a:extLst>
          </p:cNvPr>
          <p:cNvSpPr>
            <a:spLocks noGrp="1"/>
          </p:cNvSpPr>
          <p:nvPr/>
        </p:nvSpPr>
        <p:spPr>
          <a:xfrm>
            <a:off x="11534775" y="662940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13</a:t>
            </a:r>
            <a:endParaRPr sz="800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DAE3A44E-D27A-4515-98C9-BAB55CB05471}"/>
              </a:ext>
            </a:extLst>
          </p:cNvPr>
          <p:cNvGraphicFramePr/>
          <p:nvPr/>
        </p:nvGraphicFramePr>
        <p:xfrm>
          <a:off x="857250" y="1333500"/>
          <a:ext cx="10477500" cy="390525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轨迹 / 页框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V1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V2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变化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lu / 50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26,784.00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25,377.00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-1,407.00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lu / 100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19,089.57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18,584.00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-505.57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mm16 / 50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3,013.00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2,964.00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-49.00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mm16 / 100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3,231.33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2,964.00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-267.33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mm32 / 50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21,605.63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21,633.00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+27.37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mm32 / 100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19,872.00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19,604.00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-268.00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总体平均进一步降低 0.71%。mm32 / 50 轻微退化 0.12">
            <a:extLst>
              <a:ext uri="{FF2B5EF4-FFF2-40B4-BE49-F238E27FC236}">
                <a16:creationId xmlns:a16="http://schemas.microsoft.com/office/drawing/2014/main" id="{E1771477-FCB8-48E0-90D9-B38ED8D5C676}"/>
              </a:ext>
            </a:extLst>
          </p:cNvPr>
          <p:cNvSpPr>
            <a:spLocks noGrp="1"/>
          </p:cNvSpPr>
          <p:nvPr/>
        </p:nvSpPr>
        <p:spPr>
          <a:xfrm>
            <a:off x="857250" y="5715000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0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0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rPr>
              <a:t>总体平均进一步降低 0.71%。mm32 / 50 轻微退化 0.127%，如实保留。</a:t>
            </a:r>
          </a:p>
        </p:txBody>
      </p:sp>
    </p:spTree>
    <p:extLst>
      <p:ext uri="{BB962C8B-B14F-4D97-AF65-F5344CB8AC3E}">
        <p14:creationId xmlns:p14="http://schemas.microsoft.com/office/powerpoint/2010/main" val="261166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0751091-6EF8-4B90-B7DB-72A9F33C06AB}"/>
              </a:ext>
            </a:extLst>
          </p:cNvPr>
          <p:cNvSpPr>
            <a:spLocks noGrp="1"/>
          </p:cNvSpPr>
          <p:nvPr/>
        </p:nvSpPr>
        <p:spPr>
          <a:xfrm>
            <a:off x="0" y="247650"/>
            <a:ext cx="228600" cy="504825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807739D-16F6-4963-8FBA-7F6947F51433}"/>
              </a:ext>
            </a:extLst>
          </p:cNvPr>
          <p:cNvSpPr>
            <a:spLocks noGrp="1"/>
          </p:cNvSpPr>
          <p:nvPr/>
        </p:nvSpPr>
        <p:spPr>
          <a:xfrm>
            <a:off x="361950" y="238125"/>
            <a:ext cx="11334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构造轨迹回归：规律不同，收益也不同</a:t>
            </a:r>
            <a:endParaRPr sz="2775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62D31E-4047-438A-8334-A1B6B3FE4389}"/>
              </a:ext>
            </a:extLst>
          </p:cNvPr>
          <p:cNvSpPr>
            <a:spLocks noGrp="1"/>
          </p:cNvSpPr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991B45-9D74-4816-8985-007508C42577}"/>
              </a:ext>
            </a:extLst>
          </p:cNvPr>
          <p:cNvSpPr>
            <a:spLocks noGrp="1"/>
          </p:cNvSpPr>
          <p:nvPr/>
        </p:nvSpPr>
        <p:spPr>
          <a:xfrm>
            <a:off x="333375" y="6629400"/>
            <a:ext cx="5429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操作系统课程实验  自适应页面替换</a:t>
            </a:r>
            <a:endParaRPr sz="8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E25E9F-6D4E-4A37-95B2-FA1FDA921195}"/>
              </a:ext>
            </a:extLst>
          </p:cNvPr>
          <p:cNvSpPr>
            <a:spLocks noGrp="1"/>
          </p:cNvSpPr>
          <p:nvPr/>
        </p:nvSpPr>
        <p:spPr>
          <a:xfrm>
            <a:off x="11534775" y="662940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800"/>
          </a:p>
        </p:txBody>
      </p:sp>
      <p:graphicFrame>
        <p:nvGraphicFramePr>
          <p:cNvPr id="14" name="Chart">
            <a:extLst>
              <a:ext uri="{FF2B5EF4-FFF2-40B4-BE49-F238E27FC236}">
                <a16:creationId xmlns:a16="http://schemas.microsoft.com/office/drawing/2014/main" id="{164CFFEB-AF34-41DC-94A8-CB29F266B698}"/>
              </a:ext>
            </a:extLst>
          </p:cNvPr>
          <p:cNvGraphicFramePr/>
          <p:nvPr/>
        </p:nvGraphicFramePr>
        <p:xfrm>
          <a:off x="857250" y="1428750"/>
          <a:ext cx="104775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这些轨迹在旧版已看过，本次用于回归测试；不代表老师每天提供的新轨迹。">
            <a:extLst>
              <a:ext uri="{FF2B5EF4-FFF2-40B4-BE49-F238E27FC236}">
                <a16:creationId xmlns:a16="http://schemas.microsoft.com/office/drawing/2014/main" id="{ECF13A06-7EB2-4A44-BE62-A7F09A78BAE5}"/>
              </a:ext>
            </a:extLst>
          </p:cNvPr>
          <p:cNvSpPr>
            <a:spLocks noGrp="1"/>
          </p:cNvSpPr>
          <p:nvPr/>
        </p:nvSpPr>
        <p:spPr>
          <a:xfrm>
            <a:off x="857250" y="5619750"/>
            <a:ext cx="10477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rPr>
              <a:t>这些轨迹在旧版已看过，本次用于回归测试；不代表老师每天提供的新轨迹。</a:t>
            </a:r>
          </a:p>
        </p:txBody>
      </p:sp>
    </p:spTree>
    <p:extLst>
      <p:ext uri="{BB962C8B-B14F-4D97-AF65-F5344CB8AC3E}">
        <p14:creationId xmlns:p14="http://schemas.microsoft.com/office/powerpoint/2010/main" val="261166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0751091-6EF8-4B90-B7DB-72A9F33C06AB}"/>
              </a:ext>
            </a:extLst>
          </p:cNvPr>
          <p:cNvSpPr>
            <a:spLocks noGrp="1"/>
          </p:cNvSpPr>
          <p:nvPr/>
        </p:nvSpPr>
        <p:spPr>
          <a:xfrm>
            <a:off x="0" y="247650"/>
            <a:ext cx="228600" cy="504825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807739D-16F6-4963-8FBA-7F6947F51433}"/>
              </a:ext>
            </a:extLst>
          </p:cNvPr>
          <p:cNvSpPr>
            <a:spLocks noGrp="1"/>
          </p:cNvSpPr>
          <p:nvPr/>
        </p:nvSpPr>
        <p:spPr>
          <a:xfrm>
            <a:off x="361950" y="238125"/>
            <a:ext cx="11334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结论与代价</a:t>
            </a:r>
            <a:endParaRPr sz="2775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62D31E-4047-438A-8334-A1B6B3FE4389}"/>
              </a:ext>
            </a:extLst>
          </p:cNvPr>
          <p:cNvSpPr>
            <a:spLocks noGrp="1"/>
          </p:cNvSpPr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991B45-9D74-4816-8985-007508C42577}"/>
              </a:ext>
            </a:extLst>
          </p:cNvPr>
          <p:cNvSpPr>
            <a:spLocks noGrp="1"/>
          </p:cNvSpPr>
          <p:nvPr/>
        </p:nvSpPr>
        <p:spPr>
          <a:xfrm>
            <a:off x="333375" y="6629400"/>
            <a:ext cx="5429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操作系统课程实验  自适应页面替换</a:t>
            </a:r>
            <a:endParaRPr sz="8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E25E9F-6D4E-4A37-95B2-FA1FDA921195}"/>
              </a:ext>
            </a:extLst>
          </p:cNvPr>
          <p:cNvSpPr>
            <a:spLocks noGrp="1"/>
          </p:cNvSpPr>
          <p:nvPr/>
        </p:nvSpPr>
        <p:spPr>
          <a:xfrm>
            <a:off x="11534775" y="662940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15</a:t>
            </a:r>
            <a:endParaRPr sz="800"/>
          </a:p>
        </p:txBody>
      </p:sp>
      <p:sp>
        <p:nvSpPr>
          <p:cNvPr id="14" name="利用访问特征">
            <a:extLst>
              <a:ext uri="{FF2B5EF4-FFF2-40B4-BE49-F238E27FC236}">
                <a16:creationId xmlns:a16="http://schemas.microsoft.com/office/drawing/2014/main" id="{C3CAD023-7049-4B9A-B1A3-48B9C0485D98}"/>
              </a:ext>
            </a:extLst>
          </p:cNvPr>
          <p:cNvSpPr>
            <a:spLocks noGrp="1"/>
          </p:cNvSpPr>
          <p:nvPr/>
        </p:nvSpPr>
        <p:spPr>
          <a:xfrm>
            <a:off x="857250" y="1333500"/>
            <a:ext cx="4762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55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55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利用访问特征</a:t>
            </a:r>
          </a:p>
        </p:txBody>
      </p:sp>
      <p:sp>
        <p:nvSpPr>
          <p:cNvPr id="15" name="小容量避免循环淘汰。&#10;有稳定间隔时尝试预测。&#10;局部性强时保留 LRU。">
            <a:extLst>
              <a:ext uri="{FF2B5EF4-FFF2-40B4-BE49-F238E27FC236}">
                <a16:creationId xmlns:a16="http://schemas.microsoft.com/office/drawing/2014/main" id="{397685D1-3A53-4840-8F48-79A17D90EC19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4810125" cy="1714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小容量避免循环淘汰。</a:t>
            </a:r>
          </a:p>
          <a:p>
            <a: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有稳定间隔时尝试预测。</a:t>
            </a:r>
          </a:p>
          <a:p>
            <a:pPr>
              <a:def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局部性强时保留 LRU。</a:t>
            </a:r>
          </a:p>
        </p:txBody>
      </p:sp>
      <p:sp>
        <p:nvSpPr>
          <p:cNvPr id="16" name="明确的代价">
            <a:extLst>
              <a:ext uri="{FF2B5EF4-FFF2-40B4-BE49-F238E27FC236}">
                <a16:creationId xmlns:a16="http://schemas.microsoft.com/office/drawing/2014/main" id="{4FA5E18D-38D0-4175-B7AF-87550A56BED5}"/>
              </a:ext>
            </a:extLst>
          </p:cNvPr>
          <p:cNvSpPr>
            <a:spLocks noGrp="1"/>
          </p:cNvSpPr>
          <p:nvPr/>
        </p:nvSpPr>
        <p:spPr>
          <a:xfrm>
            <a:off x="6477000" y="1333500"/>
            <a:ext cx="4762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550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550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rPr>
              <a:t>明确的代价</a:t>
            </a:r>
          </a:p>
        </p:txBody>
      </p:sp>
      <p:sp>
        <p:nvSpPr>
          <p:cNvPr id="17" name="额外元数据 O(F)，模拟时间 O(NF)。&#10;mm32 / 100：A">
            <a:extLst>
              <a:ext uri="{FF2B5EF4-FFF2-40B4-BE49-F238E27FC236}">
                <a16:creationId xmlns:a16="http://schemas.microsoft.com/office/drawing/2014/main" id="{830FF3AC-711A-4E76-B881-9307DC6896A0}"/>
              </a:ext>
            </a:extLst>
          </p:cNvPr>
          <p:cNvSpPr>
            <a:spLocks noGrp="1"/>
          </p:cNvSpPr>
          <p:nvPr/>
        </p:nvSpPr>
        <p:spPr>
          <a:xfrm>
            <a:off x="6477000" y="2095500"/>
            <a:ext cx="4953000" cy="1714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7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额外元数据 O(F)，模拟时间 O(NF)。</a:t>
            </a:r>
          </a:p>
          <a:p>
            <a:pPr>
              <a:defRPr sz="217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mm32 / 100：Adaptive 64.24 ms，</a:t>
            </a:r>
          </a:p>
          <a:p>
            <a:pPr>
              <a:defRPr sz="217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LRU 20.61 ms。</a:t>
            </a:r>
          </a:p>
        </p:txBody>
      </p:sp>
      <p:sp>
        <p:nvSpPr>
          <p:cNvPr id="18" name="本次 15 个配置优于最强在线基线，3 个持平，2 个略差于 Rand">
            <a:extLst>
              <a:ext uri="{FF2B5EF4-FFF2-40B4-BE49-F238E27FC236}">
                <a16:creationId xmlns:a16="http://schemas.microsoft.com/office/drawing/2014/main" id="{8A135706-1920-4DCB-B43E-2DD3CD96E2C9}"/>
              </a:ext>
            </a:extLst>
          </p:cNvPr>
          <p:cNvSpPr>
            <a:spLocks noGrp="1"/>
          </p:cNvSpPr>
          <p:nvPr/>
        </p:nvSpPr>
        <p:spPr>
          <a:xfrm>
            <a:off x="857250" y="4381500"/>
            <a:ext cx="104775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75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本次 15 个配置优于最强在线基线，3 个持平，2 个略差于 Random。</a:t>
            </a:r>
          </a:p>
        </p:txBody>
      </p:sp>
      <p:sp>
        <p:nvSpPr>
          <p:cNvPr id="19" name="新轨迹按同一规则顺序运行，保留 OPT 下界和全部基线，继续报告成功与">
            <a:extLst>
              <a:ext uri="{FF2B5EF4-FFF2-40B4-BE49-F238E27FC236}">
                <a16:creationId xmlns:a16="http://schemas.microsoft.com/office/drawing/2014/main" id="{F002BCDB-30CE-4A89-B91E-D89120B846FC}"/>
              </a:ext>
            </a:extLst>
          </p:cNvPr>
          <p:cNvSpPr>
            <a:spLocks noGrp="1"/>
          </p:cNvSpPr>
          <p:nvPr/>
        </p:nvSpPr>
        <p:spPr>
          <a:xfrm>
            <a:off x="857250" y="5619750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0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0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rPr>
              <a:t>新轨迹按同一规则顺序运行，保留 OPT 下界和全部基线，继续报告成功与失败。</a:t>
            </a:r>
          </a:p>
        </p:txBody>
      </p:sp>
    </p:spTree>
    <p:extLst>
      <p:ext uri="{BB962C8B-B14F-4D97-AF65-F5344CB8AC3E}">
        <p14:creationId xmlns:p14="http://schemas.microsoft.com/office/powerpoint/2010/main" val="261166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0751091-6EF8-4B90-B7DB-72A9F33C06AB}"/>
              </a:ext>
            </a:extLst>
          </p:cNvPr>
          <p:cNvSpPr>
            <a:spLocks noGrp="1"/>
          </p:cNvSpPr>
          <p:nvPr/>
        </p:nvSpPr>
        <p:spPr>
          <a:xfrm>
            <a:off x="0" y="247650"/>
            <a:ext cx="228600" cy="504825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807739D-16F6-4963-8FBA-7F6947F51433}"/>
              </a:ext>
            </a:extLst>
          </p:cNvPr>
          <p:cNvSpPr>
            <a:spLocks noGrp="1"/>
          </p:cNvSpPr>
          <p:nvPr/>
        </p:nvSpPr>
        <p:spPr>
          <a:xfrm>
            <a:off x="361950" y="238125"/>
            <a:ext cx="11334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附录：qsort 各容量的详细缺页次数</a:t>
            </a:r>
            <a:endParaRPr sz="2775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62D31E-4047-438A-8334-A1B6B3FE4389}"/>
              </a:ext>
            </a:extLst>
          </p:cNvPr>
          <p:cNvSpPr>
            <a:spLocks noGrp="1"/>
          </p:cNvSpPr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991B45-9D74-4816-8985-007508C42577}"/>
              </a:ext>
            </a:extLst>
          </p:cNvPr>
          <p:cNvSpPr>
            <a:spLocks noGrp="1"/>
          </p:cNvSpPr>
          <p:nvPr/>
        </p:nvSpPr>
        <p:spPr>
          <a:xfrm>
            <a:off x="333375" y="6629400"/>
            <a:ext cx="5429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操作系统课程实验  自适应页面替换</a:t>
            </a:r>
            <a:endParaRPr sz="8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E25E9F-6D4E-4A37-95B2-FA1FDA921195}"/>
              </a:ext>
            </a:extLst>
          </p:cNvPr>
          <p:cNvSpPr>
            <a:spLocks noGrp="1"/>
          </p:cNvSpPr>
          <p:nvPr/>
        </p:nvSpPr>
        <p:spPr>
          <a:xfrm>
            <a:off x="11534775" y="662940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16</a:t>
            </a:r>
            <a:endParaRPr sz="800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BE1D536D-B69A-47C7-A598-11B8AD8AC871}"/>
              </a:ext>
            </a:extLst>
          </p:cNvPr>
          <p:cNvGraphicFramePr/>
          <p:nvPr/>
        </p:nvGraphicFramePr>
        <p:xfrm>
          <a:off x="523875" y="1619250"/>
          <a:ext cx="11144250" cy="3381375"/>
        </p:xfrm>
        <a:graphic>
          <a:graphicData uri="http://schemas.openxmlformats.org/drawingml/2006/table">
            <a:tbl>
              <a:tblPr/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页框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Random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FIFO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OPT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LFU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LRU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Clock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V2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523.10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463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489.17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502.50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389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436.73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389.83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274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332.80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217.67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209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192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199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199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199.00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196.30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199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192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199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199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199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199.00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Random / V2：种子 0～29 的平均值；其余为精确整数。">
            <a:extLst>
              <a:ext uri="{FF2B5EF4-FFF2-40B4-BE49-F238E27FC236}">
                <a16:creationId xmlns:a16="http://schemas.microsoft.com/office/drawing/2014/main" id="{FC66601C-0E2B-49F3-A3B5-74A16891113B}"/>
              </a:ext>
            </a:extLst>
          </p:cNvPr>
          <p:cNvSpPr>
            <a:spLocks noGrp="1"/>
          </p:cNvSpPr>
          <p:nvPr/>
        </p:nvSpPr>
        <p:spPr>
          <a:xfrm>
            <a:off x="857250" y="552450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rPr>
              <a:t>Random / V2：种子 0～29 的平均值；其余为精确整数。</a:t>
            </a:r>
          </a:p>
        </p:txBody>
      </p:sp>
      <p:sp>
        <p:nvSpPr>
          <p:cNvPr id="16" name="原始逐次整数、标准差、最小值、最大值以及 seed=0 整数表均已保存">
            <a:extLst>
              <a:ext uri="{FF2B5EF4-FFF2-40B4-BE49-F238E27FC236}">
                <a16:creationId xmlns:a16="http://schemas.microsoft.com/office/drawing/2014/main" id="{5D1D3914-CB75-42BA-9B17-B5918A647D6E}"/>
              </a:ext>
            </a:extLst>
          </p:cNvPr>
          <p:cNvSpPr>
            <a:spLocks noGrp="1"/>
          </p:cNvSpPr>
          <p:nvPr/>
        </p:nvSpPr>
        <p:spPr>
          <a:xfrm>
            <a:off x="857250" y="6048375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rPr>
              <a:t>原始逐次整数、标准差、最小值、最大值以及 seed=0 整数表均已保存。</a:t>
            </a:r>
          </a:p>
        </p:txBody>
      </p:sp>
    </p:spTree>
    <p:extLst>
      <p:ext uri="{BB962C8B-B14F-4D97-AF65-F5344CB8AC3E}">
        <p14:creationId xmlns:p14="http://schemas.microsoft.com/office/powerpoint/2010/main" val="261166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0751091-6EF8-4B90-B7DB-72A9F33C06AB}"/>
              </a:ext>
            </a:extLst>
          </p:cNvPr>
          <p:cNvSpPr>
            <a:spLocks noGrp="1"/>
          </p:cNvSpPr>
          <p:nvPr/>
        </p:nvSpPr>
        <p:spPr>
          <a:xfrm>
            <a:off x="0" y="247650"/>
            <a:ext cx="228600" cy="504825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807739D-16F6-4963-8FBA-7F6947F51433}"/>
              </a:ext>
            </a:extLst>
          </p:cNvPr>
          <p:cNvSpPr>
            <a:spLocks noGrp="1"/>
          </p:cNvSpPr>
          <p:nvPr/>
        </p:nvSpPr>
        <p:spPr>
          <a:xfrm>
            <a:off x="361950" y="238125"/>
            <a:ext cx="11334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附录：lu 各容量的详细缺页次数</a:t>
            </a:r>
            <a:endParaRPr sz="2775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62D31E-4047-438A-8334-A1B6B3FE4389}"/>
              </a:ext>
            </a:extLst>
          </p:cNvPr>
          <p:cNvSpPr>
            <a:spLocks noGrp="1"/>
          </p:cNvSpPr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991B45-9D74-4816-8985-007508C42577}"/>
              </a:ext>
            </a:extLst>
          </p:cNvPr>
          <p:cNvSpPr>
            <a:spLocks noGrp="1"/>
          </p:cNvSpPr>
          <p:nvPr/>
        </p:nvSpPr>
        <p:spPr>
          <a:xfrm>
            <a:off x="333375" y="6629400"/>
            <a:ext cx="5429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操作系统课程实验  自适应页面替换</a:t>
            </a:r>
            <a:endParaRPr sz="8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E25E9F-6D4E-4A37-95B2-FA1FDA921195}"/>
              </a:ext>
            </a:extLst>
          </p:cNvPr>
          <p:cNvSpPr>
            <a:spLocks noGrp="1"/>
          </p:cNvSpPr>
          <p:nvPr/>
        </p:nvSpPr>
        <p:spPr>
          <a:xfrm>
            <a:off x="11534775" y="662940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17</a:t>
            </a:r>
            <a:endParaRPr sz="800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63C32748-5292-4AC9-BE7B-E6BC85CBB783}"/>
              </a:ext>
            </a:extLst>
          </p:cNvPr>
          <p:cNvGraphicFramePr/>
          <p:nvPr/>
        </p:nvGraphicFramePr>
        <p:xfrm>
          <a:off x="523875" y="1619250"/>
          <a:ext cx="11144250" cy="3381375"/>
        </p:xfrm>
        <a:graphic>
          <a:graphicData uri="http://schemas.openxmlformats.org/drawingml/2006/table">
            <a:tbl>
              <a:tblPr/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页框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Random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FIFO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OPT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LFU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LRU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Clock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V2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41,708.40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41,832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34,076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41,832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41,832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41,832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34,365.77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40,317.50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41,832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28,722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41,832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41,832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41,832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29,995.90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36,796.50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41,832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26,922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41,832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41,832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41,832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28,342.80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30,923.23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32,073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21,880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34,653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28,475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28,736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25,377.00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23,802.27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27,864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14,869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32,969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26,497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26,483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18,584.00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Random / V2：种子 0～29 的平均值；其余为精确整数。">
            <a:extLst>
              <a:ext uri="{FF2B5EF4-FFF2-40B4-BE49-F238E27FC236}">
                <a16:creationId xmlns:a16="http://schemas.microsoft.com/office/drawing/2014/main" id="{32A6587B-59AC-4B79-AE32-FB61093DCDA8}"/>
              </a:ext>
            </a:extLst>
          </p:cNvPr>
          <p:cNvSpPr>
            <a:spLocks noGrp="1"/>
          </p:cNvSpPr>
          <p:nvPr/>
        </p:nvSpPr>
        <p:spPr>
          <a:xfrm>
            <a:off x="857250" y="552450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rPr>
              <a:t>Random / V2：种子 0～29 的平均值；其余为精确整数。</a:t>
            </a:r>
          </a:p>
        </p:txBody>
      </p:sp>
      <p:sp>
        <p:nvSpPr>
          <p:cNvPr id="16" name="原始逐次整数、标准差、最小值、最大值以及 seed=0 整数表均已保存">
            <a:extLst>
              <a:ext uri="{FF2B5EF4-FFF2-40B4-BE49-F238E27FC236}">
                <a16:creationId xmlns:a16="http://schemas.microsoft.com/office/drawing/2014/main" id="{425548C7-FF10-4713-B494-19F9A4A4C703}"/>
              </a:ext>
            </a:extLst>
          </p:cNvPr>
          <p:cNvSpPr>
            <a:spLocks noGrp="1"/>
          </p:cNvSpPr>
          <p:nvPr/>
        </p:nvSpPr>
        <p:spPr>
          <a:xfrm>
            <a:off x="857250" y="6048375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rPr>
              <a:t>原始逐次整数、标准差、最小值、最大值以及 seed=0 整数表均已保存。</a:t>
            </a:r>
          </a:p>
        </p:txBody>
      </p:sp>
    </p:spTree>
    <p:extLst>
      <p:ext uri="{BB962C8B-B14F-4D97-AF65-F5344CB8AC3E}">
        <p14:creationId xmlns:p14="http://schemas.microsoft.com/office/powerpoint/2010/main" val="261166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0751091-6EF8-4B90-B7DB-72A9F33C06AB}"/>
              </a:ext>
            </a:extLst>
          </p:cNvPr>
          <p:cNvSpPr>
            <a:spLocks noGrp="1"/>
          </p:cNvSpPr>
          <p:nvPr/>
        </p:nvSpPr>
        <p:spPr>
          <a:xfrm>
            <a:off x="0" y="247650"/>
            <a:ext cx="228600" cy="504825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807739D-16F6-4963-8FBA-7F6947F51433}"/>
              </a:ext>
            </a:extLst>
          </p:cNvPr>
          <p:cNvSpPr>
            <a:spLocks noGrp="1"/>
          </p:cNvSpPr>
          <p:nvPr/>
        </p:nvSpPr>
        <p:spPr>
          <a:xfrm>
            <a:off x="361950" y="238125"/>
            <a:ext cx="11334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附录：mm16 各容量的详细缺页次数</a:t>
            </a:r>
            <a:endParaRPr sz="2775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62D31E-4047-438A-8334-A1B6B3FE4389}"/>
              </a:ext>
            </a:extLst>
          </p:cNvPr>
          <p:cNvSpPr>
            <a:spLocks noGrp="1"/>
          </p:cNvSpPr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991B45-9D74-4816-8985-007508C42577}"/>
              </a:ext>
            </a:extLst>
          </p:cNvPr>
          <p:cNvSpPr>
            <a:spLocks noGrp="1"/>
          </p:cNvSpPr>
          <p:nvPr/>
        </p:nvSpPr>
        <p:spPr>
          <a:xfrm>
            <a:off x="333375" y="6629400"/>
            <a:ext cx="5429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操作系统课程实验  自适应页面替换</a:t>
            </a:r>
            <a:endParaRPr sz="8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E25E9F-6D4E-4A37-95B2-FA1FDA921195}"/>
              </a:ext>
            </a:extLst>
          </p:cNvPr>
          <p:cNvSpPr>
            <a:spLocks noGrp="1"/>
          </p:cNvSpPr>
          <p:nvPr/>
        </p:nvSpPr>
        <p:spPr>
          <a:xfrm>
            <a:off x="11534775" y="662940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18</a:t>
            </a:r>
            <a:endParaRPr sz="800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A91103C5-B157-4E03-B441-F6CECABF3667}"/>
              </a:ext>
            </a:extLst>
          </p:cNvPr>
          <p:cNvGraphicFramePr/>
          <p:nvPr/>
        </p:nvGraphicFramePr>
        <p:xfrm>
          <a:off x="523875" y="1619250"/>
          <a:ext cx="11144250" cy="3381375"/>
        </p:xfrm>
        <a:graphic>
          <a:graphicData uri="http://schemas.openxmlformats.org/drawingml/2006/table">
            <a:tbl>
              <a:tblPr/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页框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Random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FIFO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OPT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LFU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LRU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Clock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V2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9,046.63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9,075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7,407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9,075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9,075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9,075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7,552.77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8,625.40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9,075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5,990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9,075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9,075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9,075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6,237.77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6,922.07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9,075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3,426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9,075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9,075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9,075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3,707.67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4,292.07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4,180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2,461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6,642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2,964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3,023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2,964.00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2,963.97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3,487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1,657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6,077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2,964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2,964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2,964.00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Random / V2：种子 0～29 的平均值；其余为精确整数。">
            <a:extLst>
              <a:ext uri="{FF2B5EF4-FFF2-40B4-BE49-F238E27FC236}">
                <a16:creationId xmlns:a16="http://schemas.microsoft.com/office/drawing/2014/main" id="{F9B725ED-6C3F-48FA-90EE-15378A1EE3E6}"/>
              </a:ext>
            </a:extLst>
          </p:cNvPr>
          <p:cNvSpPr>
            <a:spLocks noGrp="1"/>
          </p:cNvSpPr>
          <p:nvPr/>
        </p:nvSpPr>
        <p:spPr>
          <a:xfrm>
            <a:off x="857250" y="552450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rPr>
              <a:t>Random / V2：种子 0～29 的平均值；其余为精确整数。</a:t>
            </a:r>
          </a:p>
        </p:txBody>
      </p:sp>
      <p:sp>
        <p:nvSpPr>
          <p:cNvPr id="16" name="原始逐次整数、标准差、最小值、最大值以及 seed=0 整数表均已保存">
            <a:extLst>
              <a:ext uri="{FF2B5EF4-FFF2-40B4-BE49-F238E27FC236}">
                <a16:creationId xmlns:a16="http://schemas.microsoft.com/office/drawing/2014/main" id="{7829603A-21D9-4385-A67F-807D8DA5E968}"/>
              </a:ext>
            </a:extLst>
          </p:cNvPr>
          <p:cNvSpPr>
            <a:spLocks noGrp="1"/>
          </p:cNvSpPr>
          <p:nvPr/>
        </p:nvSpPr>
        <p:spPr>
          <a:xfrm>
            <a:off x="857250" y="6048375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rPr>
              <a:t>原始逐次整数、标准差、最小值、最大值以及 seed=0 整数表均已保存。</a:t>
            </a:r>
          </a:p>
        </p:txBody>
      </p:sp>
    </p:spTree>
    <p:extLst>
      <p:ext uri="{BB962C8B-B14F-4D97-AF65-F5344CB8AC3E}">
        <p14:creationId xmlns:p14="http://schemas.microsoft.com/office/powerpoint/2010/main" val="2611660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0751091-6EF8-4B90-B7DB-72A9F33C06AB}"/>
              </a:ext>
            </a:extLst>
          </p:cNvPr>
          <p:cNvSpPr>
            <a:spLocks noGrp="1"/>
          </p:cNvSpPr>
          <p:nvPr/>
        </p:nvSpPr>
        <p:spPr>
          <a:xfrm>
            <a:off x="0" y="247650"/>
            <a:ext cx="228600" cy="504825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807739D-16F6-4963-8FBA-7F6947F51433}"/>
              </a:ext>
            </a:extLst>
          </p:cNvPr>
          <p:cNvSpPr>
            <a:spLocks noGrp="1"/>
          </p:cNvSpPr>
          <p:nvPr/>
        </p:nvSpPr>
        <p:spPr>
          <a:xfrm>
            <a:off x="361950" y="238125"/>
            <a:ext cx="11334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附录：mm32 各容量的详细缺页次数</a:t>
            </a:r>
            <a:endParaRPr sz="2775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62D31E-4047-438A-8334-A1B6B3FE4389}"/>
              </a:ext>
            </a:extLst>
          </p:cNvPr>
          <p:cNvSpPr>
            <a:spLocks noGrp="1"/>
          </p:cNvSpPr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991B45-9D74-4816-8985-007508C42577}"/>
              </a:ext>
            </a:extLst>
          </p:cNvPr>
          <p:cNvSpPr>
            <a:spLocks noGrp="1"/>
          </p:cNvSpPr>
          <p:nvPr/>
        </p:nvSpPr>
        <p:spPr>
          <a:xfrm>
            <a:off x="333375" y="6629400"/>
            <a:ext cx="5429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操作系统课程实验  自适应页面替换</a:t>
            </a:r>
            <a:endParaRPr sz="8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E25E9F-6D4E-4A37-95B2-FA1FDA921195}"/>
              </a:ext>
            </a:extLst>
          </p:cNvPr>
          <p:cNvSpPr>
            <a:spLocks noGrp="1"/>
          </p:cNvSpPr>
          <p:nvPr/>
        </p:nvSpPr>
        <p:spPr>
          <a:xfrm>
            <a:off x="11534775" y="662940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19</a:t>
            </a:r>
            <a:endParaRPr sz="800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D29A1B82-1496-4020-8098-1115232E3F01}"/>
              </a:ext>
            </a:extLst>
          </p:cNvPr>
          <p:cNvGraphicFramePr/>
          <p:nvPr/>
        </p:nvGraphicFramePr>
        <p:xfrm>
          <a:off x="523875" y="1619250"/>
          <a:ext cx="11144250" cy="3381375"/>
        </p:xfrm>
        <a:graphic>
          <a:graphicData uri="http://schemas.openxmlformats.org/drawingml/2006/table">
            <a:tbl>
              <a:tblPr/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页框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Random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FIFO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OPT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LFU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LRU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Clock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V2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67,071.20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67,235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54,807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67,235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67,235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67,235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55,009.90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65,301.03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67,235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48,109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67,235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67,235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67,235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49,259.47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59,191.53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67,235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37,682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67,235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67,235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67,235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39,837.93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39,745.63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55,136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19,164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53,805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51,860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51,865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21,633.00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28,090.60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28,421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17,514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51,699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19,604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19,947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19,604.00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Random / V2：种子 0～29 的平均值；其余为精确整数。">
            <a:extLst>
              <a:ext uri="{FF2B5EF4-FFF2-40B4-BE49-F238E27FC236}">
                <a16:creationId xmlns:a16="http://schemas.microsoft.com/office/drawing/2014/main" id="{B3A05419-4024-4AA5-ABC6-36A59BFAB822}"/>
              </a:ext>
            </a:extLst>
          </p:cNvPr>
          <p:cNvSpPr>
            <a:spLocks noGrp="1"/>
          </p:cNvSpPr>
          <p:nvPr/>
        </p:nvSpPr>
        <p:spPr>
          <a:xfrm>
            <a:off x="857250" y="552450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rPr>
              <a:t>Random / V2：种子 0～29 的平均值；其余为精确整数。</a:t>
            </a:r>
          </a:p>
        </p:txBody>
      </p:sp>
      <p:sp>
        <p:nvSpPr>
          <p:cNvPr id="16" name="原始逐次整数、标准差、最小值、最大值以及 seed=0 整数表均已保存">
            <a:extLst>
              <a:ext uri="{FF2B5EF4-FFF2-40B4-BE49-F238E27FC236}">
                <a16:creationId xmlns:a16="http://schemas.microsoft.com/office/drawing/2014/main" id="{1AF393EE-A8C1-4033-970F-8FE46D0C320E}"/>
              </a:ext>
            </a:extLst>
          </p:cNvPr>
          <p:cNvSpPr>
            <a:spLocks noGrp="1"/>
          </p:cNvSpPr>
          <p:nvPr/>
        </p:nvSpPr>
        <p:spPr>
          <a:xfrm>
            <a:off x="857250" y="6048375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rPr>
              <a:t>原始逐次整数、标准差、最小值、最大值以及 seed=0 整数表均已保存。</a:t>
            </a:r>
          </a:p>
        </p:txBody>
      </p:sp>
    </p:spTree>
    <p:extLst>
      <p:ext uri="{BB962C8B-B14F-4D97-AF65-F5344CB8AC3E}">
        <p14:creationId xmlns:p14="http://schemas.microsoft.com/office/powerpoint/2010/main" val="2611660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0751091-6EF8-4B90-B7DB-72A9F33C06AB}"/>
              </a:ext>
            </a:extLst>
          </p:cNvPr>
          <p:cNvSpPr>
            <a:spLocks noGrp="1"/>
          </p:cNvSpPr>
          <p:nvPr/>
        </p:nvSpPr>
        <p:spPr>
          <a:xfrm>
            <a:off x="0" y="247650"/>
            <a:ext cx="228600" cy="504825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807739D-16F6-4963-8FBA-7F6947F51433}"/>
              </a:ext>
            </a:extLst>
          </p:cNvPr>
          <p:cNvSpPr>
            <a:spLocks noGrp="1"/>
          </p:cNvSpPr>
          <p:nvPr/>
        </p:nvSpPr>
        <p:spPr>
          <a:xfrm>
            <a:off x="361950" y="238125"/>
            <a:ext cx="11334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附录：窗口和历史长度的参数敏感性</a:t>
            </a:r>
            <a:endParaRPr sz="2775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62D31E-4047-438A-8334-A1B6B3FE4389}"/>
              </a:ext>
            </a:extLst>
          </p:cNvPr>
          <p:cNvSpPr>
            <a:spLocks noGrp="1"/>
          </p:cNvSpPr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991B45-9D74-4816-8985-007508C42577}"/>
              </a:ext>
            </a:extLst>
          </p:cNvPr>
          <p:cNvSpPr>
            <a:spLocks noGrp="1"/>
          </p:cNvSpPr>
          <p:nvPr/>
        </p:nvSpPr>
        <p:spPr>
          <a:xfrm>
            <a:off x="333375" y="6629400"/>
            <a:ext cx="5429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操作系统课程实验  自适应页面替换</a:t>
            </a:r>
            <a:endParaRPr sz="8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E25E9F-6D4E-4A37-95B2-FA1FDA921195}"/>
              </a:ext>
            </a:extLst>
          </p:cNvPr>
          <p:cNvSpPr>
            <a:spLocks noGrp="1"/>
          </p:cNvSpPr>
          <p:nvPr/>
        </p:nvSpPr>
        <p:spPr>
          <a:xfrm>
            <a:off x="11534775" y="662940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20</a:t>
            </a:r>
            <a:endParaRPr sz="800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F5AFB5B8-B135-4802-AA5F-877E8AE60837}"/>
              </a:ext>
            </a:extLst>
          </p:cNvPr>
          <p:cNvGraphicFramePr/>
          <p:nvPr/>
        </p:nvGraphicFramePr>
        <p:xfrm>
          <a:off x="619125" y="1619250"/>
          <a:ext cx="10953750" cy="333375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窗口因子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历史因子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qsort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lu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mm16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mm32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B4A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总体平均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>
                      <a:solidFill>
                        <a:srgbClr val="E8E3EF"/>
                      </a:solidFill>
                      <a:prstDash val="soli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E3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330.68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27,468.23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4,757.05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37,063.37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17,404.84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331.34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27,333.09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4,685.24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37,068.86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17,354.63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332.81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27,420.85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4,691.05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37,074.92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17,379.91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331.34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26,965.03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4,715.97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36,978.46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17,247.70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14300" marR="95250" marT="114300" marB="95250" anchor="ctr">
                    <a:lnL w="6668">
                      <a:solidFill>
                        <a:srgbClr val="E8E3EF"/>
                      </a:solidFill>
                      <a:prstDash val="soli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331.34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27,985.34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4,945.36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38,390.53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920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17,913.14</a:t>
                      </a:r>
                    </a:p>
                  </a:txBody>
                  <a:tcPr marL="114300" marR="95250" marT="114300" marB="95250" anchor="ctr">
                    <a:lnL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8E3EF"/>
                      </a:solidFill>
                      <a:prstDash val="solid"/>
                    </a:lnR>
                    <a:lnT w="6668" cap="flat" cmpd="sng" algn="ctr">
                      <a:solidFill>
                        <a:srgbClr val="E8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8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默认因子为 4 / 16。V2 在 F &gt; 20 时对窗口额外乘 2。">
            <a:extLst>
              <a:ext uri="{FF2B5EF4-FFF2-40B4-BE49-F238E27FC236}">
                <a16:creationId xmlns:a16="http://schemas.microsoft.com/office/drawing/2014/main" id="{D3FE2D9A-DADF-4CA1-AD5F-2A191BF24491}"/>
              </a:ext>
            </a:extLst>
          </p:cNvPr>
          <p:cNvSpPr>
            <a:spLocks noGrp="1"/>
          </p:cNvSpPr>
          <p:nvPr/>
        </p:nvSpPr>
        <p:spPr>
          <a:xfrm>
            <a:off x="857250" y="552450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rPr>
              <a:t>默认因子为 4 / 16。V2 在 F &gt; 20 时对窗口额外乘 2。</a:t>
            </a:r>
          </a:p>
        </p:txBody>
      </p:sp>
      <p:sp>
        <p:nvSpPr>
          <p:cNvPr id="16" name="已知课程轨迹参与选择参数；本表是敏感性分析，不能证明对新轨迹最优。">
            <a:extLst>
              <a:ext uri="{FF2B5EF4-FFF2-40B4-BE49-F238E27FC236}">
                <a16:creationId xmlns:a16="http://schemas.microsoft.com/office/drawing/2014/main" id="{DDB61465-CE89-4C82-8789-326A5D557E1B}"/>
              </a:ext>
            </a:extLst>
          </p:cNvPr>
          <p:cNvSpPr>
            <a:spLocks noGrp="1"/>
          </p:cNvSpPr>
          <p:nvPr/>
        </p:nvSpPr>
        <p:spPr>
          <a:xfrm>
            <a:off x="857250" y="600075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0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0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9717A"/>
                </a:solidFill>
                <a:latin typeface="Microsoft YaHei"/>
                <a:ea typeface="Microsoft YaHei"/>
                <a:cs typeface="Microsoft YaHei"/>
              </a:rPr>
              <a:t>已知课程轨迹参与选择参数；本表是敏感性分析，不能证明对新轨迹最优。</a:t>
            </a:r>
          </a:p>
        </p:txBody>
      </p:sp>
    </p:spTree>
    <p:extLst>
      <p:ext uri="{BB962C8B-B14F-4D97-AF65-F5344CB8AC3E}">
        <p14:creationId xmlns:p14="http://schemas.microsoft.com/office/powerpoint/2010/main" val="2611660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0751091-6EF8-4B90-B7DB-72A9F33C06AB}"/>
              </a:ext>
            </a:extLst>
          </p:cNvPr>
          <p:cNvSpPr>
            <a:spLocks noGrp="1"/>
          </p:cNvSpPr>
          <p:nvPr/>
        </p:nvSpPr>
        <p:spPr>
          <a:xfrm>
            <a:off x="0" y="247650"/>
            <a:ext cx="228600" cy="504825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807739D-16F6-4963-8FBA-7F6947F51433}"/>
              </a:ext>
            </a:extLst>
          </p:cNvPr>
          <p:cNvSpPr>
            <a:spLocks noGrp="1"/>
          </p:cNvSpPr>
          <p:nvPr/>
        </p:nvSpPr>
        <p:spPr>
          <a:xfrm>
            <a:off x="361950" y="238125"/>
            <a:ext cx="11334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附录：复现与提交</a:t>
            </a:r>
            <a:endParaRPr sz="2775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62D31E-4047-438A-8334-A1B6B3FE4389}"/>
              </a:ext>
            </a:extLst>
          </p:cNvPr>
          <p:cNvSpPr>
            <a:spLocks noGrp="1"/>
          </p:cNvSpPr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rgbClr val="E3D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991B45-9D74-4816-8985-007508C42577}"/>
              </a:ext>
            </a:extLst>
          </p:cNvPr>
          <p:cNvSpPr>
            <a:spLocks noGrp="1"/>
          </p:cNvSpPr>
          <p:nvPr/>
        </p:nvSpPr>
        <p:spPr>
          <a:xfrm>
            <a:off x="333375" y="6629400"/>
            <a:ext cx="5429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操作系统课程实验  自适应页面替换</a:t>
            </a:r>
            <a:endParaRPr sz="8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E25E9F-6D4E-4A37-95B2-FA1FDA921195}"/>
              </a:ext>
            </a:extLst>
          </p:cNvPr>
          <p:cNvSpPr>
            <a:spLocks noGrp="1"/>
          </p:cNvSpPr>
          <p:nvPr/>
        </p:nvSpPr>
        <p:spPr>
          <a:xfrm>
            <a:off x="11534775" y="662940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278" lnSpcReduction="10000"/>
          </a:bodyPr>
          <a:lstStyle>
            <a:def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80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21</a:t>
            </a:r>
            <a:endParaRPr sz="800"/>
          </a:p>
        </p:txBody>
      </p:sp>
      <p:sp>
        <p:nvSpPr>
          <p:cNvPr id="14" name="公开仓库">
            <a:extLst>
              <a:ext uri="{FF2B5EF4-FFF2-40B4-BE49-F238E27FC236}">
                <a16:creationId xmlns:a16="http://schemas.microsoft.com/office/drawing/2014/main" id="{8F1576B8-4AFB-412E-886B-1210151F4E75}"/>
              </a:ext>
            </a:extLst>
          </p:cNvPr>
          <p:cNvSpPr>
            <a:spLocks noGrp="1"/>
          </p:cNvSpPr>
          <p:nvPr/>
        </p:nvSpPr>
        <p:spPr>
          <a:xfrm>
            <a:off x="857250" y="133350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4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公开仓库</a:t>
            </a:r>
          </a:p>
        </p:txBody>
      </p:sp>
      <p:sp>
        <p:nvSpPr>
          <p:cNvPr id="15" name="github.com/CHiSwsz/os-page-replacem">
            <a:extLst>
              <a:ext uri="{FF2B5EF4-FFF2-40B4-BE49-F238E27FC236}">
                <a16:creationId xmlns:a16="http://schemas.microsoft.com/office/drawing/2014/main" id="{EE04638F-D969-4B8F-AE0C-69488EE7F80E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38A91"/>
                </a:solidFill>
                <a:latin typeface="Microsoft YaHei"/>
                <a:ea typeface="Microsoft YaHei"/>
                <a:cs typeface="Microsoft YaHei"/>
              </a:rPr>
              <a:t>github.com/CHiSwsz/os-page-replacement</a:t>
            </a:r>
          </a:p>
        </p:txBody>
      </p:sp>
      <p:sp>
        <p:nvSpPr>
          <p:cNvPr id="16" name="新轨迹测试">
            <a:extLst>
              <a:ext uri="{FF2B5EF4-FFF2-40B4-BE49-F238E27FC236}">
                <a16:creationId xmlns:a16="http://schemas.microsoft.com/office/drawing/2014/main" id="{039FB720-0FD1-4B81-9827-DF795AA30835}"/>
              </a:ext>
            </a:extLst>
          </p:cNvPr>
          <p:cNvSpPr>
            <a:spLocks noGrp="1"/>
          </p:cNvSpPr>
          <p:nvPr/>
        </p:nvSpPr>
        <p:spPr>
          <a:xfrm>
            <a:off x="857250" y="295275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4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6B4A82"/>
                </a:solidFill>
                <a:latin typeface="Microsoft YaHei"/>
                <a:ea typeface="Microsoft YaHei"/>
                <a:cs typeface="Microsoft YaHei"/>
              </a:rPr>
              <a:t>新轨迹测试</a:t>
            </a:r>
          </a:p>
        </p:txBody>
      </p:sp>
      <p:sp>
        <p:nvSpPr>
          <p:cNvPr id="17" name="./build/pager --trace new.txt --alg">
            <a:extLst>
              <a:ext uri="{FF2B5EF4-FFF2-40B4-BE49-F238E27FC236}">
                <a16:creationId xmlns:a16="http://schemas.microsoft.com/office/drawing/2014/main" id="{79871911-4532-45F1-92B3-202B9720769C}"/>
              </a:ext>
            </a:extLst>
          </p:cNvPr>
          <p:cNvSpPr>
            <a:spLocks noGrp="1"/>
          </p:cNvSpPr>
          <p:nvPr/>
        </p:nvSpPr>
        <p:spPr>
          <a:xfrm>
            <a:off x="857250" y="3619500"/>
            <a:ext cx="10477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29203A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29203A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29203A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29203A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29203A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29203A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29203A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29203A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29203A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29203A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2025" b="0">
                <a:solidFill>
                  <a:srgbClr val="2920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9203A"/>
                </a:solidFill>
                <a:latin typeface="Consolas"/>
                <a:ea typeface="Consolas"/>
                <a:cs typeface="Consolas"/>
              </a:rPr>
              <a:t>./build/pager --trace new.txt --algorithm all</a:t>
            </a:r>
          </a:p>
          <a:p>
            <a:pPr>
              <a:defRPr sz="2025" b="0">
                <a:solidFill>
                  <a:srgbClr val="2920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9203A"/>
                </a:solidFill>
                <a:latin typeface="Consolas"/>
                <a:ea typeface="Consolas"/>
                <a:cs typeface="Consolas"/>
              </a:rPr>
              <a:t>              --frames 5,10,20,50,100 --seed 0</a:t>
            </a:r>
          </a:p>
        </p:txBody>
      </p:sp>
      <p:sp>
        <p:nvSpPr>
          <p:cNvPr id="18" name="旧版对照：--algorithm adaptive --adaptiv">
            <a:extLst>
              <a:ext uri="{FF2B5EF4-FFF2-40B4-BE49-F238E27FC236}">
                <a16:creationId xmlns:a16="http://schemas.microsoft.com/office/drawing/2014/main" id="{CAFF68E6-D8B1-4BFB-B281-74AD54050E6C}"/>
              </a:ext>
            </a:extLst>
          </p:cNvPr>
          <p:cNvSpPr>
            <a:spLocks noGrp="1"/>
          </p:cNvSpPr>
          <p:nvPr/>
        </p:nvSpPr>
        <p:spPr>
          <a:xfrm>
            <a:off x="857250" y="5048250"/>
            <a:ext cx="10477500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9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旧版对照：--algorithm adaptive --adaptive-version 1</a:t>
            </a:r>
          </a:p>
          <a:p>
            <a:pPr>
              <a:defRPr sz="19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详细结果：REPORT.md、results/fault_counts_table.csv</a:t>
            </a:r>
          </a:p>
          <a:p>
            <a:pPr>
              <a:defRPr sz="19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03A"/>
                </a:solidFill>
                <a:latin typeface="Microsoft YaHei"/>
                <a:ea typeface="Microsoft YaHei"/>
                <a:cs typeface="Microsoft YaHei"/>
              </a:rPr>
              <a:t>验证：Release、ASan / UBSan、前缀不变性、容量约束与数据校验。</a:t>
            </a:r>
          </a:p>
        </p:txBody>
      </p:sp>
    </p:spTree>
    <p:extLst>
      <p:ext uri="{BB962C8B-B14F-4D97-AF65-F5344CB8AC3E}">
        <p14:creationId xmlns:p14="http://schemas.microsoft.com/office/powerpoint/2010/main" val="26116600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2388</Words>
  <Application>Microsoft Office PowerPoint</Application>
  <DocSecurity>0</DocSecurity>
  <PresentationFormat>宽屏</PresentationFormat>
  <Paragraphs>563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自适应页面替换算法</dc:title>
  <dc:subject>操作系统课程实验</dc:subject>
  <dc:creator>CHiSwsz</dc:creator>
  <cp:keywords>page replacement, demand paging, Adaptive V2</cp:keywords>
  <dc:description/>
  <cp:lastModifiedBy>志得 谢</cp:lastModifiedBy>
  <cp:revision>1</cp:revision>
  <dcterms:created xsi:type="dcterms:W3CDTF">2026-10-28T13:11:03Z</dcterms:created>
  <dcterms:modified xsi:type="dcterms:W3CDTF">2026-10-28T13:11:42Z</dcterms:modified>
</cp:coreProperties>
</file>