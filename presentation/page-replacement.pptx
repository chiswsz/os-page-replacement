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2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Relationships xmlns="http://schemas.openxmlformats.org/package/2006/relationships"><Relationship Id="rIdChartSnapshot1" Type="http://schemas.openxmlformats.org/officeDocument/2006/relationships/package" Target="../embeddings/chart-data-snapshot-001.xlsx"/></Relationships>
</file>

<file path=ppt/charts/_rels/chart2.xml.rels><Relationships xmlns="http://schemas.openxmlformats.org/package/2006/relationships"><Relationship Id="rIdChartSnapshot1" Type="http://schemas.openxmlformats.org/officeDocument/2006/relationships/package" Target="../embeddings/chart-data-snapshot-002.xlsx"/></Relationships>
</file>

<file path=ppt/charts/_rels/chart3.xml.rels><Relationships xmlns="http://schemas.openxmlformats.org/package/2006/relationships"><Relationship Id="rIdChartSnapshot1" Type="http://schemas.openxmlformats.org/officeDocument/2006/relationships/package" Target="../embeddings/chart-data-snapshot-003.xlsx"/></Relationships>
</file>

<file path=ppt/charts/_rels/chart4.xml.rels><Relationships xmlns="http://schemas.openxmlformats.org/package/2006/relationships"><Relationship Id="rIdChartSnapshot1" Type="http://schemas.openxmlformats.org/officeDocument/2006/relationships/package" Target="../embeddings/chart-data-snapshot-004.xlsx"/></Relationships>
</file>

<file path=ppt/charts/_rels/chart5.xml.rels><Relationships xmlns="http://schemas.openxmlformats.org/package/2006/relationships"><Relationship Id="rIdChartSnapshot1" Type="http://schemas.openxmlformats.org/officeDocument/2006/relationships/package" Target="../embeddings/chart-data-snapshot-005.xlsx"/></Relationships>
</file>

<file path=ppt/charts/_rels/chart6.xml.rels><Relationships xmlns="http://schemas.openxmlformats.org/package/2006/relationships"><Relationship Id="rIdChartSnapshot1" Type="http://schemas.openxmlformats.org/officeDocument/2006/relationships/package" Target="../embeddings/chart-data-snapshot-006.xlsx"/></Relationships>
</file>

<file path=ppt/charts/_rels/chart7.xml.rels><Relationships xmlns="http://schemas.openxmlformats.org/package/2006/relationships"><Relationship Id="rIdChartSnapshot1" Type="http://schemas.openxmlformats.org/officeDocument/2006/relationships/package" Target="../embeddings/chart-data-snapshot-007.xlsx"/></Relationships>
</file>

<file path=ppt/charts/_rels/chart8.xml.rels><Relationships xmlns="http://schemas.openxmlformats.org/package/2006/relationships"><Relationship Id="rIdChartSnapshot1" Type="http://schemas.openxmlformats.org/officeDocument/2006/relationships/package" Target="../embeddings/chart-data-snapshot-008.xlsx"/></Relationships>
</file>

<file path=ppt/charts/_rels/chart9.xml.rels><Relationships xmlns="http://schemas.openxmlformats.org/package/2006/relationships"><Relationship Id="rIdChartSnapshot1" Type="http://schemas.openxmlformats.org/officeDocument/2006/relationships/package" Target="../embeddings/chart-data-snapshot-009.xlsx"/></Relationships>
</file>

<file path=ppt/charts/_rels/chart10.xml.rels><Relationships xmlns="http://schemas.openxmlformats.org/package/2006/relationships"><Relationship Id="rIdChartSnapshot1" Type="http://schemas.openxmlformats.org/officeDocument/2006/relationships/package" Target="../embeddings/chart-data-snapshot-010.xlsx"/></Relationships>
</file>

<file path=ppt/charts/_rels/chart11.xml.rels><Relationships xmlns="http://schemas.openxmlformats.org/package/2006/relationships"><Relationship Id="rIdChartSnapshot1" Type="http://schemas.openxmlformats.org/officeDocument/2006/relationships/package" Target="../embeddings/chart-data-snapshot-0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LRU 缺页率</c:v>
          </c:tx>
          <c:spPr>
            <a:solidFill>
              <a:srgbClr val="A7ADB4"/>
            </a:solidFill>
            <a:ln w="0">
              <a:noFill/>
            </a:ln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575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qsort</c:v>
                </c:pt>
                <c:pt idx="1">
                  <c:v>lu</c:v>
                </c:pt>
                <c:pt idx="2">
                  <c:v>mm16</c:v>
                </c:pt>
                <c:pt idx="3">
                  <c:v>mm32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3A-4154-B4E9-06975182F883}"/>
            </c:ext>
          </c:extLst>
        </c:ser>
        <c:ser>
          <c:idx val="1"/>
          <c:order val="1"/>
          <c:tx>
            <c:v>Adaptive V3 缺页率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575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Data'!$C$2:$C$5</c:f>
              <c:strCache>
                <c:ptCount val="4"/>
                <c:pt idx="0">
                  <c:v>qsort</c:v>
                </c:pt>
                <c:pt idx="1">
                  <c:v>lu</c:v>
                </c:pt>
                <c:pt idx="2">
                  <c:v>mm16</c:v>
                </c:pt>
                <c:pt idx="3">
                  <c:v>mm32</c:v>
                </c:pt>
              </c:strCache>
            </c:strRef>
          </c:cat>
          <c:val>
            <c:numRef>
              <c:f>'Chart Data'!$D$2:$D$5</c:f>
              <c:numCache>
                <c:formatCode>0%</c:formatCode>
                <c:ptCount val="4"/>
                <c:pt idx="0">
                  <c:v>0.64357506</c:v>
                </c:pt>
                <c:pt idx="1">
                  <c:v>0.6746717</c:v>
                </c:pt>
                <c:pt idx="2">
                  <c:v>0.40544353</c:v>
                </c:pt>
                <c:pt idx="3">
                  <c:v>0.58044074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3A-4154-B4E9-06975182F8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57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.1000000000000001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0%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7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57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平均缺页次数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69717A"/>
              </a:solidFill>
            </c:spPr>
            <c:extLst>
              <c:ext xmlns:c16="http://schemas.microsoft.com/office/drawing/2014/chart" uri="{C3380CC4-5D6E-409C-BE32-E72D297353CC}">
                <c16:uniqueId val="{00000001-D931-412D-BBBC-F9D585DD1DFA}"/>
              </c:ext>
            </c:extLst>
          </c:dPt>
          <c:dPt>
            <c:idx val="1"/>
            <c:invertIfNegative val="0"/>
            <c:bubble3D val="0"/>
            <c:spPr>
              <a:solidFill>
                <a:srgbClr val="B39945"/>
              </a:solidFill>
            </c:spPr>
            <c:extLst>
              <c:ext xmlns:c16="http://schemas.microsoft.com/office/drawing/2014/chart" uri="{C3380CC4-5D6E-409C-BE32-E72D297353CC}">
                <c16:uniqueId val="{00000003-D931-412D-BBBC-F9D585DD1DFA}"/>
              </c:ext>
            </c:extLst>
          </c:dPt>
          <c:dPt>
            <c:idx val="2"/>
            <c:invertIfNegative val="0"/>
            <c:bubble3D val="0"/>
            <c:spPr>
              <a:solidFill>
                <a:srgbClr val="238A91"/>
              </a:solidFill>
            </c:spPr>
            <c:extLst>
              <c:ext xmlns:c16="http://schemas.microsoft.com/office/drawing/2014/chart" uri="{C3380CC4-5D6E-409C-BE32-E72D297353CC}">
                <c16:uniqueId val="{00000005-D931-412D-BBBC-F9D585DD1DFA}"/>
              </c:ext>
            </c:extLst>
          </c:dPt>
          <c:dPt>
            <c:idx val="3"/>
            <c:invertIfNegative val="0"/>
            <c:bubble3D val="0"/>
            <c:spPr>
              <a:solidFill>
                <a:srgbClr val="D0634F"/>
              </a:solidFill>
            </c:spPr>
            <c:extLst>
              <c:ext xmlns:c16="http://schemas.microsoft.com/office/drawing/2014/chart" uri="{C3380CC4-5D6E-409C-BE32-E72D297353CC}">
                <c16:uniqueId val="{00000007-D931-412D-BBBC-F9D585DD1DFA}"/>
              </c:ext>
            </c:extLst>
          </c:dPt>
          <c:dPt>
            <c:idx val="4"/>
            <c:invertIfNegative val="0"/>
            <c:bubble3D val="0"/>
            <c:spPr>
              <a:solidFill>
                <a:srgbClr val="376D9A"/>
              </a:solidFill>
            </c:spPr>
            <c:extLst>
              <c:ext xmlns:c16="http://schemas.microsoft.com/office/drawing/2014/chart" uri="{C3380CC4-5D6E-409C-BE32-E72D297353CC}">
                <c16:uniqueId val="{00000009-D931-412D-BBBC-F9D585DD1DFA}"/>
              </c:ext>
            </c:extLst>
          </c:dPt>
          <c:dPt>
            <c:idx val="5"/>
            <c:invertIfNegative val="0"/>
            <c:bubble3D val="0"/>
            <c:spPr>
              <a:solidFill>
                <a:srgbClr val="AAA0BA"/>
              </a:solidFill>
            </c:spPr>
            <c:extLst>
              <c:ext xmlns:c16="http://schemas.microsoft.com/office/drawing/2014/chart" uri="{C3380CC4-5D6E-409C-BE32-E72D297353CC}">
                <c16:uniqueId val="{0000000B-D931-412D-BBBC-F9D585DD1DFA}"/>
              </c:ext>
            </c:extLst>
          </c:dPt>
          <c:dPt>
            <c:idx val="6"/>
            <c:invertIfNegative val="0"/>
            <c:bubble3D val="0"/>
            <c:spPr>
              <a:solidFill>
                <a:srgbClr val="6B4A82"/>
              </a:solidFill>
            </c:spPr>
            <c:extLst>
              <c:ext xmlns:c16="http://schemas.microsoft.com/office/drawing/2014/chart" uri="{C3380CC4-5D6E-409C-BE32-E72D297353CC}">
                <c16:uniqueId val="{0000000D-D931-412D-BBBC-F9D585DD1DF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500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Data'!$A$2:$A$8</c:f>
              <c:strCache>
                <c:ptCount val="7"/>
                <c:pt idx="0">
                  <c:v>Random</c:v>
                </c:pt>
                <c:pt idx="1">
                  <c:v>FIFO</c:v>
                </c:pt>
                <c:pt idx="2">
                  <c:v>OPT</c:v>
                </c:pt>
                <c:pt idx="3">
                  <c:v>LFU</c:v>
                </c:pt>
                <c:pt idx="4">
                  <c:v>LRU</c:v>
                </c:pt>
                <c:pt idx="5">
                  <c:v>Clock</c:v>
                </c:pt>
                <c:pt idx="6">
                  <c:v>Adaptive V3</c:v>
                </c:pt>
              </c:strCache>
            </c:strRef>
          </c:cat>
          <c:val>
            <c:numRef>
              <c:f>'Chart Data'!$B$2:$B$8</c:f>
              <c:numCache>
                <c:formatCode>#,##0</c:formatCode>
                <c:ptCount val="7"/>
                <c:pt idx="0">
                  <c:v>23331.37166667</c:v>
                </c:pt>
                <c:pt idx="1">
                  <c:v>25378.35</c:v>
                </c:pt>
                <c:pt idx="2">
                  <c:v>16309.8</c:v>
                </c:pt>
                <c:pt idx="3">
                  <c:v>27112.05</c:v>
                </c:pt>
                <c:pt idx="4">
                  <c:v>24438</c:v>
                </c:pt>
                <c:pt idx="5">
                  <c:v>24470.9</c:v>
                </c:pt>
                <c:pt idx="6">
                  <c:v>17100.79333333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931-412D-BBBC-F9D585DD1DF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50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5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sz="18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qsort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Random</c:v>
          </c:tx>
          <c:spPr>
            <a:solidFill>
              <a:srgbClr val="69717A"/>
            </a:solidFill>
            <a:ln w="0">
              <a:noFill/>
            </a:ln>
          </c:spPr>
          <c:invertIfNegative val="0"/>
          <c:cat>
            <c:numRef>
              <c:f>'Chart Data'!$A$2:$A$6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#,##0</c:formatCode>
                <c:ptCount val="5"/>
                <c:pt idx="0">
                  <c:v>523.1</c:v>
                </c:pt>
                <c:pt idx="1">
                  <c:v>502.5</c:v>
                </c:pt>
                <c:pt idx="2">
                  <c:v>389.83333333</c:v>
                </c:pt>
                <c:pt idx="3">
                  <c:v>217.66666667</c:v>
                </c:pt>
                <c:pt idx="4">
                  <c:v>196.3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BA-4988-9C79-99FC420E29B0}"/>
            </c:ext>
          </c:extLst>
        </c:ser>
        <c:ser>
          <c:idx val="1"/>
          <c:order val="1"/>
          <c:tx>
            <c:v>FIFO</c:v>
          </c:tx>
          <c:spPr>
            <a:solidFill>
              <a:srgbClr val="B39945"/>
            </a:solidFill>
            <a:ln w="0">
              <a:noFill/>
            </a:ln>
          </c:spPr>
          <c:invertIfNegative val="0"/>
          <c:cat>
            <c:numRef>
              <c:f>'Chart Data'!$C$2:$C$6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#,##0</c:formatCode>
                <c:ptCount val="5"/>
                <c:pt idx="0">
                  <c:v>524</c:v>
                </c:pt>
                <c:pt idx="1">
                  <c:v>524</c:v>
                </c:pt>
                <c:pt idx="2">
                  <c:v>524</c:v>
                </c:pt>
                <c:pt idx="3">
                  <c:v>209</c:v>
                </c:pt>
                <c:pt idx="4">
                  <c:v>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EBA-4988-9C79-99FC420E29B0}"/>
            </c:ext>
          </c:extLst>
        </c:ser>
        <c:ser>
          <c:idx val="2"/>
          <c:order val="2"/>
          <c:tx>
            <c:v>OPT</c:v>
          </c:tx>
          <c:spPr>
            <a:solidFill>
              <a:srgbClr val="238A91"/>
            </a:solidFill>
            <a:ln w="0">
              <a:noFill/>
            </a:ln>
          </c:spPr>
          <c:invertIfNegative val="0"/>
          <c:cat>
            <c:numRef>
              <c:f>'Chart Data'!$E$2:$E$6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Data'!$F$2:$F$6</c:f>
              <c:numCache>
                <c:formatCode>#,##0</c:formatCode>
                <c:ptCount val="5"/>
                <c:pt idx="0">
                  <c:v>463</c:v>
                </c:pt>
                <c:pt idx="1">
                  <c:v>389</c:v>
                </c:pt>
                <c:pt idx="2">
                  <c:v>274</c:v>
                </c:pt>
                <c:pt idx="3">
                  <c:v>192</c:v>
                </c:pt>
                <c:pt idx="4">
                  <c:v>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EBA-4988-9C79-99FC420E29B0}"/>
            </c:ext>
          </c:extLst>
        </c:ser>
        <c:ser>
          <c:idx val="3"/>
          <c:order val="3"/>
          <c:tx>
            <c:v>LFU</c:v>
          </c:tx>
          <c:spPr>
            <a:solidFill>
              <a:srgbClr val="D0634F"/>
            </a:solidFill>
            <a:ln w="0">
              <a:noFill/>
            </a:ln>
          </c:spPr>
          <c:invertIfNegative val="0"/>
          <c:cat>
            <c:numRef>
              <c:f>'Chart Data'!$G$2:$G$6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Data'!$H$2:$H$6</c:f>
              <c:numCache>
                <c:formatCode>#,##0</c:formatCode>
                <c:ptCount val="5"/>
                <c:pt idx="0">
                  <c:v>524</c:v>
                </c:pt>
                <c:pt idx="1">
                  <c:v>524</c:v>
                </c:pt>
                <c:pt idx="2">
                  <c:v>524</c:v>
                </c:pt>
                <c:pt idx="3">
                  <c:v>199</c:v>
                </c:pt>
                <c:pt idx="4">
                  <c:v>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EBA-4988-9C79-99FC420E29B0}"/>
            </c:ext>
          </c:extLst>
        </c:ser>
        <c:ser>
          <c:idx val="4"/>
          <c:order val="4"/>
          <c:tx>
            <c:v>LRU</c:v>
          </c:tx>
          <c:spPr>
            <a:solidFill>
              <a:srgbClr val="376D9A"/>
            </a:solidFill>
            <a:ln w="0">
              <a:noFill/>
            </a:ln>
          </c:spPr>
          <c:invertIfNegative val="0"/>
          <c:cat>
            <c:numRef>
              <c:f>'Chart Data'!$I$2:$I$6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Data'!$J$2:$J$6</c:f>
              <c:numCache>
                <c:formatCode>#,##0</c:formatCode>
                <c:ptCount val="5"/>
                <c:pt idx="0">
                  <c:v>524</c:v>
                </c:pt>
                <c:pt idx="1">
                  <c:v>524</c:v>
                </c:pt>
                <c:pt idx="2">
                  <c:v>524</c:v>
                </c:pt>
                <c:pt idx="3">
                  <c:v>199</c:v>
                </c:pt>
                <c:pt idx="4">
                  <c:v>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EBA-4988-9C79-99FC420E29B0}"/>
            </c:ext>
          </c:extLst>
        </c:ser>
        <c:ser>
          <c:idx val="5"/>
          <c:order val="5"/>
          <c:tx>
            <c:v>Clock</c:v>
          </c:tx>
          <c:spPr>
            <a:solidFill>
              <a:srgbClr val="AAA0BA"/>
            </a:solidFill>
            <a:ln w="0">
              <a:noFill/>
            </a:ln>
          </c:spPr>
          <c:invertIfNegative val="0"/>
          <c:cat>
            <c:numRef>
              <c:f>'Chart Data'!$K$2:$K$6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Data'!$L$2:$L$6</c:f>
              <c:numCache>
                <c:formatCode>#,##0</c:formatCode>
                <c:ptCount val="5"/>
                <c:pt idx="0">
                  <c:v>524</c:v>
                </c:pt>
                <c:pt idx="1">
                  <c:v>524</c:v>
                </c:pt>
                <c:pt idx="2">
                  <c:v>524</c:v>
                </c:pt>
                <c:pt idx="3">
                  <c:v>203</c:v>
                </c:pt>
                <c:pt idx="4">
                  <c:v>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EBA-4988-9C79-99FC420E29B0}"/>
            </c:ext>
          </c:extLst>
        </c:ser>
        <c:ser>
          <c:idx val="6"/>
          <c:order val="6"/>
          <c:tx>
            <c:v>Adaptive 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cat>
            <c:numRef>
              <c:f>'Chart Data'!$M$2:$M$6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Data'!$N$2:$N$6</c:f>
              <c:numCache>
                <c:formatCode>#,##0</c:formatCode>
                <c:ptCount val="5"/>
                <c:pt idx="0">
                  <c:v>490.16666667</c:v>
                </c:pt>
                <c:pt idx="1">
                  <c:v>438.36666667</c:v>
                </c:pt>
                <c:pt idx="2">
                  <c:v>337.23333333</c:v>
                </c:pt>
                <c:pt idx="3">
                  <c:v>199</c:v>
                </c:pt>
                <c:pt idx="4">
                  <c:v>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EBA-4988-9C79-99FC420E29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27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27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sz="18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lu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Random</c:v>
          </c:tx>
          <c:spPr>
            <a:solidFill>
              <a:srgbClr val="69717A"/>
            </a:solidFill>
            <a:ln w="0">
              <a:noFill/>
            </a:ln>
          </c:spPr>
          <c:invertIfNegative val="0"/>
          <c:cat>
            <c:numRef>
              <c:f>'Chart Data'!$A$2:$A$6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#,##0</c:formatCode>
                <c:ptCount val="5"/>
                <c:pt idx="0">
                  <c:v>41708.4</c:v>
                </c:pt>
                <c:pt idx="1">
                  <c:v>40317.5</c:v>
                </c:pt>
                <c:pt idx="2">
                  <c:v>36796.5</c:v>
                </c:pt>
                <c:pt idx="3">
                  <c:v>30923.23333333</c:v>
                </c:pt>
                <c:pt idx="4">
                  <c:v>23802.26666667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C5-472D-ACF1-DEFB7E53B8B9}"/>
            </c:ext>
          </c:extLst>
        </c:ser>
        <c:ser>
          <c:idx val="1"/>
          <c:order val="1"/>
          <c:tx>
            <c:v>FIFO</c:v>
          </c:tx>
          <c:spPr>
            <a:solidFill>
              <a:srgbClr val="B39945"/>
            </a:solidFill>
            <a:ln w="0">
              <a:noFill/>
            </a:ln>
          </c:spPr>
          <c:invertIfNegative val="0"/>
          <c:cat>
            <c:numRef>
              <c:f>'Chart Data'!$C$2:$C$6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#,##0</c:formatCode>
                <c:ptCount val="5"/>
                <c:pt idx="0">
                  <c:v>41832</c:v>
                </c:pt>
                <c:pt idx="1">
                  <c:v>41832</c:v>
                </c:pt>
                <c:pt idx="2">
                  <c:v>41832</c:v>
                </c:pt>
                <c:pt idx="3">
                  <c:v>32073</c:v>
                </c:pt>
                <c:pt idx="4">
                  <c:v>27864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C5-472D-ACF1-DEFB7E53B8B9}"/>
            </c:ext>
          </c:extLst>
        </c:ser>
        <c:ser>
          <c:idx val="2"/>
          <c:order val="2"/>
          <c:tx>
            <c:v>OPT</c:v>
          </c:tx>
          <c:spPr>
            <a:solidFill>
              <a:srgbClr val="238A91"/>
            </a:solidFill>
            <a:ln w="0">
              <a:noFill/>
            </a:ln>
          </c:spPr>
          <c:invertIfNegative val="0"/>
          <c:cat>
            <c:numRef>
              <c:f>'Chart Data'!$E$2:$E$6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Data'!$F$2:$F$6</c:f>
              <c:numCache>
                <c:formatCode>#,##0</c:formatCode>
                <c:ptCount val="5"/>
                <c:pt idx="0">
                  <c:v>34076</c:v>
                </c:pt>
                <c:pt idx="1">
                  <c:v>28722</c:v>
                </c:pt>
                <c:pt idx="2">
                  <c:v>26922</c:v>
                </c:pt>
                <c:pt idx="3">
                  <c:v>21880</c:v>
                </c:pt>
                <c:pt idx="4">
                  <c:v>14869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0C5-472D-ACF1-DEFB7E53B8B9}"/>
            </c:ext>
          </c:extLst>
        </c:ser>
        <c:ser>
          <c:idx val="3"/>
          <c:order val="3"/>
          <c:tx>
            <c:v>LFU</c:v>
          </c:tx>
          <c:spPr>
            <a:solidFill>
              <a:srgbClr val="D0634F"/>
            </a:solidFill>
            <a:ln w="0">
              <a:noFill/>
            </a:ln>
          </c:spPr>
          <c:invertIfNegative val="0"/>
          <c:cat>
            <c:numRef>
              <c:f>'Chart Data'!$G$2:$G$6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Data'!$H$2:$H$6</c:f>
              <c:numCache>
                <c:formatCode>#,##0</c:formatCode>
                <c:ptCount val="5"/>
                <c:pt idx="0">
                  <c:v>41832</c:v>
                </c:pt>
                <c:pt idx="1">
                  <c:v>41832</c:v>
                </c:pt>
                <c:pt idx="2">
                  <c:v>41832</c:v>
                </c:pt>
                <c:pt idx="3">
                  <c:v>34653</c:v>
                </c:pt>
                <c:pt idx="4">
                  <c:v>32969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0C5-472D-ACF1-DEFB7E53B8B9}"/>
            </c:ext>
          </c:extLst>
        </c:ser>
        <c:ser>
          <c:idx val="4"/>
          <c:order val="4"/>
          <c:tx>
            <c:v>LRU</c:v>
          </c:tx>
          <c:spPr>
            <a:solidFill>
              <a:srgbClr val="376D9A"/>
            </a:solidFill>
            <a:ln w="0">
              <a:noFill/>
            </a:ln>
          </c:spPr>
          <c:invertIfNegative val="0"/>
          <c:cat>
            <c:numRef>
              <c:f>'Chart Data'!$I$2:$I$6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Data'!$J$2:$J$6</c:f>
              <c:numCache>
                <c:formatCode>#,##0</c:formatCode>
                <c:ptCount val="5"/>
                <c:pt idx="0">
                  <c:v>41832</c:v>
                </c:pt>
                <c:pt idx="1">
                  <c:v>41832</c:v>
                </c:pt>
                <c:pt idx="2">
                  <c:v>41832</c:v>
                </c:pt>
                <c:pt idx="3">
                  <c:v>28475</c:v>
                </c:pt>
                <c:pt idx="4">
                  <c:v>26497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0C5-472D-ACF1-DEFB7E53B8B9}"/>
            </c:ext>
          </c:extLst>
        </c:ser>
        <c:ser>
          <c:idx val="5"/>
          <c:order val="5"/>
          <c:tx>
            <c:v>Clock</c:v>
          </c:tx>
          <c:spPr>
            <a:solidFill>
              <a:srgbClr val="AAA0BA"/>
            </a:solidFill>
            <a:ln w="0">
              <a:noFill/>
            </a:ln>
          </c:spPr>
          <c:invertIfNegative val="0"/>
          <c:cat>
            <c:numRef>
              <c:f>'Chart Data'!$K$2:$K$6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Data'!$L$2:$L$6</c:f>
              <c:numCache>
                <c:formatCode>#,##0</c:formatCode>
                <c:ptCount val="5"/>
                <c:pt idx="0">
                  <c:v>41832</c:v>
                </c:pt>
                <c:pt idx="1">
                  <c:v>41832</c:v>
                </c:pt>
                <c:pt idx="2">
                  <c:v>41832</c:v>
                </c:pt>
                <c:pt idx="3">
                  <c:v>28736</c:v>
                </c:pt>
                <c:pt idx="4">
                  <c:v>26483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0C5-472D-ACF1-DEFB7E53B8B9}"/>
            </c:ext>
          </c:extLst>
        </c:ser>
        <c:ser>
          <c:idx val="6"/>
          <c:order val="6"/>
          <c:tx>
            <c:v>Adaptive 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cat>
            <c:numRef>
              <c:f>'Chart Data'!$M$2:$M$6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Data'!$N$2:$N$6</c:f>
              <c:numCache>
                <c:formatCode>#,##0</c:formatCode>
                <c:ptCount val="5"/>
                <c:pt idx="0">
                  <c:v>34422.93333333</c:v>
                </c:pt>
                <c:pt idx="1">
                  <c:v>29702.9</c:v>
                </c:pt>
                <c:pt idx="2">
                  <c:v>28222.86666667</c:v>
                </c:pt>
                <c:pt idx="3">
                  <c:v>23324</c:v>
                </c:pt>
                <c:pt idx="4">
                  <c:v>17452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0C5-472D-ACF1-DEFB7E53B8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27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27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sz="18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mm16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Random</c:v>
          </c:tx>
          <c:spPr>
            <a:solidFill>
              <a:srgbClr val="69717A"/>
            </a:solidFill>
            <a:ln w="0">
              <a:noFill/>
            </a:ln>
          </c:spPr>
          <c:invertIfNegative val="0"/>
          <c:cat>
            <c:numRef>
              <c:f>'Chart Data'!$A$2:$A$6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#,##0</c:formatCode>
                <c:ptCount val="5"/>
                <c:pt idx="0">
                  <c:v>9046.63333333</c:v>
                </c:pt>
                <c:pt idx="1">
                  <c:v>8625.4</c:v>
                </c:pt>
                <c:pt idx="2">
                  <c:v>6922.06666667</c:v>
                </c:pt>
                <c:pt idx="3">
                  <c:v>4292.06666667</c:v>
                </c:pt>
                <c:pt idx="4">
                  <c:v>2963.96666667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7A-4CFE-97AE-1DE88C2A8955}"/>
            </c:ext>
          </c:extLst>
        </c:ser>
        <c:ser>
          <c:idx val="1"/>
          <c:order val="1"/>
          <c:tx>
            <c:v>FIFO</c:v>
          </c:tx>
          <c:spPr>
            <a:solidFill>
              <a:srgbClr val="B39945"/>
            </a:solidFill>
            <a:ln w="0">
              <a:noFill/>
            </a:ln>
          </c:spPr>
          <c:invertIfNegative val="0"/>
          <c:cat>
            <c:numRef>
              <c:f>'Chart Data'!$C$2:$C$6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#,##0</c:formatCode>
                <c:ptCount val="5"/>
                <c:pt idx="0">
                  <c:v>9075</c:v>
                </c:pt>
                <c:pt idx="1">
                  <c:v>9075</c:v>
                </c:pt>
                <c:pt idx="2">
                  <c:v>9075</c:v>
                </c:pt>
                <c:pt idx="3">
                  <c:v>4180</c:v>
                </c:pt>
                <c:pt idx="4">
                  <c:v>3487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7A-4CFE-97AE-1DE88C2A8955}"/>
            </c:ext>
          </c:extLst>
        </c:ser>
        <c:ser>
          <c:idx val="2"/>
          <c:order val="2"/>
          <c:tx>
            <c:v>OPT</c:v>
          </c:tx>
          <c:spPr>
            <a:solidFill>
              <a:srgbClr val="238A91"/>
            </a:solidFill>
            <a:ln w="0">
              <a:noFill/>
            </a:ln>
          </c:spPr>
          <c:invertIfNegative val="0"/>
          <c:cat>
            <c:numRef>
              <c:f>'Chart Data'!$E$2:$E$6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Data'!$F$2:$F$6</c:f>
              <c:numCache>
                <c:formatCode>#,##0</c:formatCode>
                <c:ptCount val="5"/>
                <c:pt idx="0">
                  <c:v>7407</c:v>
                </c:pt>
                <c:pt idx="1">
                  <c:v>5990</c:v>
                </c:pt>
                <c:pt idx="2">
                  <c:v>3426</c:v>
                </c:pt>
                <c:pt idx="3">
                  <c:v>2461</c:v>
                </c:pt>
                <c:pt idx="4">
                  <c:v>1657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57A-4CFE-97AE-1DE88C2A8955}"/>
            </c:ext>
          </c:extLst>
        </c:ser>
        <c:ser>
          <c:idx val="3"/>
          <c:order val="3"/>
          <c:tx>
            <c:v>LFU</c:v>
          </c:tx>
          <c:spPr>
            <a:solidFill>
              <a:srgbClr val="D0634F"/>
            </a:solidFill>
            <a:ln w="0">
              <a:noFill/>
            </a:ln>
          </c:spPr>
          <c:invertIfNegative val="0"/>
          <c:cat>
            <c:numRef>
              <c:f>'Chart Data'!$G$2:$G$6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Data'!$H$2:$H$6</c:f>
              <c:numCache>
                <c:formatCode>#,##0</c:formatCode>
                <c:ptCount val="5"/>
                <c:pt idx="0">
                  <c:v>9075</c:v>
                </c:pt>
                <c:pt idx="1">
                  <c:v>9075</c:v>
                </c:pt>
                <c:pt idx="2">
                  <c:v>9075</c:v>
                </c:pt>
                <c:pt idx="3">
                  <c:v>6642</c:v>
                </c:pt>
                <c:pt idx="4">
                  <c:v>6077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57A-4CFE-97AE-1DE88C2A8955}"/>
            </c:ext>
          </c:extLst>
        </c:ser>
        <c:ser>
          <c:idx val="4"/>
          <c:order val="4"/>
          <c:tx>
            <c:v>LRU</c:v>
          </c:tx>
          <c:spPr>
            <a:solidFill>
              <a:srgbClr val="376D9A"/>
            </a:solidFill>
            <a:ln w="0">
              <a:noFill/>
            </a:ln>
          </c:spPr>
          <c:invertIfNegative val="0"/>
          <c:cat>
            <c:numRef>
              <c:f>'Chart Data'!$I$2:$I$6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Data'!$J$2:$J$6</c:f>
              <c:numCache>
                <c:formatCode>#,##0</c:formatCode>
                <c:ptCount val="5"/>
                <c:pt idx="0">
                  <c:v>9075</c:v>
                </c:pt>
                <c:pt idx="1">
                  <c:v>9075</c:v>
                </c:pt>
                <c:pt idx="2">
                  <c:v>9075</c:v>
                </c:pt>
                <c:pt idx="3">
                  <c:v>2964</c:v>
                </c:pt>
                <c:pt idx="4">
                  <c:v>2964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57A-4CFE-97AE-1DE88C2A8955}"/>
            </c:ext>
          </c:extLst>
        </c:ser>
        <c:ser>
          <c:idx val="5"/>
          <c:order val="5"/>
          <c:tx>
            <c:v>Clock</c:v>
          </c:tx>
          <c:spPr>
            <a:solidFill>
              <a:srgbClr val="AAA0BA"/>
            </a:solidFill>
            <a:ln w="0">
              <a:noFill/>
            </a:ln>
          </c:spPr>
          <c:invertIfNegative val="0"/>
          <c:cat>
            <c:numRef>
              <c:f>'Chart Data'!$K$2:$K$6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Data'!$L$2:$L$6</c:f>
              <c:numCache>
                <c:formatCode>#,##0</c:formatCode>
                <c:ptCount val="5"/>
                <c:pt idx="0">
                  <c:v>9075</c:v>
                </c:pt>
                <c:pt idx="1">
                  <c:v>9075</c:v>
                </c:pt>
                <c:pt idx="2">
                  <c:v>9075</c:v>
                </c:pt>
                <c:pt idx="3">
                  <c:v>3023</c:v>
                </c:pt>
                <c:pt idx="4">
                  <c:v>2964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057A-4CFE-97AE-1DE88C2A8955}"/>
            </c:ext>
          </c:extLst>
        </c:ser>
        <c:ser>
          <c:idx val="6"/>
          <c:order val="6"/>
          <c:tx>
            <c:v>Adaptive 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cat>
            <c:numRef>
              <c:f>'Chart Data'!$M$2:$M$6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Data'!$N$2:$N$6</c:f>
              <c:numCache>
                <c:formatCode>#,##0</c:formatCode>
                <c:ptCount val="5"/>
                <c:pt idx="0">
                  <c:v>7552.76666667</c:v>
                </c:pt>
                <c:pt idx="1">
                  <c:v>6234.76666667</c:v>
                </c:pt>
                <c:pt idx="2">
                  <c:v>3679.4</c:v>
                </c:pt>
                <c:pt idx="3">
                  <c:v>2964</c:v>
                </c:pt>
                <c:pt idx="4">
                  <c:v>2714.16666667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57A-4CFE-97AE-1DE88C2A89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27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27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sz="18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mm32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Random</c:v>
          </c:tx>
          <c:spPr>
            <a:solidFill>
              <a:srgbClr val="69717A"/>
            </a:solidFill>
            <a:ln w="0">
              <a:noFill/>
            </a:ln>
          </c:spPr>
          <c:invertIfNegative val="0"/>
          <c:cat>
            <c:numRef>
              <c:f>'Chart Data'!$A$2:$A$6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#,##0</c:formatCode>
                <c:ptCount val="5"/>
                <c:pt idx="0">
                  <c:v>67071.2</c:v>
                </c:pt>
                <c:pt idx="1">
                  <c:v>65301.03333333</c:v>
                </c:pt>
                <c:pt idx="2">
                  <c:v>59191.53333333</c:v>
                </c:pt>
                <c:pt idx="3">
                  <c:v>39745.63333333</c:v>
                </c:pt>
                <c:pt idx="4">
                  <c:v>28090.6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4-460B-88A5-BA962F41A546}"/>
            </c:ext>
          </c:extLst>
        </c:ser>
        <c:ser>
          <c:idx val="1"/>
          <c:order val="1"/>
          <c:tx>
            <c:v>FIFO</c:v>
          </c:tx>
          <c:spPr>
            <a:solidFill>
              <a:srgbClr val="B39945"/>
            </a:solidFill>
            <a:ln w="0">
              <a:noFill/>
            </a:ln>
          </c:spPr>
          <c:invertIfNegative val="0"/>
          <c:cat>
            <c:numRef>
              <c:f>'Chart Data'!$C$2:$C$6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#,##0</c:formatCode>
                <c:ptCount val="5"/>
                <c:pt idx="0">
                  <c:v>67235</c:v>
                </c:pt>
                <c:pt idx="1">
                  <c:v>67235</c:v>
                </c:pt>
                <c:pt idx="2">
                  <c:v>67235</c:v>
                </c:pt>
                <c:pt idx="3">
                  <c:v>55136</c:v>
                </c:pt>
                <c:pt idx="4">
                  <c:v>28421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4-460B-88A5-BA962F41A546}"/>
            </c:ext>
          </c:extLst>
        </c:ser>
        <c:ser>
          <c:idx val="2"/>
          <c:order val="2"/>
          <c:tx>
            <c:v>OPT</c:v>
          </c:tx>
          <c:spPr>
            <a:solidFill>
              <a:srgbClr val="238A91"/>
            </a:solidFill>
            <a:ln w="0">
              <a:noFill/>
            </a:ln>
          </c:spPr>
          <c:invertIfNegative val="0"/>
          <c:cat>
            <c:numRef>
              <c:f>'Chart Data'!$E$2:$E$6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Data'!$F$2:$F$6</c:f>
              <c:numCache>
                <c:formatCode>#,##0</c:formatCode>
                <c:ptCount val="5"/>
                <c:pt idx="0">
                  <c:v>54807</c:v>
                </c:pt>
                <c:pt idx="1">
                  <c:v>48109</c:v>
                </c:pt>
                <c:pt idx="2">
                  <c:v>37682</c:v>
                </c:pt>
                <c:pt idx="3">
                  <c:v>19164</c:v>
                </c:pt>
                <c:pt idx="4">
                  <c:v>17514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4-460B-88A5-BA962F41A546}"/>
            </c:ext>
          </c:extLst>
        </c:ser>
        <c:ser>
          <c:idx val="3"/>
          <c:order val="3"/>
          <c:tx>
            <c:v>LFU</c:v>
          </c:tx>
          <c:spPr>
            <a:solidFill>
              <a:srgbClr val="D0634F"/>
            </a:solidFill>
            <a:ln w="0">
              <a:noFill/>
            </a:ln>
          </c:spPr>
          <c:invertIfNegative val="0"/>
          <c:cat>
            <c:numRef>
              <c:f>'Chart Data'!$G$2:$G$6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Data'!$H$2:$H$6</c:f>
              <c:numCache>
                <c:formatCode>#,##0</c:formatCode>
                <c:ptCount val="5"/>
                <c:pt idx="0">
                  <c:v>67235</c:v>
                </c:pt>
                <c:pt idx="1">
                  <c:v>67235</c:v>
                </c:pt>
                <c:pt idx="2">
                  <c:v>67235</c:v>
                </c:pt>
                <c:pt idx="3">
                  <c:v>53805</c:v>
                </c:pt>
                <c:pt idx="4">
                  <c:v>51699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4-460B-88A5-BA962F41A546}"/>
            </c:ext>
          </c:extLst>
        </c:ser>
        <c:ser>
          <c:idx val="4"/>
          <c:order val="4"/>
          <c:tx>
            <c:v>LRU</c:v>
          </c:tx>
          <c:spPr>
            <a:solidFill>
              <a:srgbClr val="376D9A"/>
            </a:solidFill>
            <a:ln w="0">
              <a:noFill/>
            </a:ln>
          </c:spPr>
          <c:invertIfNegative val="0"/>
          <c:cat>
            <c:numRef>
              <c:f>'Chart Data'!$I$2:$I$6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Data'!$J$2:$J$6</c:f>
              <c:numCache>
                <c:formatCode>#,##0</c:formatCode>
                <c:ptCount val="5"/>
                <c:pt idx="0">
                  <c:v>67235</c:v>
                </c:pt>
                <c:pt idx="1">
                  <c:v>67235</c:v>
                </c:pt>
                <c:pt idx="2">
                  <c:v>67235</c:v>
                </c:pt>
                <c:pt idx="3">
                  <c:v>51860</c:v>
                </c:pt>
                <c:pt idx="4">
                  <c:v>19604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F84-460B-88A5-BA962F41A546}"/>
            </c:ext>
          </c:extLst>
        </c:ser>
        <c:ser>
          <c:idx val="5"/>
          <c:order val="5"/>
          <c:tx>
            <c:v>Clock</c:v>
          </c:tx>
          <c:spPr>
            <a:solidFill>
              <a:srgbClr val="AAA0BA"/>
            </a:solidFill>
            <a:ln w="0">
              <a:noFill/>
            </a:ln>
          </c:spPr>
          <c:invertIfNegative val="0"/>
          <c:cat>
            <c:numRef>
              <c:f>'Chart Data'!$K$2:$K$6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Data'!$L$2:$L$6</c:f>
              <c:numCache>
                <c:formatCode>#,##0</c:formatCode>
                <c:ptCount val="5"/>
                <c:pt idx="0">
                  <c:v>67235</c:v>
                </c:pt>
                <c:pt idx="1">
                  <c:v>67235</c:v>
                </c:pt>
                <c:pt idx="2">
                  <c:v>67235</c:v>
                </c:pt>
                <c:pt idx="3">
                  <c:v>51865</c:v>
                </c:pt>
                <c:pt idx="4">
                  <c:v>19947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F84-460B-88A5-BA962F41A546}"/>
            </c:ext>
          </c:extLst>
        </c:ser>
        <c:ser>
          <c:idx val="6"/>
          <c:order val="6"/>
          <c:tx>
            <c:v>Adaptive 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cat>
            <c:numRef>
              <c:f>'Chart Data'!$M$2:$M$6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Data'!$N$2:$N$6</c:f>
              <c:numCache>
                <c:formatCode>#,##0</c:formatCode>
                <c:ptCount val="5"/>
                <c:pt idx="0">
                  <c:v>55009.9</c:v>
                </c:pt>
                <c:pt idx="1">
                  <c:v>49263.46666667</c:v>
                </c:pt>
                <c:pt idx="2">
                  <c:v>39025.93333333</c:v>
                </c:pt>
                <c:pt idx="3">
                  <c:v>21179</c:v>
                </c:pt>
                <c:pt idx="4">
                  <c:v>19604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F84-460B-88A5-BA962F41A5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27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27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sz="18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qsort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LRU</c:v>
          </c:tx>
          <c:spPr>
            <a:solidFill>
              <a:srgbClr val="A7ADB4"/>
            </a:solidFill>
            <a:ln w="0">
              <a:noFill/>
            </a:ln>
          </c:spPr>
          <c:invertIfNegative val="0"/>
          <c:dLbls>
            <c:delete val="1"/>
          </c:dLbls>
          <c:cat>
            <c:numRef>
              <c:f>'Chart Data'!$A$2:$A$6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0.00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08-4A10-97E0-5A92B6C4F302}"/>
            </c:ext>
          </c:extLst>
        </c:ser>
        <c:ser>
          <c:idx val="1"/>
          <c:order val="1"/>
          <c:tx>
            <c:v>Adaptive 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125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Data'!$C$2:$C$6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0.00</c:formatCode>
                <c:ptCount val="5"/>
                <c:pt idx="0">
                  <c:v>0.93543257</c:v>
                </c:pt>
                <c:pt idx="1">
                  <c:v>0.83657761</c:v>
                </c:pt>
                <c:pt idx="2">
                  <c:v>0.64357506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B08-4A10-97E0-5A92B6C4F3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12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12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sz="18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lu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LRU</c:v>
          </c:tx>
          <c:spPr>
            <a:solidFill>
              <a:srgbClr val="A7ADB4"/>
            </a:solidFill>
            <a:ln w="0">
              <a:noFill/>
            </a:ln>
          </c:spPr>
          <c:invertIfNegative val="0"/>
          <c:dLbls>
            <c:delete val="1"/>
          </c:dLbls>
          <c:cat>
            <c:numRef>
              <c:f>'Chart Data'!$A$2:$A$6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0.00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00-4F8C-BA46-976762856CDA}"/>
            </c:ext>
          </c:extLst>
        </c:ser>
        <c:ser>
          <c:idx val="1"/>
          <c:order val="1"/>
          <c:tx>
            <c:v>Adaptive 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125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Data'!$C$2:$C$6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0.00</c:formatCode>
                <c:ptCount val="5"/>
                <c:pt idx="0">
                  <c:v>0.82288519</c:v>
                </c:pt>
                <c:pt idx="1">
                  <c:v>0.71005211</c:v>
                </c:pt>
                <c:pt idx="2">
                  <c:v>0.6746717</c:v>
                </c:pt>
                <c:pt idx="3">
                  <c:v>0.81910448</c:v>
                </c:pt>
                <c:pt idx="4">
                  <c:v>0.6586406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00-4F8C-BA46-976762856CD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12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12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sz="18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mm16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LRU</c:v>
          </c:tx>
          <c:spPr>
            <a:solidFill>
              <a:srgbClr val="A7ADB4"/>
            </a:solidFill>
            <a:ln w="0">
              <a:noFill/>
            </a:ln>
          </c:spPr>
          <c:invertIfNegative val="0"/>
          <c:dLbls>
            <c:delete val="1"/>
          </c:dLbls>
          <c:cat>
            <c:numRef>
              <c:f>'Chart Data'!$A$2:$A$6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0.00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14-4383-AEE6-8C9FF761DF37}"/>
            </c:ext>
          </c:extLst>
        </c:ser>
        <c:ser>
          <c:idx val="1"/>
          <c:order val="1"/>
          <c:tx>
            <c:v>Adaptive 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125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Data'!$C$2:$C$6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0.00</c:formatCode>
                <c:ptCount val="5"/>
                <c:pt idx="0">
                  <c:v>0.83226079</c:v>
                </c:pt>
                <c:pt idx="1">
                  <c:v>0.68702663</c:v>
                </c:pt>
                <c:pt idx="2">
                  <c:v>0.40544353</c:v>
                </c:pt>
                <c:pt idx="3">
                  <c:v>1</c:v>
                </c:pt>
                <c:pt idx="4">
                  <c:v>0.91571075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14-4383-AEE6-8C9FF761DF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12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12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title>
      <c:tx>
        <c:rich>
          <a:bodyPr/>
          <a:lstStyle/>
          <a:p>
            <a:r>
              <a:rPr sz="18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mm32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LRU</c:v>
          </c:tx>
          <c:spPr>
            <a:solidFill>
              <a:srgbClr val="A7ADB4"/>
            </a:solidFill>
            <a:ln w="0">
              <a:noFill/>
            </a:ln>
          </c:spPr>
          <c:invertIfNegative val="0"/>
          <c:dLbls>
            <c:delete val="1"/>
          </c:dLbls>
          <c:cat>
            <c:numRef>
              <c:f>'Chart Data'!$A$2:$A$6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Data'!$B$2:$B$6</c:f>
              <c:numCache>
                <c:formatCode>0.00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C7-4068-8292-E8A4E0F41BF1}"/>
            </c:ext>
          </c:extLst>
        </c:ser>
        <c:ser>
          <c:idx val="1"/>
          <c:order val="1"/>
          <c:tx>
            <c:v>Adaptive 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125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'Chart Data'!$C$2:$C$6</c:f>
              <c:numCache>
                <c:formatCode>General</c:formatCode>
                <c:ptCount val="5"/>
                <c:pt idx="0">
                  <c:v>5</c:v>
                </c:pt>
                <c:pt idx="1">
                  <c:v>10</c:v>
                </c:pt>
                <c:pt idx="2">
                  <c:v>20</c:v>
                </c:pt>
                <c:pt idx="3">
                  <c:v>50</c:v>
                </c:pt>
                <c:pt idx="4">
                  <c:v>100</c:v>
                </c:pt>
              </c:numCache>
            </c:numRef>
          </c:cat>
          <c:val>
            <c:numRef>
              <c:f>'Chart Data'!$D$2:$D$6</c:f>
              <c:numCache>
                <c:formatCode>0.00</c:formatCode>
                <c:ptCount val="5"/>
                <c:pt idx="0">
                  <c:v>0.81817357</c:v>
                </c:pt>
                <c:pt idx="1">
                  <c:v>0.73270568</c:v>
                </c:pt>
                <c:pt idx="2">
                  <c:v>0.58044074</c:v>
                </c:pt>
                <c:pt idx="3">
                  <c:v>0.40838797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C7-4068-8292-E8A4E0F41BF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125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0.0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125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V2</c:v>
          </c:tx>
          <c:spPr>
            <a:solidFill>
              <a:srgbClr val="A7ADB4"/>
            </a:solidFill>
            <a:ln w="0">
              <a:noFill/>
            </a:ln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轮换热点</c:v>
                </c:pt>
                <c:pt idx="1">
                  <c:v>扰动循环 97</c:v>
                </c:pt>
                <c:pt idx="2">
                  <c:v>交替回访</c:v>
                </c:pt>
                <c:pt idx="3">
                  <c:v>热点 + 长扫描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4092.11333333</c:v>
                </c:pt>
                <c:pt idx="1">
                  <c:v>5055.03333333</c:v>
                </c:pt>
                <c:pt idx="2">
                  <c:v>7836.16</c:v>
                </c:pt>
                <c:pt idx="3">
                  <c:v>7291.22666667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FA-4852-8946-13E9823A5A19}"/>
            </c:ext>
          </c:extLst>
        </c:ser>
        <c:ser>
          <c:idx val="1"/>
          <c:order val="1"/>
          <c:tx>
            <c:v>V3</c:v>
          </c:tx>
          <c:spPr>
            <a:solidFill>
              <a:srgbClr val="6B4A82"/>
            </a:solidFill>
            <a:ln w="0">
              <a:noFill/>
            </a:ln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29203A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Data'!$C$2:$C$5</c:f>
              <c:strCache>
                <c:ptCount val="4"/>
                <c:pt idx="0">
                  <c:v>轮换热点</c:v>
                </c:pt>
                <c:pt idx="1">
                  <c:v>扰动循环 97</c:v>
                </c:pt>
                <c:pt idx="2">
                  <c:v>交替回访</c:v>
                </c:pt>
                <c:pt idx="3">
                  <c:v>热点 + 长扫描</c:v>
                </c:pt>
              </c:strCache>
            </c:strRef>
          </c:cat>
          <c:val>
            <c:numRef>
              <c:f>'Chart Data'!$D$2:$D$5</c:f>
              <c:numCache>
                <c:formatCode>#,##0</c:formatCode>
                <c:ptCount val="4"/>
                <c:pt idx="0">
                  <c:v>4090.56666667</c:v>
                </c:pt>
                <c:pt idx="1">
                  <c:v>5102.47333333</c:v>
                </c:pt>
                <c:pt idx="2">
                  <c:v>7836.16</c:v>
                </c:pt>
                <c:pt idx="3">
                  <c:v>7292.32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8FA-4852-8946-13E9823A5A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EC6D8"/>
            </a:solidFill>
          </a:ln>
        </c:spPr>
        <c:txPr>
          <a:bodyPr anchorCtr="1"/>
          <a:lstStyle/>
          <a:p>
            <a:pPr>
              <a:defRPr sz="165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8E3EF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29203A"/>
              </a:solidFill>
              <a:latin typeface="Microsoft YaHei"/>
              <a:ea typeface="Microsoft YaHei"/>
              <a:cs typeface="Microsoft YaHei"/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ChartSnapshot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开场约 20 秒。我们实现六种参照算法，并设计只使用过去访问的 Adaptive。重点解释如何利用访问特征，以及这轮优化修复了什么问题。</a:t>
            </a:r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t>数据与实现来源： https://github.com/CHiSwsz/os-page-replacement</a:t>
            </a:r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t>results/summary.csv</a:t>
            </a:r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t>课件要求：OS-页面替换-更新.pptx，第 8 页图例。</a:t>
            </a:r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35 秒。trace 里的数字已经是虚拟页号，无需再除以页大小。每个 frame 存一页，缺页时只能装入当前访问页。这里以一个统一虚拟页号空间建模，忽略 TLB、脏页写回和多进程调度。OPT 单独作为允许读取未来的离线参照。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data/manifest.json; src/main.cpp; src/paging.cpp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45 秒。程序名提示来源，但设计依据是实际测得的复用，而不是文件名。qsort 很短，冷启动占比较大；lu 的远距离重用多；两种矩阵轨迹表现出明显容量阈值。四条轨迹都没有小于 20 的重用距离，因此 LRU 在 5、10、20 页框时全部缺页。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results/trace_diagnostics.json; data/manifest.json; results/summary.csv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40 秒。这里取 20 个页框。重复访问发生得比缓存能保留的范围更晚，LRU 会产生循环淘汰。随机替换有机会留下部分页面，历史间隔预测还能尝试辨别哪些页更快重用。这是引入多策略的动机，不能推出所有新轨迹也有这种规律。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results/summary.csv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35 秒。五种基础算法是 Random、FIFO、OPT、LFU、LRU，我们额外补齐课件里的 Second chance。OPT 在相同模型下给出理论最少缺页数。它与在线算法的信息条件不同，作为下界而非可部署竞争者。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include/paging.hpp; src/paging.cpp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45 秒。影子缓存只是反事实的元数据模拟，用已发生的访问比较三个候选。切换只改变今后的淘汰依据，真实内存中的驻留页不会凭空变化。一个程序以 F 为参数，不依赖轨迹文件名、具体页号或预先知道的最优策略。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src/adaptive.cpp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50 秒。首次重复时直接令 g 等于实际间隔，后续用 0.5 权重更新。V2 用 g 加间隔波动做参考，V3 只用 g，减少旧长间隔的持续影响。更快更新也可能放大短期扰动，新增循环压力测试出现了退化。未重复或已忘记的页评分为无穷大，并列按 LRU。只估计未来，不读取未来。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src/adaptive.cpp; results/v3_search.csv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50 秒。大容量下历史从 16F 缩到 8F，减少陈旧统计。小容量保持 16F，因为统一缩短会损害已有收益。F=5、10、20、50、100 对应 H=80、160、320、400、800。影子对齐方向只有实际到影子，不会把影子页装进真实内存。切换后仍可能有状态偏差，窗口也有滞后。所有轨迹共用这套规则。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src/adaptive.cpp; results/v3_search.csv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40 秒。共 140 组配置，保存 1,300 次正式运行。先平均同配置的 30 个种子，再对 20 个配置等权平均缺页次数。长轨迹数值更大，所以另报告宏平均缺页率：V3 为 58.23%。OPT 平均 16,309.80，V3 仍比它多约 4.85%。均值小数不表示一次运行有小数次缺页。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results/raw.csv; results/overall.csv; results/metadata.json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35 秒。qsort 只有 524 次访问，大容量提升空间小，50 和 100 页框都停在 199。lu 在所有容量下均优于所测在线基线，尤其 50 页框本轮进一步改善。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results/summary.csv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40 秒。mm16 在 100 页框由 V2 的 2,964 降到 V3 的 2,714.17。mm32 在 50 页框，LRU 为 51,860，V3 为 21,179；100 页框仍与 LRU 相同。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results/summary.csv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35 秒。每个柱子是同一轨迹、同一容量下，Adaptive 缺页数除以 LRU 缺页数。灰柱固定为 1，与课件示例一致。比 LRU 好并不等于比所有算法都好，例如 qsort/100 的 Random 均值更低。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results/summary.csv; OS-页面替换-更新.pptx 第 8 页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50 秒。15 个候选在课程轨迹和种子 0～4 上初筛，按 20 个配置平均缺页数选择，再固定规则用 30 种子复测。因此属于已知数据优化。lu/50 改善 8.09%，lu/100 改善 6.09%，mm16/100 改善 8.43%。lu/5 多 57.17 次，qsort/20 多 4.43 次，其余退化为 qsort/5、qsort/10 与 mm32/10。V1/V2 的 1,200 条旧结果逐字段复现。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results/version_comparison.csv; results/versions_raw.csv; results/v3_search.csv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45 秒。先平均五档容量，V2 与 V3 都使用相同的 30 个种子。四类新构造轨迹在评测前定义。轮换热点整体改善约 0.038%，扰动循环退化 0.938%，交替回访不变，热点长扫描退化 0.015%。扰动循环在 10/20/50 页框分别多 70.77、128.43、38 次。课程平均提升不能保证新轨迹也提升。旧的六类构造回归测试也已重跑，完整结果放在报告。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results/fresh_summary.csv; scripts/fresh_stress.py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约 40 秒。缺页更少不代表模拟器运行更快。耗时是同环境 10 次端到端进程测量的中位数，包含启动、输入解析和模拟，并非真实 OS 缺页延迟。落后于 Random 的配置是 qsort/100：199 对 196.30。新压力测试也出现 V3 比 V2 差的配置。优势来自已知轨迹规律，没有任意输入上胜过全部在线算法的保证。参数选择使用了课程轨迹，所以课堂新数据是后续真正需要验证的对象。到此正文约 10 分钟。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results/timing_summary.csv; REPORT.md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附录，答疑时使用。强调随机算法列为均值，小数只是统计结果。所有数据由 CSV 直接导入，没有人工录入缺页次数。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results/summary.csv; results/raw.csv; results/fault_counts_seed0.csv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附录，答疑时使用。强调随机算法列为均值，小数只是统计结果。所有数据由 CSV 直接导入，没有人工录入缺页次数。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results/summary.csv; results/raw.csv; results/fault_counts_seed0.csv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附录，答疑时使用。强调随机算法列为均值，小数只是统计结果。所有数据由 CSV 直接导入，没有人工录入缺页次数。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results/summary.csv; results/raw.csv; results/fault_counts_seed0.csv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附录，答疑时使用。强调随机算法列为均值，小数只是统计结果。所有数据由 CSV 直接导入，没有人工录入缺页次数。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results/summary.csv; results/raw.csv; results/fault_counts_seed0.csv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附录。每个数据集先平均五档容量，再对四条轨迹等权平均。参数研究共有 3,000 条原始记录，默认配置的 600 条复用正式结果。更长历史并非越好，也可能保留过时信息。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results/parameters_summary.csv; results/parameters_raw.csv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附录。实际运行将示例命令的两行合并成一行，或在 shell 使用续行。默认 Adaptive 版本为 3，可通过参数复现 V1 和 V2。代码、实验与 PPT 同步提交到公开仓库。模板来源为用户指定的第三讲_反向传播_修订版_v22.pptx，沿用其布局、字体、配色与页脚。</a:t>
            </a:r>
          </a:p>
          <a:p>
            <a:endParaRPr sz="1200" b="0">
              <a:solidFill>
                <a:srgbClr val="29203A"/>
              </a:solidFill>
              <a:latin typeface="Microsoft YaHei"/>
              <a:ea typeface="Microsoft YaHei"/>
              <a:cs typeface="Microsoft YaHei"/>
            </a:endParaRP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数据与实现来源： https://github.com/CHiSwsz/os-page-replacement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README.md; results/metadata.json; tests/test_paging.cpp; tests/test_cli.py</a:t>
            </a:r>
          </a:p>
          <a:p>
            <a:r>
              <a:rPr sz="120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课件要求：OS-页面替换-更新.pptx，第 8 页图例。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0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800"/>
          </a:p>
        </p:txBody>
      </p:sp>
      <p:sp>
        <p:nvSpPr>
          <p:cNvPr id="100" name="Text 100">
            <a:extLst>
              <a:ext uri="{FF2B5EF4-FFF2-40B4-BE49-F238E27FC236}">
                <a16:creationId xmlns:a16="http://schemas.microsoft.com/office/drawing/2014/main" id="{3AC78C8A-5647-4DC5-A5C1-395AE1E7DCEE}"/>
              </a:ext>
            </a:extLst>
          </p:cNvPr>
          <p:cNvSpPr>
            <a:spLocks noGrp="1"/>
          </p:cNvSpPr>
          <p:nvPr/>
        </p:nvSpPr>
        <p:spPr>
          <a:xfrm>
            <a:off x="863600" y="2209800"/>
            <a:ext cx="104648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sz="4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自适应页面替换算法</a:t>
            </a:r>
            <a:endParaRPr sz="4400"/>
          </a:p>
        </p:txBody>
      </p:sp>
      <p:sp>
        <p:nvSpPr>
          <p:cNvPr id="101" name="Text 101">
            <a:extLst>
              <a:ext uri="{FF2B5EF4-FFF2-40B4-BE49-F238E27FC236}">
                <a16:creationId xmlns:a16="http://schemas.microsoft.com/office/drawing/2014/main" id="{D0D4AE94-33AE-447A-B041-F453500E35EC}"/>
              </a:ext>
            </a:extLst>
          </p:cNvPr>
          <p:cNvSpPr>
            <a:spLocks noGrp="1"/>
          </p:cNvSpPr>
          <p:nvPr/>
        </p:nvSpPr>
        <p:spPr>
          <a:xfrm>
            <a:off x="901700" y="3606800"/>
            <a:ext cx="104648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>
            <a:def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40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容量与历史访问驱动的策略选择</a:t>
            </a:r>
            <a:endParaRPr sz="2500"/>
          </a:p>
        </p:txBody>
      </p:sp>
      <p:sp>
        <p:nvSpPr>
          <p:cNvPr id="102" name="算法设计、优化与实验">
            <a:extLst>
              <a:ext uri="{FF2B5EF4-FFF2-40B4-BE49-F238E27FC236}">
                <a16:creationId xmlns:a16="http://schemas.microsoft.com/office/drawing/2014/main" id="{6640E281-152C-4832-ACF2-7537BC49188C}"/>
              </a:ext>
            </a:extLst>
          </p:cNvPr>
          <p:cNvSpPr>
            <a:spLocks noGrp="1"/>
          </p:cNvSpPr>
          <p:nvPr/>
        </p:nvSpPr>
        <p:spPr>
          <a:xfrm>
            <a:off x="904875" y="4572000"/>
            <a:ext cx="9525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算法设计、优化与实验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任务：固定容量下，尽量减少缺页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800"/>
          </a:p>
        </p:txBody>
      </p:sp>
      <p:sp>
        <p:nvSpPr>
          <p:cNvPr id="14" name="Demand paging：访问时才装入页面">
            <a:extLst>
              <a:ext uri="{FF2B5EF4-FFF2-40B4-BE49-F238E27FC236}">
                <a16:creationId xmlns:a16="http://schemas.microsoft.com/office/drawing/2014/main" id="{B04F8123-F387-49A4-BA06-DE40A21EB041}"/>
              </a:ext>
            </a:extLst>
          </p:cNvPr>
          <p:cNvSpPr>
            <a:spLocks noGrp="1"/>
          </p:cNvSpPr>
          <p:nvPr/>
        </p:nvSpPr>
        <p:spPr>
          <a:xfrm>
            <a:off x="857250" y="1285875"/>
            <a:ext cx="10477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Demand paging：访问时才装入页面</a:t>
            </a:r>
          </a:p>
        </p:txBody>
      </p:sp>
      <p:sp>
        <p:nvSpPr>
          <p:cNvPr id="15" name="命中：继续使用驻留页。&#10;缺页：使用空页框，或淘汰一个页后装入当前页。">
            <a:extLst>
              <a:ext uri="{FF2B5EF4-FFF2-40B4-BE49-F238E27FC236}">
                <a16:creationId xmlns:a16="http://schemas.microsoft.com/office/drawing/2014/main" id="{16BD3F9A-FB72-4516-9FFB-C44A574A37E4}"/>
              </a:ext>
            </a:extLst>
          </p:cNvPr>
          <p:cNvSpPr>
            <a:spLocks noGrp="1"/>
          </p:cNvSpPr>
          <p:nvPr/>
        </p:nvSpPr>
        <p:spPr>
          <a:xfrm>
            <a:off x="857250" y="2047875"/>
            <a:ext cx="104775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命中：继续使用驻留页。</a:t>
            </a:r>
          </a:p>
          <a:p>
            <a: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缺页：使用空页框，或淘汰一个页后装入当前页。</a:t>
            </a: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1BB384E0-447E-4399-8946-ED3A9CA034EA}"/>
              </a:ext>
            </a:extLst>
          </p:cNvPr>
          <p:cNvGraphicFramePr/>
          <p:nvPr/>
        </p:nvGraphicFramePr>
        <p:xfrm>
          <a:off x="857250" y="3429000"/>
          <a:ext cx="10477500" cy="1333500"/>
        </p:xfrm>
        <a:graphic>
          <a:graphicData uri="http://schemas.openxmlformats.org/drawingml/2006/table">
            <a:tbl>
              <a:tblPr/>
              <a:tblGrid>
                <a:gridCol w="438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内存容量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评价指标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十六进制虚拟页号序列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5、10、20、50、100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缺页次数，越少越好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统一虚拟地址空间，空内存启动，不预取。自设算法只使用已发生的访问。">
            <a:extLst>
              <a:ext uri="{FF2B5EF4-FFF2-40B4-BE49-F238E27FC236}">
                <a16:creationId xmlns:a16="http://schemas.microsoft.com/office/drawing/2014/main" id="{15B71E4C-BF8C-46E3-A358-D32F8CB76351}"/>
              </a:ext>
            </a:extLst>
          </p:cNvPr>
          <p:cNvSpPr>
            <a:spLocks noGrp="1"/>
          </p:cNvSpPr>
          <p:nvPr/>
        </p:nvSpPr>
        <p:spPr>
          <a:xfrm>
            <a:off x="857250" y="5476875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统一虚拟地址空间，空内存启动，不预取。自设算法只使用已发生的访问。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四条轨迹的规模和访问特点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76E57F7-F067-45D0-959A-BBEC6CE8590A}"/>
              </a:ext>
            </a:extLst>
          </p:cNvPr>
          <p:cNvGraphicFramePr/>
          <p:nvPr/>
        </p:nvGraphicFramePr>
        <p:xfrm>
          <a:off x="857250" y="1381125"/>
          <a:ext cx="10477500" cy="342900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1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轨迹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访问次数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不同页数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实测特点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qsort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短轨迹；50 页框后 LRU 为 199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531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较长复用距离多，100 页框仍缺页多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mm16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LRU 在 50 / 100 页框均为 2,964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mm32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1,667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 到 100 页框，LRU 从 51,860 降至 19,604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共同点：重复访问的最小重用距离为 20。">
            <a:extLst>
              <a:ext uri="{FF2B5EF4-FFF2-40B4-BE49-F238E27FC236}">
                <a16:creationId xmlns:a16="http://schemas.microsoft.com/office/drawing/2014/main" id="{CC1BBB67-6746-427F-8F35-C48D41E6BE6D}"/>
              </a:ext>
            </a:extLst>
          </p:cNvPr>
          <p:cNvSpPr>
            <a:spLocks noGrp="1"/>
          </p:cNvSpPr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共同点：重复访问的最小重用距离为 20。</a:t>
            </a:r>
          </a:p>
        </p:txBody>
      </p:sp>
      <p:sp>
        <p:nvSpPr>
          <p:cNvPr id="16" name="重用距离 = 同一页两次访问之间出现的不同页数。">
            <a:extLst>
              <a:ext uri="{FF2B5EF4-FFF2-40B4-BE49-F238E27FC236}">
                <a16:creationId xmlns:a16="http://schemas.microsoft.com/office/drawing/2014/main" id="{56B085C2-0401-4B63-AD8B-0B3E79F79E7A}"/>
              </a:ext>
            </a:extLst>
          </p:cNvPr>
          <p:cNvSpPr>
            <a:spLocks noGrp="1"/>
          </p:cNvSpPr>
          <p:nvPr/>
        </p:nvSpPr>
        <p:spPr>
          <a:xfrm>
            <a:off x="857250" y="5876925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重用距离 = 同一页两次访问之间出现的不同页数。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小容量下，最近使用不等于很快再用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 sz="800"/>
          </a:p>
        </p:txBody>
      </p:sp>
      <p:sp>
        <p:nvSpPr>
          <p:cNvPr id="14" name="当重用距离 ≥ F，LRU 在再次访问前已经淘汰该页。">
            <a:extLst>
              <a:ext uri="{FF2B5EF4-FFF2-40B4-BE49-F238E27FC236}">
                <a16:creationId xmlns:a16="http://schemas.microsoft.com/office/drawing/2014/main" id="{C2668BC8-E9C1-4E4D-872C-0E326FFDA279}"/>
              </a:ext>
            </a:extLst>
          </p:cNvPr>
          <p:cNvSpPr>
            <a:spLocks noGrp="1"/>
          </p:cNvSpPr>
          <p:nvPr/>
        </p:nvSpPr>
        <p:spPr>
          <a:xfrm>
            <a:off x="857250" y="1285875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当重用距离 ≥ F，LRU 在再次访问前已经淘汰该页。</a:t>
            </a:r>
          </a:p>
        </p:txBody>
      </p:sp>
      <p:graphicFrame>
        <p:nvGraphicFramePr>
          <p:cNvPr id="15" name="Chart">
            <a:extLst>
              <a:ext uri="{FF2B5EF4-FFF2-40B4-BE49-F238E27FC236}">
                <a16:creationId xmlns:a16="http://schemas.microsoft.com/office/drawing/2014/main" id="{20FB4EF5-F3B0-4012-9600-31DA569F1FF2}"/>
              </a:ext>
            </a:extLst>
          </p:cNvPr>
          <p:cNvGraphicFramePr/>
          <p:nvPr/>
        </p:nvGraphicFramePr>
        <p:xfrm>
          <a:off x="857250" y="2047875"/>
          <a:ext cx="10477500" cy="3286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例：20 页框时，四条轨迹的 LRU 缺页率均为 100%。">
            <a:extLst>
              <a:ext uri="{FF2B5EF4-FFF2-40B4-BE49-F238E27FC236}">
                <a16:creationId xmlns:a16="http://schemas.microsoft.com/office/drawing/2014/main" id="{ACFDCE61-BDBA-471A-8D9A-DAB8936074A8}"/>
              </a:ext>
            </a:extLst>
          </p:cNvPr>
          <p:cNvSpPr>
            <a:spLocks noGrp="1"/>
          </p:cNvSpPr>
          <p:nvPr/>
        </p:nvSpPr>
        <p:spPr>
          <a:xfrm>
            <a:off x="857250" y="58102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例：20 页框时，四条轨迹的 LRU 缺页率均为 100%。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六种参照算法分别利用什么信息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E5EEF0CF-BAFF-4146-83DA-B1A249CD85F8}"/>
              </a:ext>
            </a:extLst>
          </p:cNvPr>
          <p:cNvGraphicFramePr/>
          <p:nvPr/>
        </p:nvGraphicFramePr>
        <p:xfrm>
          <a:off x="857250" y="1238250"/>
          <a:ext cx="10477500" cy="4476750"/>
        </p:xfrm>
        <a:graphic>
          <a:graphicData uri="http://schemas.openxmlformats.org/drawingml/2006/table">
            <a:tbl>
              <a:tblPr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淘汰依据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主要局限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Random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均匀随机选驻留页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不利用访问规律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FIFO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最早装入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命中不更新顺序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 / MIN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下一次访问最远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需要未来轨迹，只作下界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LFU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驻留期间频次最低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历史热度可能过时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LRU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最近一次访问最早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长循环容易全部缺页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9536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Second chance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Clock 指针 + 访问位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只粗略近似最近性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LFU 重载后频次归 1，并列按 LRU；Clock 新装入与命中均置">
            <a:extLst>
              <a:ext uri="{FF2B5EF4-FFF2-40B4-BE49-F238E27FC236}">
                <a16:creationId xmlns:a16="http://schemas.microsoft.com/office/drawing/2014/main" id="{49487311-3C59-49C5-85DC-4A235BE3231D}"/>
              </a:ext>
            </a:extLst>
          </p:cNvPr>
          <p:cNvSpPr>
            <a:spLocks noGrp="1"/>
          </p:cNvSpPr>
          <p:nvPr/>
        </p:nvSpPr>
        <p:spPr>
          <a:xfrm>
            <a:off x="857250" y="5972175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LFU 重载后频次归 1，并列按 LRU；Clock 新装入与命中均置访问位为 1。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Adaptive：用过去的表现选择策略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6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7066C9A5-FB03-407A-B672-9358F9B96845}"/>
              </a:ext>
            </a:extLst>
          </p:cNvPr>
          <p:cNvGraphicFramePr/>
          <p:nvPr/>
        </p:nvGraphicFramePr>
        <p:xfrm>
          <a:off x="857250" y="1381125"/>
          <a:ext cx="10477500" cy="26193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4844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候选策略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适合利用的特征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84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Random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弱局部性、循环淘汰时保留部分页面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484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LRU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近期访问集中，近期页还会被访问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4844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历史间隔预测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重复访问存在相对稳定的间隔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三个影子模拟器记录页号和缺页数，真实缓存只执行当前选中的策略。">
            <a:extLst>
              <a:ext uri="{FF2B5EF4-FFF2-40B4-BE49-F238E27FC236}">
                <a16:creationId xmlns:a16="http://schemas.microsoft.com/office/drawing/2014/main" id="{DF29BC50-C48F-464D-A70A-E9F75E492F2D}"/>
              </a:ext>
            </a:extLst>
          </p:cNvPr>
          <p:cNvSpPr>
            <a:spLocks noGrp="1"/>
          </p:cNvSpPr>
          <p:nvPr/>
        </p:nvSpPr>
        <p:spPr>
          <a:xfrm>
            <a:off x="857250" y="4429125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三个影子模拟器记录页号和缺页数，真实缓存只执行当前选中的策略。</a:t>
            </a:r>
          </a:p>
        </p:txBody>
      </p:sp>
      <p:sp>
        <p:nvSpPr>
          <p:cNvPr id="16" name="F ≤ 20 从 Random 起步；F &gt; 20 从 LRU 起步，">
            <a:extLst>
              <a:ext uri="{FF2B5EF4-FFF2-40B4-BE49-F238E27FC236}">
                <a16:creationId xmlns:a16="http://schemas.microsoft.com/office/drawing/2014/main" id="{265750EC-C283-426E-ACBD-2F0F4AF4980C}"/>
              </a:ext>
            </a:extLst>
          </p:cNvPr>
          <p:cNvSpPr>
            <a:spLocks noGrp="1"/>
          </p:cNvSpPr>
          <p:nvPr/>
        </p:nvSpPr>
        <p:spPr>
          <a:xfrm>
            <a:off x="857250" y="5619750"/>
            <a:ext cx="10477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F ≤ 20 从 Random 起步；F &gt; 20 从 LRU 起步，随后在线调整。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V3 历史间隔预测：更快适应变化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7</a:t>
            </a:r>
            <a:endParaRPr sz="800"/>
          </a:p>
        </p:txBody>
      </p:sp>
      <p:sp>
        <p:nvSpPr>
          <p:cNvPr id="14" name="每页保留上次访问位置与平滑间隔 g。Δ 是两次访问的间隔。">
            <a:extLst>
              <a:ext uri="{FF2B5EF4-FFF2-40B4-BE49-F238E27FC236}">
                <a16:creationId xmlns:a16="http://schemas.microsoft.com/office/drawing/2014/main" id="{B47061C8-2C9F-4CDB-8057-8B6CE456ADBD}"/>
              </a:ext>
            </a:extLst>
          </p:cNvPr>
          <p:cNvSpPr>
            <a:spLocks noGrp="1"/>
          </p:cNvSpPr>
          <p:nvPr/>
        </p:nvSpPr>
        <p:spPr>
          <a:xfrm>
            <a:off x="857250" y="1238250"/>
            <a:ext cx="10477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每页保留上次访问位置与平滑间隔 g。Δ 是两次访问的间隔。</a:t>
            </a:r>
          </a:p>
        </p:txBody>
      </p:sp>
      <p:sp>
        <p:nvSpPr>
          <p:cNvPr id="15" name="g ← 0.5g + 0.5Δ">
            <a:extLst>
              <a:ext uri="{FF2B5EF4-FFF2-40B4-BE49-F238E27FC236}">
                <a16:creationId xmlns:a16="http://schemas.microsoft.com/office/drawing/2014/main" id="{19149945-DA86-4517-BC6E-D362EA8C7C11}"/>
              </a:ext>
            </a:extLst>
          </p:cNvPr>
          <p:cNvSpPr>
            <a:spLocks noGrp="1"/>
          </p:cNvSpPr>
          <p:nvPr/>
        </p:nvSpPr>
        <p:spPr>
          <a:xfrm>
            <a:off x="1095375" y="2238375"/>
            <a:ext cx="1000125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defPPr>
            <a:lvl1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1pPr>
            <a:lvl2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2pPr>
            <a:lvl3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3pPr>
            <a:lvl4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4pPr>
            <a:lvl5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5pPr>
            <a:lvl6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6pPr>
            <a:lvl7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7pPr>
            <a:lvl8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8pPr>
            <a:lvl9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lvl9pPr>
          </a:lstStyle>
          <a:p>
            <a:pPr>
              <a:defRPr sz="3225" b="0">
                <a:solidFill>
                  <a:srgbClr val="6B4A82"/>
                </a:solidFill>
                <a:latin typeface="Consolas"/>
                <a:ea typeface="Consolas"/>
                <a:cs typeface="Consolas"/>
              </a:defRPr>
            </a:pPr>
            <a:r>
              <a:rPr sz="3225" b="0">
                <a:solidFill>
                  <a:srgbClr val="6B4A82"/>
                </a:solidFill>
                <a:latin typeface="Consolas"/>
                <a:ea typeface="Consolas"/>
                <a:cs typeface="Consolas"/>
              </a:rPr>
              <a:t>g ← 0.5g + 0.5Δ</a:t>
            </a:r>
          </a:p>
        </p:txBody>
      </p:sp>
      <p:sp>
        <p:nvSpPr>
          <p:cNvPr id="16" name="未到预计时刻：评分 = g − 已等待时间。&#10;已经逾期：评分 = 已等">
            <a:extLst>
              <a:ext uri="{FF2B5EF4-FFF2-40B4-BE49-F238E27FC236}">
                <a16:creationId xmlns:a16="http://schemas.microsoft.com/office/drawing/2014/main" id="{513C5B49-BC89-492F-B96F-C51EA477D552}"/>
              </a:ext>
            </a:extLst>
          </p:cNvPr>
          <p:cNvSpPr>
            <a:spLocks noGrp="1"/>
          </p:cNvSpPr>
          <p:nvPr/>
        </p:nvSpPr>
        <p:spPr>
          <a:xfrm>
            <a:off x="857250" y="3381375"/>
            <a:ext cx="1047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未到预计时刻：评分 = g − 已等待时间。</a:t>
            </a:r>
          </a:p>
          <a:p>
            <a: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已经逾期：评分 = 已等待时间。淘汰评分最大者。</a:t>
            </a:r>
          </a:p>
        </p:txBody>
      </p:sp>
      <p:sp>
        <p:nvSpPr>
          <p:cNvPr id="17" name="相较 V2：新样本权重从 0.25 提高到 0.5，移除间隔波动附加项">
            <a:extLst>
              <a:ext uri="{FF2B5EF4-FFF2-40B4-BE49-F238E27FC236}">
                <a16:creationId xmlns:a16="http://schemas.microsoft.com/office/drawing/2014/main" id="{970CDC98-9A60-4999-83E3-F1BC9472C56F}"/>
              </a:ext>
            </a:extLst>
          </p:cNvPr>
          <p:cNvSpPr>
            <a:spLocks noGrp="1"/>
          </p:cNvSpPr>
          <p:nvPr/>
        </p:nvSpPr>
        <p:spPr>
          <a:xfrm>
            <a:off x="857250" y="4857750"/>
            <a:ext cx="10477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相较 V2：新样本权重从 0.25 提高到 0.5，移除间隔波动附加项。</a:t>
            </a:r>
          </a:p>
        </p:txBody>
      </p:sp>
      <p:sp>
        <p:nvSpPr>
          <p:cNvPr id="18" name="例：g = 20，已等待 15，剩余评分为 5；仅出现过一次的页优先淘">
            <a:extLst>
              <a:ext uri="{FF2B5EF4-FFF2-40B4-BE49-F238E27FC236}">
                <a16:creationId xmlns:a16="http://schemas.microsoft.com/office/drawing/2014/main" id="{0FB3115B-8FBD-4A06-A535-10AC395B2C20}"/>
              </a:ext>
            </a:extLst>
          </p:cNvPr>
          <p:cNvSpPr>
            <a:spLocks noGrp="1"/>
          </p:cNvSpPr>
          <p:nvPr/>
        </p:nvSpPr>
        <p:spPr>
          <a:xfrm>
            <a:off x="857250" y="5953125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例：g = 20，已等待 15，剩余评分为 5；仅出现过一次的页优先淘汰。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容量规则与影子策略比较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8</a:t>
            </a:r>
            <a:endParaRPr sz="800"/>
          </a:p>
        </p:txBody>
      </p:sp>
      <p:sp>
        <p:nvSpPr>
          <p:cNvPr id="14" name="V3 在较大容量缩短历史，保留 V2 的窗口与影子对齐机制。">
            <a:extLst>
              <a:ext uri="{FF2B5EF4-FFF2-40B4-BE49-F238E27FC236}">
                <a16:creationId xmlns:a16="http://schemas.microsoft.com/office/drawing/2014/main" id="{CC19D7C1-9918-4A60-994E-B46D3B36A03A}"/>
              </a:ext>
            </a:extLst>
          </p:cNvPr>
          <p:cNvSpPr>
            <a:spLocks noGrp="1"/>
          </p:cNvSpPr>
          <p:nvPr/>
        </p:nvSpPr>
        <p:spPr>
          <a:xfrm>
            <a:off x="857250" y="1238250"/>
            <a:ext cx="10477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V3 在较大容量缩短历史，保留 V2 的窗口与影子对齐机制。</a:t>
            </a: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2E94BF17-D236-400C-B0CC-3B22157E8AE5}"/>
              </a:ext>
            </a:extLst>
          </p:cNvPr>
          <p:cNvGraphicFramePr/>
          <p:nvPr/>
        </p:nvGraphicFramePr>
        <p:xfrm>
          <a:off x="857250" y="2571750"/>
          <a:ext cx="10477500" cy="2000250"/>
        </p:xfrm>
        <a:graphic>
          <a:graphicData uri="http://schemas.openxmlformats.org/drawingml/2006/table">
            <a:tbl>
              <a:tblPr/>
              <a:tblGrid>
                <a:gridCol w="176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容量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历史页号上限 H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比较窗口 W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切换门槛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≤ 20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max(32,16F)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max(32,4F)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超过 max(1,⌊W/50⌋)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&gt; 20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max(32,8F)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× max(32,4F)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超过 max(1,⌊W/20⌋)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F &gt; 20 时，每 W 次从实际缓存复制页号状态到三个影子缓存。">
            <a:extLst>
              <a:ext uri="{FF2B5EF4-FFF2-40B4-BE49-F238E27FC236}">
                <a16:creationId xmlns:a16="http://schemas.microsoft.com/office/drawing/2014/main" id="{EA959E60-5BBC-454A-A612-E79136C55404}"/>
              </a:ext>
            </a:extLst>
          </p:cNvPr>
          <p:cNvSpPr>
            <a:spLocks noGrp="1"/>
          </p:cNvSpPr>
          <p:nvPr/>
        </p:nvSpPr>
        <p:spPr>
          <a:xfrm>
            <a:off x="857250" y="5095875"/>
            <a:ext cx="10477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F &gt; 20 时，每 W 次从实际缓存复制页号状态到三个影子缓存。</a:t>
            </a:r>
          </a:p>
        </p:txBody>
      </p:sp>
      <p:sp>
        <p:nvSpPr>
          <p:cNvPr id="17" name="每 W/4 次比较一次，只使用已完成的访问；真实物理页框始终为 F 个">
            <a:extLst>
              <a:ext uri="{FF2B5EF4-FFF2-40B4-BE49-F238E27FC236}">
                <a16:creationId xmlns:a16="http://schemas.microsoft.com/office/drawing/2014/main" id="{A7EAD697-335D-4BDF-BBC8-1B87A6DC20E7}"/>
              </a:ext>
            </a:extLst>
          </p:cNvPr>
          <p:cNvSpPr>
            <a:spLocks noGrp="1"/>
          </p:cNvSpPr>
          <p:nvPr/>
        </p:nvSpPr>
        <p:spPr>
          <a:xfrm>
            <a:off x="857250" y="59055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每 W/4 次比较一次，只使用已完成的访问；真实物理页框始终为 F 个。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实验设置与总体缺页次数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9</a:t>
            </a:r>
            <a:endParaRPr sz="800"/>
          </a:p>
        </p:txBody>
      </p:sp>
      <p:graphicFrame>
        <p:nvGraphicFramePr>
          <p:cNvPr id="14" name="Chart">
            <a:extLst>
              <a:ext uri="{FF2B5EF4-FFF2-40B4-BE49-F238E27FC236}">
                <a16:creationId xmlns:a16="http://schemas.microsoft.com/office/drawing/2014/main" id="{16EDBFCE-1298-455C-BB8E-B6E5F5B1C100}"/>
              </a:ext>
            </a:extLst>
          </p:cNvPr>
          <p:cNvGraphicFramePr/>
          <p:nvPr/>
        </p:nvGraphicFramePr>
        <p:xfrm>
          <a:off x="857250" y="1381125"/>
          <a:ext cx="10477500" cy="3619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Adaptive V3：17,100.79，比 Random 少 26">
            <a:extLst>
              <a:ext uri="{FF2B5EF4-FFF2-40B4-BE49-F238E27FC236}">
                <a16:creationId xmlns:a16="http://schemas.microsoft.com/office/drawing/2014/main" id="{E8303AA1-A284-4064-A72A-126F726DC354}"/>
              </a:ext>
            </a:extLst>
          </p:cNvPr>
          <p:cNvSpPr>
            <a:spLocks noGrp="1"/>
          </p:cNvSpPr>
          <p:nvPr/>
        </p:nvSpPr>
        <p:spPr>
          <a:xfrm>
            <a:off x="857250" y="5381625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Adaptive V3：17,100.79，比 Random 少 26.70%，比 LRU 少 30.02%。</a:t>
            </a:r>
          </a:p>
        </p:txBody>
      </p:sp>
      <p:sp>
        <p:nvSpPr>
          <p:cNvPr id="16" name="4 条轨迹 × 5 档容量；Random / Adaptive 用种子">
            <a:extLst>
              <a:ext uri="{FF2B5EF4-FFF2-40B4-BE49-F238E27FC236}">
                <a16:creationId xmlns:a16="http://schemas.microsoft.com/office/drawing/2014/main" id="{BD4AD8C2-A782-464F-9FE8-1E209372E754}"/>
              </a:ext>
            </a:extLst>
          </p:cNvPr>
          <p:cNvSpPr>
            <a:spLocks noGrp="1"/>
          </p:cNvSpPr>
          <p:nvPr/>
        </p:nvSpPr>
        <p:spPr>
          <a:xfrm>
            <a:off x="857250" y="60007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4 条轨迹 × 5 档容量；Random / Adaptive 用种子 0～29，其余方法确定性运行。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qsort 与 lu：不同容量下的缺页次数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800"/>
          </a:p>
        </p:txBody>
      </p:sp>
      <p:graphicFrame>
        <p:nvGraphicFramePr>
          <p:cNvPr id="14" name="Chart">
            <a:extLst>
              <a:ext uri="{FF2B5EF4-FFF2-40B4-BE49-F238E27FC236}">
                <a16:creationId xmlns:a16="http://schemas.microsoft.com/office/drawing/2014/main" id="{8987F474-B2CF-4FAC-96E2-54170878A1CE}"/>
              </a:ext>
            </a:extLst>
          </p:cNvPr>
          <p:cNvGraphicFramePr/>
          <p:nvPr/>
        </p:nvGraphicFramePr>
        <p:xfrm>
          <a:off x="523875" y="1428750"/>
          <a:ext cx="5619750" cy="4095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">
            <a:extLst>
              <a:ext uri="{FF2B5EF4-FFF2-40B4-BE49-F238E27FC236}">
                <a16:creationId xmlns:a16="http://schemas.microsoft.com/office/drawing/2014/main" id="{02555B2D-D3B6-472E-BC42-C123AB3841A4}"/>
              </a:ext>
            </a:extLst>
          </p:cNvPr>
          <p:cNvGraphicFramePr/>
          <p:nvPr/>
        </p:nvGraphicFramePr>
        <p:xfrm>
          <a:off x="6429375" y="1428750"/>
          <a:ext cx="5619750" cy="4095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横轴：页框数   纵轴：缺页次数。随机算法显示 30 次均值，完整整数">
            <a:extLst>
              <a:ext uri="{FF2B5EF4-FFF2-40B4-BE49-F238E27FC236}">
                <a16:creationId xmlns:a16="http://schemas.microsoft.com/office/drawing/2014/main" id="{EDE750CB-8C9D-416B-A2D5-9F3B6E245424}"/>
              </a:ext>
            </a:extLst>
          </p:cNvPr>
          <p:cNvSpPr>
            <a:spLocks noGrp="1"/>
          </p:cNvSpPr>
          <p:nvPr/>
        </p:nvSpPr>
        <p:spPr>
          <a:xfrm>
            <a:off x="857250" y="59531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横轴：页框数   纵轴：缺页次数。随机算法显示 30 次均值，完整整数与波动见原始表。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mm16 与 mm32：不同容量下的缺页次数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800"/>
          </a:p>
        </p:txBody>
      </p:sp>
      <p:graphicFrame>
        <p:nvGraphicFramePr>
          <p:cNvPr id="14" name="Chart">
            <a:extLst>
              <a:ext uri="{FF2B5EF4-FFF2-40B4-BE49-F238E27FC236}">
                <a16:creationId xmlns:a16="http://schemas.microsoft.com/office/drawing/2014/main" id="{52DD6DC1-DD06-4D09-99F4-077B2E080B3B}"/>
              </a:ext>
            </a:extLst>
          </p:cNvPr>
          <p:cNvGraphicFramePr/>
          <p:nvPr/>
        </p:nvGraphicFramePr>
        <p:xfrm>
          <a:off x="523875" y="1428750"/>
          <a:ext cx="5619750" cy="4095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">
            <a:extLst>
              <a:ext uri="{FF2B5EF4-FFF2-40B4-BE49-F238E27FC236}">
                <a16:creationId xmlns:a16="http://schemas.microsoft.com/office/drawing/2014/main" id="{266AE2C1-5DA6-46EC-BFAA-BD8FC47EE27A}"/>
              </a:ext>
            </a:extLst>
          </p:cNvPr>
          <p:cNvGraphicFramePr/>
          <p:nvPr/>
        </p:nvGraphicFramePr>
        <p:xfrm>
          <a:off x="6429375" y="1428750"/>
          <a:ext cx="5619750" cy="4095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横轴：页框数   纵轴：缺页次数。随机算法显示 30 次均值，完整整数">
            <a:extLst>
              <a:ext uri="{FF2B5EF4-FFF2-40B4-BE49-F238E27FC236}">
                <a16:creationId xmlns:a16="http://schemas.microsoft.com/office/drawing/2014/main" id="{B6E5B478-43B6-46DC-8C25-C11237B324F0}"/>
              </a:ext>
            </a:extLst>
          </p:cNvPr>
          <p:cNvSpPr>
            <a:spLocks noGrp="1"/>
          </p:cNvSpPr>
          <p:nvPr/>
        </p:nvSpPr>
        <p:spPr>
          <a:xfrm>
            <a:off x="857250" y="59531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横轴：页框数   纵轴：缺页次数。随机算法显示 30 次均值，完整整数与波动见原始表。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按课件示例归一化：LRU = 1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800"/>
          </a:p>
        </p:txBody>
      </p:sp>
      <p:graphicFrame>
        <p:nvGraphicFramePr>
          <p:cNvPr id="14" name="Chart">
            <a:extLst>
              <a:ext uri="{FF2B5EF4-FFF2-40B4-BE49-F238E27FC236}">
                <a16:creationId xmlns:a16="http://schemas.microsoft.com/office/drawing/2014/main" id="{002714CF-5176-4A4B-8439-C2664A6DB12E}"/>
              </a:ext>
            </a:extLst>
          </p:cNvPr>
          <p:cNvGraphicFramePr/>
          <p:nvPr/>
        </p:nvGraphicFramePr>
        <p:xfrm>
          <a:off x="619125" y="1143000"/>
          <a:ext cx="5476875" cy="240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">
            <a:extLst>
              <a:ext uri="{FF2B5EF4-FFF2-40B4-BE49-F238E27FC236}">
                <a16:creationId xmlns:a16="http://schemas.microsoft.com/office/drawing/2014/main" id="{6B5023B3-BEAD-41D6-9EDE-8BD595AD3D70}"/>
              </a:ext>
            </a:extLst>
          </p:cNvPr>
          <p:cNvGraphicFramePr/>
          <p:nvPr/>
        </p:nvGraphicFramePr>
        <p:xfrm>
          <a:off x="6429375" y="1143000"/>
          <a:ext cx="5476875" cy="240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hart">
            <a:extLst>
              <a:ext uri="{FF2B5EF4-FFF2-40B4-BE49-F238E27FC236}">
                <a16:creationId xmlns:a16="http://schemas.microsoft.com/office/drawing/2014/main" id="{3C0A9377-AA87-4F0A-8D29-396148EB34D4}"/>
              </a:ext>
            </a:extLst>
          </p:cNvPr>
          <p:cNvGraphicFramePr/>
          <p:nvPr/>
        </p:nvGraphicFramePr>
        <p:xfrm>
          <a:off x="619125" y="3648075"/>
          <a:ext cx="5476875" cy="240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7" name="Chart">
            <a:extLst>
              <a:ext uri="{FF2B5EF4-FFF2-40B4-BE49-F238E27FC236}">
                <a16:creationId xmlns:a16="http://schemas.microsoft.com/office/drawing/2014/main" id="{52446ED8-02D7-4266-A569-DD79783E11BB}"/>
              </a:ext>
            </a:extLst>
          </p:cNvPr>
          <p:cNvGraphicFramePr/>
          <p:nvPr/>
        </p:nvGraphicFramePr>
        <p:xfrm>
          <a:off x="6429375" y="3648075"/>
          <a:ext cx="5476875" cy="240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8" name="低于 1 表示缺页更少。此次 20 个配置均不差于 LRU；未知轨迹仍">
            <a:extLst>
              <a:ext uri="{FF2B5EF4-FFF2-40B4-BE49-F238E27FC236}">
                <a16:creationId xmlns:a16="http://schemas.microsoft.com/office/drawing/2014/main" id="{E17F6F78-6F48-4D02-9CCE-FBD0444EF0F2}"/>
              </a:ext>
            </a:extLst>
          </p:cNvPr>
          <p:cNvSpPr>
            <a:spLocks noGrp="1"/>
          </p:cNvSpPr>
          <p:nvPr/>
        </p:nvSpPr>
        <p:spPr>
          <a:xfrm>
            <a:off x="857250" y="626745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低于 1 表示缺页更少。此次 20 个配置均不差于 LRU；未知轨迹仍需验证。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V3 对比 V2：9 个改善，6 个不变，5 个退化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13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6AA79845-6CE1-4161-A723-79DE3816B12C}"/>
              </a:ext>
            </a:extLst>
          </p:cNvPr>
          <p:cNvGraphicFramePr/>
          <p:nvPr/>
        </p:nvGraphicFramePr>
        <p:xfrm>
          <a:off x="857250" y="1238250"/>
          <a:ext cx="10477500" cy="4143375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7922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轨迹 / 页框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变化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922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 / 50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25,377.00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23,324.00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-2,053.00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922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 / 100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18,584.00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17,452.00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-1,132.00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922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mm32 / 20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39,837.93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39,025.93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-812.00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922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mm32 / 50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21,633.00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21,179.00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-454.00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922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mm16 / 100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2,964.00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2,714.17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-249.83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7922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 / 5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34,365.77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34,422.93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+57.17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7922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qsort / 20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332.80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337.23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+4.43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总体平均再降 1.46%。这里列出主要变化，全部 20 项见实验报告。">
            <a:extLst>
              <a:ext uri="{FF2B5EF4-FFF2-40B4-BE49-F238E27FC236}">
                <a16:creationId xmlns:a16="http://schemas.microsoft.com/office/drawing/2014/main" id="{E95D619A-878D-401A-A1BF-70450E2D89FC}"/>
              </a:ext>
            </a:extLst>
          </p:cNvPr>
          <p:cNvSpPr>
            <a:spLocks noGrp="1"/>
          </p:cNvSpPr>
          <p:nvPr/>
        </p:nvSpPr>
        <p:spPr>
          <a:xfrm>
            <a:off x="857250" y="5791200"/>
            <a:ext cx="10477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总体平均再降 1.46%。这里列出主要变化，全部 20 项见实验报告。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新增压力测试：扰动循环出现退化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14</a:t>
            </a:r>
            <a:endParaRPr sz="800"/>
          </a:p>
        </p:txBody>
      </p:sp>
      <p:sp>
        <p:nvSpPr>
          <p:cNvPr id="14" name="纵轴：五档容量平均缺页次数，V2 / V3 均使用 30 个种子。">
            <a:extLst>
              <a:ext uri="{FF2B5EF4-FFF2-40B4-BE49-F238E27FC236}">
                <a16:creationId xmlns:a16="http://schemas.microsoft.com/office/drawing/2014/main" id="{FF11050A-9D1E-4C78-8041-CDC7534454AE}"/>
              </a:ext>
            </a:extLst>
          </p:cNvPr>
          <p:cNvSpPr>
            <a:spLocks noGrp="1"/>
          </p:cNvSpPr>
          <p:nvPr/>
        </p:nvSpPr>
        <p:spPr>
          <a:xfrm>
            <a:off x="857250" y="10668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纵轴：五档容量平均缺页次数，V2 / V3 均使用 30 个种子。</a:t>
            </a:r>
          </a:p>
        </p:txBody>
      </p:sp>
      <p:graphicFrame>
        <p:nvGraphicFramePr>
          <p:cNvPr id="15" name="Chart">
            <a:extLst>
              <a:ext uri="{FF2B5EF4-FFF2-40B4-BE49-F238E27FC236}">
                <a16:creationId xmlns:a16="http://schemas.microsoft.com/office/drawing/2014/main" id="{0501161A-05A1-4BC5-B1DC-C1ABA1A8ACEE}"/>
              </a:ext>
            </a:extLst>
          </p:cNvPr>
          <p:cNvGraphicFramePr/>
          <p:nvPr/>
        </p:nvGraphicFramePr>
        <p:xfrm>
          <a:off x="857250" y="1381125"/>
          <a:ext cx="104775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扰动循环平均多 0.94% 缺页。快速更新也会更容易受短期波动影响。">
            <a:extLst>
              <a:ext uri="{FF2B5EF4-FFF2-40B4-BE49-F238E27FC236}">
                <a16:creationId xmlns:a16="http://schemas.microsoft.com/office/drawing/2014/main" id="{251A6263-30C9-410A-A5DF-A6B7C91C9BEF}"/>
              </a:ext>
            </a:extLst>
          </p:cNvPr>
          <p:cNvSpPr>
            <a:spLocks noGrp="1"/>
          </p:cNvSpPr>
          <p:nvPr/>
        </p:nvSpPr>
        <p:spPr>
          <a:xfrm>
            <a:off x="857250" y="5476875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扰动循环平均多 0.94% 缺页。快速更新也会更容易受短期波动影响。</a:t>
            </a:r>
          </a:p>
        </p:txBody>
      </p:sp>
      <p:sp>
        <p:nvSpPr>
          <p:cNvPr id="17" name="算法固定后首次评测，未据此调参；构造轨迹不代表老师的隐藏测试。">
            <a:extLst>
              <a:ext uri="{FF2B5EF4-FFF2-40B4-BE49-F238E27FC236}">
                <a16:creationId xmlns:a16="http://schemas.microsoft.com/office/drawing/2014/main" id="{BA936B06-38B6-466F-904D-2E49A3A99750}"/>
              </a:ext>
            </a:extLst>
          </p:cNvPr>
          <p:cNvSpPr>
            <a:spLocks noGrp="1"/>
          </p:cNvSpPr>
          <p:nvPr/>
        </p:nvSpPr>
        <p:spPr>
          <a:xfrm>
            <a:off x="857250" y="61912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算法固定后首次评测，未据此调参；构造轨迹不代表老师的隐藏测试。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结论与代价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15</a:t>
            </a:r>
            <a:endParaRPr sz="800"/>
          </a:p>
        </p:txBody>
      </p:sp>
      <p:sp>
        <p:nvSpPr>
          <p:cNvPr id="14" name="利用访问特征">
            <a:extLst>
              <a:ext uri="{FF2B5EF4-FFF2-40B4-BE49-F238E27FC236}">
                <a16:creationId xmlns:a16="http://schemas.microsoft.com/office/drawing/2014/main" id="{5E723D63-70F6-4524-A166-E97EA829AE50}"/>
              </a:ext>
            </a:extLst>
          </p:cNvPr>
          <p:cNvSpPr>
            <a:spLocks noGrp="1"/>
          </p:cNvSpPr>
          <p:nvPr/>
        </p:nvSpPr>
        <p:spPr>
          <a:xfrm>
            <a:off x="857250" y="1333500"/>
            <a:ext cx="4762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利用访问特征</a:t>
            </a:r>
          </a:p>
        </p:txBody>
      </p:sp>
      <p:sp>
        <p:nvSpPr>
          <p:cNvPr id="15" name="小容量避免循环淘汰。&#10;有稳定间隔时尝试预测。&#10;局部性强时保留 LRU。">
            <a:extLst>
              <a:ext uri="{FF2B5EF4-FFF2-40B4-BE49-F238E27FC236}">
                <a16:creationId xmlns:a16="http://schemas.microsoft.com/office/drawing/2014/main" id="{E52AA9F7-9C26-4548-ACE4-CA5590E3DC1C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4810125" cy="1714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小容量避免循环淘汰。</a:t>
            </a:r>
          </a:p>
          <a:p>
            <a: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有稳定间隔时尝试预测。</a:t>
            </a:r>
          </a:p>
          <a:p>
            <a:pPr>
              <a:def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局部性强时保留 LRU。</a:t>
            </a:r>
          </a:p>
        </p:txBody>
      </p:sp>
      <p:sp>
        <p:nvSpPr>
          <p:cNvPr id="16" name="明确的代价">
            <a:extLst>
              <a:ext uri="{FF2B5EF4-FFF2-40B4-BE49-F238E27FC236}">
                <a16:creationId xmlns:a16="http://schemas.microsoft.com/office/drawing/2014/main" id="{F20619F4-A002-4C94-8E1B-9527FF61B8B9}"/>
              </a:ext>
            </a:extLst>
          </p:cNvPr>
          <p:cNvSpPr>
            <a:spLocks noGrp="1"/>
          </p:cNvSpPr>
          <p:nvPr/>
        </p:nvSpPr>
        <p:spPr>
          <a:xfrm>
            <a:off x="6477000" y="1333500"/>
            <a:ext cx="4762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明确的代价</a:t>
            </a:r>
          </a:p>
        </p:txBody>
      </p:sp>
      <p:sp>
        <p:nvSpPr>
          <p:cNvPr id="17" name="额外元数据 O(F)，模拟时间 O(NF)。&#10;mm32 / 100：A">
            <a:extLst>
              <a:ext uri="{FF2B5EF4-FFF2-40B4-BE49-F238E27FC236}">
                <a16:creationId xmlns:a16="http://schemas.microsoft.com/office/drawing/2014/main" id="{202DE2C5-FA5D-4879-AD08-5A46687BBE2F}"/>
              </a:ext>
            </a:extLst>
          </p:cNvPr>
          <p:cNvSpPr>
            <a:spLocks noGrp="1"/>
          </p:cNvSpPr>
          <p:nvPr/>
        </p:nvSpPr>
        <p:spPr>
          <a:xfrm>
            <a:off x="6477000" y="2095500"/>
            <a:ext cx="4953000" cy="1714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额外元数据 O(F)，模拟时间 O(NF)。</a:t>
            </a:r>
          </a:p>
          <a:p>
            <a: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mm32 / 100：Adaptive 54.42 ms，</a:t>
            </a:r>
          </a:p>
          <a:p>
            <a:pPr>
              <a:def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LRU 20.79 ms。</a:t>
            </a:r>
          </a:p>
        </p:txBody>
      </p:sp>
      <p:sp>
        <p:nvSpPr>
          <p:cNvPr id="18" name="本次 16 个配置优于最强在线基线，3 个持平，1 个落后于 Rand">
            <a:extLst>
              <a:ext uri="{FF2B5EF4-FFF2-40B4-BE49-F238E27FC236}">
                <a16:creationId xmlns:a16="http://schemas.microsoft.com/office/drawing/2014/main" id="{FBC564BB-F644-4990-9EE9-B8901DB017B5}"/>
              </a:ext>
            </a:extLst>
          </p:cNvPr>
          <p:cNvSpPr>
            <a:spLocks noGrp="1"/>
          </p:cNvSpPr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本次 16 个配置优于最强在线基线，3 个持平，1 个落后于 Random。</a:t>
            </a:r>
          </a:p>
        </p:txBody>
      </p:sp>
      <p:sp>
        <p:nvSpPr>
          <p:cNvPr id="19" name="新轨迹按同一规则顺序运行，保留 OPT 下界和全部基线，继续报告成功与">
            <a:extLst>
              <a:ext uri="{FF2B5EF4-FFF2-40B4-BE49-F238E27FC236}">
                <a16:creationId xmlns:a16="http://schemas.microsoft.com/office/drawing/2014/main" id="{F83E7A3F-3E88-4EA1-9AC9-42F8F8929C2D}"/>
              </a:ext>
            </a:extLst>
          </p:cNvPr>
          <p:cNvSpPr>
            <a:spLocks noGrp="1"/>
          </p:cNvSpPr>
          <p:nvPr/>
        </p:nvSpPr>
        <p:spPr>
          <a:xfrm>
            <a:off x="857250" y="5619750"/>
            <a:ext cx="10477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新轨迹按同一规则顺序运行，保留 OPT 下界和全部基线，继续报告成功与失败。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附录：qsort 各容量的详细缺页次数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16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8F50EBC-7741-45B1-9856-3CEE1A4C9D9A}"/>
              </a:ext>
            </a:extLst>
          </p:cNvPr>
          <p:cNvGraphicFramePr/>
          <p:nvPr/>
        </p:nvGraphicFramePr>
        <p:xfrm>
          <a:off x="523875" y="1619250"/>
          <a:ext cx="11144250" cy="3381375"/>
        </p:xfrm>
        <a:graphic>
          <a:graphicData uri="http://schemas.openxmlformats.org/drawingml/2006/table">
            <a:tbl>
              <a:tblPr/>
              <a:tblGrid>
                <a:gridCol w="90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页框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Random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FIFO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LFU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LRU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Clock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523.10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490.17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502.50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438.37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389.83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337.23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217.67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196.30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Random / V3：种子 0～29 的平均值；其余为精确整数。">
            <a:extLst>
              <a:ext uri="{FF2B5EF4-FFF2-40B4-BE49-F238E27FC236}">
                <a16:creationId xmlns:a16="http://schemas.microsoft.com/office/drawing/2014/main" id="{211371B6-21C0-41A4-A888-B97EF87388A5}"/>
              </a:ext>
            </a:extLst>
          </p:cNvPr>
          <p:cNvSpPr>
            <a:spLocks noGrp="1"/>
          </p:cNvSpPr>
          <p:nvPr/>
        </p:nvSpPr>
        <p:spPr>
          <a:xfrm>
            <a:off x="857250" y="55245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Random / V3：种子 0～29 的平均值；其余为精确整数。</a:t>
            </a:r>
          </a:p>
        </p:txBody>
      </p:sp>
      <p:sp>
        <p:nvSpPr>
          <p:cNvPr id="16" name="原始逐次整数、标准差、最小值、最大值以及 seed=0 整数表均已保存">
            <a:extLst>
              <a:ext uri="{FF2B5EF4-FFF2-40B4-BE49-F238E27FC236}">
                <a16:creationId xmlns:a16="http://schemas.microsoft.com/office/drawing/2014/main" id="{F1EE66E7-3D6E-45EE-8157-3DCC8342516A}"/>
              </a:ext>
            </a:extLst>
          </p:cNvPr>
          <p:cNvSpPr>
            <a:spLocks noGrp="1"/>
          </p:cNvSpPr>
          <p:nvPr/>
        </p:nvSpPr>
        <p:spPr>
          <a:xfrm>
            <a:off x="857250" y="604837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原始逐次整数、标准差、最小值、最大值以及 seed=0 整数表均已保存。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附录：lu 各容量的详细缺页次数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17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E1A120CA-B9EA-4022-A467-87320E06A820}"/>
              </a:ext>
            </a:extLst>
          </p:cNvPr>
          <p:cNvGraphicFramePr/>
          <p:nvPr/>
        </p:nvGraphicFramePr>
        <p:xfrm>
          <a:off x="523875" y="1619250"/>
          <a:ext cx="11144250" cy="3381375"/>
        </p:xfrm>
        <a:graphic>
          <a:graphicData uri="http://schemas.openxmlformats.org/drawingml/2006/table">
            <a:tbl>
              <a:tblPr/>
              <a:tblGrid>
                <a:gridCol w="90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页框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Random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FIFO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LFU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LRU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Clock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41,708.40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34,076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34,422.93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40,317.50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28,722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29,702.90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36,796.50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26,922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41,832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28,222.87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30,923.23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32,073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21,880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34,653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28,475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28,736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23,324.00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23,802.27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27,864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14,869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32,969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26,497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26,483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17,452.00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Random / V3：种子 0～29 的平均值；其余为精确整数。">
            <a:extLst>
              <a:ext uri="{FF2B5EF4-FFF2-40B4-BE49-F238E27FC236}">
                <a16:creationId xmlns:a16="http://schemas.microsoft.com/office/drawing/2014/main" id="{16F03842-A6F6-4B47-BFCA-C1F7F7A46D9B}"/>
              </a:ext>
            </a:extLst>
          </p:cNvPr>
          <p:cNvSpPr>
            <a:spLocks noGrp="1"/>
          </p:cNvSpPr>
          <p:nvPr/>
        </p:nvSpPr>
        <p:spPr>
          <a:xfrm>
            <a:off x="857250" y="55245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Random / V3：种子 0～29 的平均值；其余为精确整数。</a:t>
            </a:r>
          </a:p>
        </p:txBody>
      </p:sp>
      <p:sp>
        <p:nvSpPr>
          <p:cNvPr id="16" name="原始逐次整数、标准差、最小值、最大值以及 seed=0 整数表均已保存">
            <a:extLst>
              <a:ext uri="{FF2B5EF4-FFF2-40B4-BE49-F238E27FC236}">
                <a16:creationId xmlns:a16="http://schemas.microsoft.com/office/drawing/2014/main" id="{6BC984AF-AE19-4553-882C-24F06EFE3645}"/>
              </a:ext>
            </a:extLst>
          </p:cNvPr>
          <p:cNvSpPr>
            <a:spLocks noGrp="1"/>
          </p:cNvSpPr>
          <p:nvPr/>
        </p:nvSpPr>
        <p:spPr>
          <a:xfrm>
            <a:off x="857250" y="604837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原始逐次整数、标准差、最小值、最大值以及 seed=0 整数表均已保存。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附录：mm16 各容量的详细缺页次数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18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CB0842E-D7EB-4FBB-BAC6-6F2BA7B85F1A}"/>
              </a:ext>
            </a:extLst>
          </p:cNvPr>
          <p:cNvGraphicFramePr/>
          <p:nvPr/>
        </p:nvGraphicFramePr>
        <p:xfrm>
          <a:off x="523875" y="1619250"/>
          <a:ext cx="11144250" cy="3381375"/>
        </p:xfrm>
        <a:graphic>
          <a:graphicData uri="http://schemas.openxmlformats.org/drawingml/2006/table">
            <a:tbl>
              <a:tblPr/>
              <a:tblGrid>
                <a:gridCol w="90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页框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Random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FIFO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LFU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LRU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Clock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9,046.63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7,407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7,552.77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8,625.40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5,990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6,234.77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6,922.07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3,426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9,075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3,679.40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4,292.07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4,180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2,461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6,642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2,964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3,023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2,964.00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2,963.97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3,487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1,657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6,077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2,964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2,964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2,714.17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Random / V3：种子 0～29 的平均值；其余为精确整数。">
            <a:extLst>
              <a:ext uri="{FF2B5EF4-FFF2-40B4-BE49-F238E27FC236}">
                <a16:creationId xmlns:a16="http://schemas.microsoft.com/office/drawing/2014/main" id="{189C31F3-C019-4539-93A9-E03C82354C15}"/>
              </a:ext>
            </a:extLst>
          </p:cNvPr>
          <p:cNvSpPr>
            <a:spLocks noGrp="1"/>
          </p:cNvSpPr>
          <p:nvPr/>
        </p:nvSpPr>
        <p:spPr>
          <a:xfrm>
            <a:off x="857250" y="55245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Random / V3：种子 0～29 的平均值；其余为精确整数。</a:t>
            </a:r>
          </a:p>
        </p:txBody>
      </p:sp>
      <p:sp>
        <p:nvSpPr>
          <p:cNvPr id="16" name="原始逐次整数、标准差、最小值、最大值以及 seed=0 整数表均已保存">
            <a:extLst>
              <a:ext uri="{FF2B5EF4-FFF2-40B4-BE49-F238E27FC236}">
                <a16:creationId xmlns:a16="http://schemas.microsoft.com/office/drawing/2014/main" id="{DAFBB75C-2D23-422A-8F0C-DD7A357B500A}"/>
              </a:ext>
            </a:extLst>
          </p:cNvPr>
          <p:cNvSpPr>
            <a:spLocks noGrp="1"/>
          </p:cNvSpPr>
          <p:nvPr/>
        </p:nvSpPr>
        <p:spPr>
          <a:xfrm>
            <a:off x="857250" y="604837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原始逐次整数、标准差、最小值、最大值以及 seed=0 整数表均已保存。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附录：mm32 各容量的详细缺页次数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19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81F4AA82-9410-443A-8D32-2D4EDE6D9FC6}"/>
              </a:ext>
            </a:extLst>
          </p:cNvPr>
          <p:cNvGraphicFramePr/>
          <p:nvPr/>
        </p:nvGraphicFramePr>
        <p:xfrm>
          <a:off x="523875" y="1619250"/>
          <a:ext cx="11144250" cy="3381375"/>
        </p:xfrm>
        <a:graphic>
          <a:graphicData uri="http://schemas.openxmlformats.org/drawingml/2006/table">
            <a:tbl>
              <a:tblPr/>
              <a:tblGrid>
                <a:gridCol w="90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6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页框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Random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FIFO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LFU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LRU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Clock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67,071.20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54,807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55,009.90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65,301.03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48,109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49,263.47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59,191.53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37,682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67,235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39,025.93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39,745.63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55,136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19,164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53,805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51,860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51,865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21,179.00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28,090.60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28,421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17,514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51,699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19,604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19,947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19,604.00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Random / V3：种子 0～29 的平均值；其余为精确整数。">
            <a:extLst>
              <a:ext uri="{FF2B5EF4-FFF2-40B4-BE49-F238E27FC236}">
                <a16:creationId xmlns:a16="http://schemas.microsoft.com/office/drawing/2014/main" id="{B1800D0C-3E58-4CEE-91CD-0CF83C2B5F0D}"/>
              </a:ext>
            </a:extLst>
          </p:cNvPr>
          <p:cNvSpPr>
            <a:spLocks noGrp="1"/>
          </p:cNvSpPr>
          <p:nvPr/>
        </p:nvSpPr>
        <p:spPr>
          <a:xfrm>
            <a:off x="857250" y="55245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Random / V3：种子 0～29 的平均值；其余为精确整数。</a:t>
            </a:r>
          </a:p>
        </p:txBody>
      </p:sp>
      <p:sp>
        <p:nvSpPr>
          <p:cNvPr id="16" name="原始逐次整数、标准差、最小值、最大值以及 seed=0 整数表均已保存">
            <a:extLst>
              <a:ext uri="{FF2B5EF4-FFF2-40B4-BE49-F238E27FC236}">
                <a16:creationId xmlns:a16="http://schemas.microsoft.com/office/drawing/2014/main" id="{95D539CE-628D-4A46-A3C1-CDBE1574B186}"/>
              </a:ext>
            </a:extLst>
          </p:cNvPr>
          <p:cNvSpPr>
            <a:spLocks noGrp="1"/>
          </p:cNvSpPr>
          <p:nvPr/>
        </p:nvSpPr>
        <p:spPr>
          <a:xfrm>
            <a:off x="857250" y="604837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原始逐次整数、标准差、最小值、最大值以及 seed=0 整数表均已保存。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附录：窗口和历史长度的参数敏感性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20</a:t>
            </a:r>
            <a:endParaRPr sz="800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C991E78D-C9BE-4007-8935-3F478DF6E06A}"/>
              </a:ext>
            </a:extLst>
          </p:cNvPr>
          <p:cNvGraphicFramePr/>
          <p:nvPr/>
        </p:nvGraphicFramePr>
        <p:xfrm>
          <a:off x="619125" y="1619250"/>
          <a:ext cx="10953750" cy="333375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62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55625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窗口因子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历史因子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qsort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lu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mm16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mm32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6B4A8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总体平均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>
                      <a:solidFill>
                        <a:srgbClr val="E8E3EF"/>
                      </a:solidFill>
                      <a:prstDash val="soli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E3D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5625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331.99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27,215.35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4,656.49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36,811.01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17,253.71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5625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332.75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26,624.94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4,629.02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36,816.46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17,100.79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5625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334.27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26,650.15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4,624.05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36,822.52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17,107.75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5625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332.75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27,036.49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4,666.00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36,816.86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17,213.03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625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114300" marR="95250" marT="114300" marB="95250" anchor="ctr">
                    <a:lnL w="6668">
                      <a:solidFill>
                        <a:srgbClr val="E8E3EF"/>
                      </a:solidFill>
                      <a:prstDash val="soli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332.75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27,083.63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4,708.77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36,825.46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92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17,237.65</a:t>
                      </a:r>
                    </a:p>
                  </a:txBody>
                  <a:tcPr marL="114300" marR="95250" marT="114300" marB="95250" anchor="ctr">
                    <a:lnL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E8E3EF"/>
                      </a:solidFill>
                      <a:prstDash val="solid"/>
                    </a:lnR>
                    <a:lnT w="6668" cap="flat" cmpd="sng" algn="ctr">
                      <a:solidFill>
                        <a:srgbClr val="E8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E8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默认因子 4 / 16；F &gt; 20 时窗口乘 2，历史因子减半。">
            <a:extLst>
              <a:ext uri="{FF2B5EF4-FFF2-40B4-BE49-F238E27FC236}">
                <a16:creationId xmlns:a16="http://schemas.microsoft.com/office/drawing/2014/main" id="{14047F21-406E-4D03-9D9D-740C24F667F7}"/>
              </a:ext>
            </a:extLst>
          </p:cNvPr>
          <p:cNvSpPr>
            <a:spLocks noGrp="1"/>
          </p:cNvSpPr>
          <p:nvPr/>
        </p:nvSpPr>
        <p:spPr>
          <a:xfrm>
            <a:off x="857250" y="552450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默认因子 4 / 16；F &gt; 20 时窗口乘 2，历史因子减半。</a:t>
            </a:r>
          </a:p>
        </p:txBody>
      </p:sp>
      <p:sp>
        <p:nvSpPr>
          <p:cNvPr id="16" name="已知课程轨迹参与选择参数；本表是敏感性分析，不能证明对新轨迹最优。">
            <a:extLst>
              <a:ext uri="{FF2B5EF4-FFF2-40B4-BE49-F238E27FC236}">
                <a16:creationId xmlns:a16="http://schemas.microsoft.com/office/drawing/2014/main" id="{091A239F-1CDD-467D-97A6-ED68CB0E6C70}"/>
              </a:ext>
            </a:extLst>
          </p:cNvPr>
          <p:cNvSpPr>
            <a:spLocks noGrp="1"/>
          </p:cNvSpPr>
          <p:nvPr/>
        </p:nvSpPr>
        <p:spPr>
          <a:xfrm>
            <a:off x="857250" y="60007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9717A"/>
                </a:solidFill>
                <a:latin typeface="Microsoft YaHei"/>
                <a:ea typeface="Microsoft YaHei"/>
                <a:cs typeface="Microsoft YaHei"/>
              </a:rPr>
              <a:t>已知课程轨迹参与选择参数；本表是敏感性分析，不能证明对新轨迹最优。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0751091-6EF8-4B90-B7DB-72A9F33C06AB}"/>
              </a:ext>
            </a:extLst>
          </p:cNvPr>
          <p:cNvSpPr>
            <a:spLocks noGrp="1"/>
          </p:cNvSpPr>
          <p:nvPr/>
        </p:nvSpPr>
        <p:spPr>
          <a:xfrm>
            <a:off x="0" y="247650"/>
            <a:ext cx="228600" cy="504825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07739D-16F6-4963-8FBA-7F6947F51433}"/>
              </a:ext>
            </a:extLst>
          </p:cNvPr>
          <p:cNvSpPr>
            <a:spLocks noGrp="1"/>
          </p:cNvSpPr>
          <p:nvPr/>
        </p:nvSpPr>
        <p:spPr>
          <a:xfrm>
            <a:off x="361950" y="238125"/>
            <a:ext cx="113347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def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附录：复现与提交</a:t>
            </a:r>
            <a:endParaRPr sz="2775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62D31E-4047-438A-8334-A1B6B3FE4389}"/>
              </a:ext>
            </a:extLst>
          </p:cNvPr>
          <p:cNvSpPr>
            <a:spLocks noGrp="1"/>
          </p:cNvSpPr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E3D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991B45-9D74-4816-8985-007508C42577}"/>
              </a:ext>
            </a:extLst>
          </p:cNvPr>
          <p:cNvSpPr>
            <a:spLocks noGrp="1"/>
          </p:cNvSpPr>
          <p:nvPr/>
        </p:nvSpPr>
        <p:spPr>
          <a:xfrm>
            <a:off x="333375" y="66294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操作系统课程实验  自适应页面替换</a:t>
            </a:r>
            <a:endParaRPr sz="80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25E9F-6D4E-4A37-95B2-FA1FDA921195}"/>
              </a:ext>
            </a:extLst>
          </p:cNvPr>
          <p:cNvSpPr>
            <a:spLocks noGrp="1"/>
          </p:cNvSpPr>
          <p:nvPr/>
        </p:nvSpPr>
        <p:spPr>
          <a:xfrm>
            <a:off x="11534775" y="6629400"/>
            <a:ext cx="3429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78" lnSpcReduction="10000"/>
          </a:bodyPr>
          <a:lstStyle>
            <a:def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buNone/>
              <a:defRPr sz="80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00" b="0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21</a:t>
            </a:r>
            <a:endParaRPr sz="800"/>
          </a:p>
        </p:txBody>
      </p:sp>
      <p:sp>
        <p:nvSpPr>
          <p:cNvPr id="14" name="公开仓库">
            <a:extLst>
              <a:ext uri="{FF2B5EF4-FFF2-40B4-BE49-F238E27FC236}">
                <a16:creationId xmlns:a16="http://schemas.microsoft.com/office/drawing/2014/main" id="{EFB353C0-4A0F-42A5-A1F4-694EB58CB9EB}"/>
              </a:ext>
            </a:extLst>
          </p:cNvPr>
          <p:cNvSpPr>
            <a:spLocks noGrp="1"/>
          </p:cNvSpPr>
          <p:nvPr/>
        </p:nvSpPr>
        <p:spPr>
          <a:xfrm>
            <a:off x="857250" y="13335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公开仓库</a:t>
            </a:r>
          </a:p>
        </p:txBody>
      </p:sp>
      <p:sp>
        <p:nvSpPr>
          <p:cNvPr id="15" name="github.com/CHiSwsz/os-page-replacem">
            <a:extLst>
              <a:ext uri="{FF2B5EF4-FFF2-40B4-BE49-F238E27FC236}">
                <a16:creationId xmlns:a16="http://schemas.microsoft.com/office/drawing/2014/main" id="{3B5B3F86-7017-4CCE-B36D-8FF1AD674D1B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10477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38A91"/>
                </a:solidFill>
                <a:latin typeface="Microsoft YaHei"/>
                <a:ea typeface="Microsoft YaHei"/>
                <a:cs typeface="Microsoft YaHei"/>
              </a:rPr>
              <a:t>github.com/CHiSwsz/os-page-replacement</a:t>
            </a:r>
          </a:p>
        </p:txBody>
      </p:sp>
      <p:sp>
        <p:nvSpPr>
          <p:cNvPr id="16" name="新轨迹测试">
            <a:extLst>
              <a:ext uri="{FF2B5EF4-FFF2-40B4-BE49-F238E27FC236}">
                <a16:creationId xmlns:a16="http://schemas.microsoft.com/office/drawing/2014/main" id="{F68A7C3F-53BD-4243-8096-AC9C0BE9C198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6B4A82"/>
                </a:solidFill>
                <a:latin typeface="Microsoft YaHei"/>
                <a:ea typeface="Microsoft YaHei"/>
                <a:cs typeface="Microsoft YaHei"/>
              </a:rPr>
              <a:t>新轨迹测试</a:t>
            </a:r>
          </a:p>
        </p:txBody>
      </p:sp>
      <p:sp>
        <p:nvSpPr>
          <p:cNvPr id="17" name="./build/pager --trace new.txt --alg">
            <a:extLst>
              <a:ext uri="{FF2B5EF4-FFF2-40B4-BE49-F238E27FC236}">
                <a16:creationId xmlns:a16="http://schemas.microsoft.com/office/drawing/2014/main" id="{547CF01D-5D03-4DCC-8BF1-FAC970F4EBCF}"/>
              </a:ext>
            </a:extLst>
          </p:cNvPr>
          <p:cNvSpPr>
            <a:spLocks noGrp="1"/>
          </p:cNvSpPr>
          <p:nvPr/>
        </p:nvSpPr>
        <p:spPr>
          <a:xfrm>
            <a:off x="857250" y="361950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defPPr>
            <a:lvl1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1pPr>
            <a:lvl2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2pPr>
            <a:lvl3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3pPr>
            <a:lvl4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4pPr>
            <a:lvl5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5pPr>
            <a:lvl6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6pPr>
            <a:lvl7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7pPr>
            <a:lvl8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8pPr>
            <a:lvl9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lvl9pPr>
          </a:lstStyle>
          <a:p>
            <a: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9203A"/>
                </a:solidFill>
                <a:latin typeface="Consolas"/>
                <a:ea typeface="Consolas"/>
                <a:cs typeface="Consolas"/>
              </a:rPr>
              <a:t>./build/pager --trace new.txt --algorithm all</a:t>
            </a:r>
          </a:p>
          <a:p>
            <a:pPr>
              <a:defRPr sz="2025" b="0">
                <a:solidFill>
                  <a:srgbClr val="29203A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9203A"/>
                </a:solidFill>
                <a:latin typeface="Consolas"/>
                <a:ea typeface="Consolas"/>
                <a:cs typeface="Consolas"/>
              </a:rPr>
              <a:t>              --frames 5,10,20,50,100 --seed 0</a:t>
            </a:r>
          </a:p>
        </p:txBody>
      </p:sp>
      <p:sp>
        <p:nvSpPr>
          <p:cNvPr id="18" name="旧版对照：--algorithm adaptive --adaptiv">
            <a:extLst>
              <a:ext uri="{FF2B5EF4-FFF2-40B4-BE49-F238E27FC236}">
                <a16:creationId xmlns:a16="http://schemas.microsoft.com/office/drawing/2014/main" id="{14E2C4EF-60A8-4CD5-A46C-91B5CDF5333A}"/>
              </a:ext>
            </a:extLst>
          </p:cNvPr>
          <p:cNvSpPr>
            <a:spLocks noGrp="1"/>
          </p:cNvSpPr>
          <p:nvPr/>
        </p:nvSpPr>
        <p:spPr>
          <a:xfrm>
            <a:off x="857250" y="5048250"/>
            <a:ext cx="1047750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旧版对照：--algorithm adaptive --adaptive-version 2</a:t>
            </a:r>
          </a:p>
          <a:p>
            <a: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详细结果：REPORT.md、results/fault_counts_table.csv</a:t>
            </a:r>
          </a:p>
          <a:p>
            <a:pPr>
              <a:def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03A"/>
                </a:solidFill>
                <a:latin typeface="Microsoft YaHei"/>
                <a:ea typeface="Microsoft YaHei"/>
                <a:cs typeface="Microsoft YaHei"/>
              </a:rPr>
              <a:t>验证：Release、ASan / UBSan、前缀不变性、容量约束与数据校验。</a:t>
            </a:r>
          </a:p>
        </p:txBody>
      </p:sp>
    </p:spTree>
    <p:extLst>
      <p:ext uri="{BB962C8B-B14F-4D97-AF65-F5344CB8AC3E}">
        <p14:creationId xmlns:p14="http://schemas.microsoft.com/office/powerpoint/2010/main" val="26116600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2466</Words>
  <Application>Microsoft Office PowerPoint</Application>
  <DocSecurity>0</DocSecurity>
  <PresentationFormat>宽屏</PresentationFormat>
  <Paragraphs>568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5" baseType="lpstr">
      <vt:lpstr>Microsoft YaHei</vt:lpstr>
      <vt:lpstr>Calibri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自适应页面替换算法</dc:title>
  <dc:subject>操作系统课程实验</dc:subject>
  <dc:creator>CHiSwsz</dc:creator>
  <cp:keywords>page replacement, demand paging, Adaptive V3</cp:keywords>
  <dc:description/>
  <cp:lastModifiedBy>志得 谢</cp:lastModifiedBy>
  <cp:revision>1</cp:revision>
  <dcterms:created xsi:type="dcterms:W3CDTF">2026-10-28T17:37:44Z</dcterms:created>
  <dcterms:modified xsi:type="dcterms:W3CDTF">2026-10-28T17:38:25Z</dcterms:modified>
</cp:coreProperties>
</file>